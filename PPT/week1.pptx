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9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698" autoAdjust="0"/>
  </p:normalViewPr>
  <p:slideViewPr>
    <p:cSldViewPr snapToGrid="0">
      <p:cViewPr varScale="1">
        <p:scale>
          <a:sx n="102" d="100"/>
          <a:sy n="102" d="100"/>
        </p:scale>
        <p:origin x="9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67025-E300-421D-BABB-5C49D573637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3AB99-662C-46EC-B86C-F2E227D3E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28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752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993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 영상 </a:t>
            </a:r>
            <a:r>
              <a:rPr lang="en-US" altLang="ko-KR" dirty="0"/>
              <a:t>: 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어쌔신크리드</a:t>
            </a:r>
            <a:r>
              <a:rPr lang="ko-KR" altLang="en-US" dirty="0"/>
              <a:t> </a:t>
            </a:r>
            <a:r>
              <a:rPr lang="ko-KR" altLang="en-US" dirty="0" err="1"/>
              <a:t>파쿠르</a:t>
            </a:r>
            <a:r>
              <a:rPr lang="ko-KR" altLang="en-US" dirty="0"/>
              <a:t> 액션 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https://www.youtube.com/shorts/DgF8jxONRSM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https://www.youtube.com/shorts/bMgaW5dvLzk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https://www.youtube.com/watch?v=1vhC870Phb0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https://www.youtube.com/shorts/AZEMIHgBK1E</a:t>
            </a:r>
          </a:p>
          <a:p>
            <a:pPr marL="228600" lvl="0" indent="-228600">
              <a:buAutoNum type="arabicPeriod"/>
            </a:pPr>
            <a:r>
              <a:rPr lang="ko-KR" altLang="en-US" dirty="0" err="1"/>
              <a:t>툼레이더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https://www.youtube.com/watch?v=reqY7n8hdSg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https://www.youtube.com/shorts/PLTIvSb6AxM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57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3E08CF-A6B7-6BE9-B7B8-4498ADC66316}"/>
              </a:ext>
            </a:extLst>
          </p:cNvPr>
          <p:cNvSpPr txBox="1"/>
          <p:nvPr/>
        </p:nvSpPr>
        <p:spPr>
          <a:xfrm>
            <a:off x="455516" y="2869142"/>
            <a:ext cx="66152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주제 </a:t>
            </a:r>
            <a:r>
              <a:rPr lang="en-US" altLang="ko-KR" sz="2400" dirty="0"/>
              <a:t>: </a:t>
            </a:r>
            <a:r>
              <a:rPr lang="ko-KR" altLang="en-US" sz="2400" dirty="0"/>
              <a:t>캐릭터 애니메이션 </a:t>
            </a:r>
            <a:r>
              <a:rPr lang="ko-KR" altLang="en-US" sz="2400" dirty="0" err="1"/>
              <a:t>파쿠르</a:t>
            </a:r>
            <a:r>
              <a:rPr lang="ko-KR" altLang="en-US" sz="2400" dirty="0"/>
              <a:t> 시스템 </a:t>
            </a:r>
            <a:r>
              <a:rPr lang="en-US" altLang="ko-KR" sz="2400" dirty="0"/>
              <a:t>1</a:t>
            </a:r>
            <a:r>
              <a:rPr lang="ko-KR" altLang="en-US" sz="2400" dirty="0"/>
              <a:t>주차</a:t>
            </a:r>
            <a:endParaRPr lang="en-US" altLang="ko-KR" sz="2400" dirty="0"/>
          </a:p>
          <a:p>
            <a:r>
              <a:rPr lang="ko-KR" altLang="en-US" dirty="0"/>
              <a:t>발표자 </a:t>
            </a:r>
            <a:r>
              <a:rPr lang="en-US" altLang="ko-KR" dirty="0"/>
              <a:t>: </a:t>
            </a:r>
            <a:r>
              <a:rPr lang="ko-KR" altLang="en-US" dirty="0"/>
              <a:t>김정환</a:t>
            </a:r>
          </a:p>
        </p:txBody>
      </p:sp>
    </p:spTree>
    <p:extLst>
      <p:ext uri="{BB962C8B-B14F-4D97-AF65-F5344CB8AC3E}">
        <p14:creationId xmlns:p14="http://schemas.microsoft.com/office/powerpoint/2010/main" val="276376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24C7-A429-CDA0-4EB6-16142BB0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이번 주 작업 내역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5C835-CE30-2461-B5B2-C304088E694A}"/>
              </a:ext>
            </a:extLst>
          </p:cNvPr>
          <p:cNvSpPr txBox="1"/>
          <p:nvPr/>
        </p:nvSpPr>
        <p:spPr>
          <a:xfrm>
            <a:off x="302451" y="758852"/>
            <a:ext cx="8118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미니엔진 구성 파악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https://github.com/microsoft/DirectX-Graphics-Samples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905176" y="1664107"/>
            <a:ext cx="1858944" cy="55266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Core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900891" y="1666095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IGameApp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900892" y="3219467"/>
            <a:ext cx="1858944" cy="55266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bg1"/>
                </a:solidFill>
              </a:rPr>
              <a:t>ModelViewer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5" name="꺾인 연결선 14"/>
          <p:cNvCxnSpPr>
            <a:stCxn id="13" idx="0"/>
            <a:endCxn id="9" idx="2"/>
          </p:cNvCxnSpPr>
          <p:nvPr/>
        </p:nvCxnSpPr>
        <p:spPr>
          <a:xfrm rot="16200000" flipV="1">
            <a:off x="6330009" y="2719111"/>
            <a:ext cx="100071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36857" y="2540974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9835" y="3219467"/>
            <a:ext cx="156805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 err="1"/>
              <a:t>GameApp</a:t>
            </a:r>
            <a:r>
              <a:rPr lang="en-US" altLang="ko-KR" sz="1500" dirty="0"/>
              <a:t> </a:t>
            </a:r>
            <a:r>
              <a:rPr lang="ko-KR" altLang="en-US" sz="1500" dirty="0"/>
              <a:t>구현 </a:t>
            </a:r>
            <a:br>
              <a:rPr lang="en-US" altLang="ko-KR" sz="1500" dirty="0"/>
            </a:br>
            <a:r>
              <a:rPr lang="ko-KR" altLang="en-US" sz="1500" dirty="0"/>
              <a:t>예시 프로젝트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0198" y="2339988"/>
            <a:ext cx="21857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DirectX12 </a:t>
            </a:r>
            <a:r>
              <a:rPr lang="ko-KR" altLang="en-US" sz="1500" dirty="0"/>
              <a:t>및 엔진 구현</a:t>
            </a:r>
            <a:br>
              <a:rPr lang="en-US" altLang="ko-KR" sz="1500" dirty="0"/>
            </a:br>
            <a:r>
              <a:rPr lang="ko-KR" altLang="en-US" sz="1500" dirty="0"/>
              <a:t>정적 라이브러리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1905175" y="4519215"/>
            <a:ext cx="1858944" cy="55266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Model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05175" y="5137972"/>
            <a:ext cx="21178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모델 </a:t>
            </a:r>
            <a:r>
              <a:rPr lang="ko-KR" altLang="en-US" sz="1500" dirty="0" err="1"/>
              <a:t>렌더링</a:t>
            </a:r>
            <a:r>
              <a:rPr lang="ko-KR" altLang="en-US" sz="1500" dirty="0"/>
              <a:t> 구현 예시</a:t>
            </a:r>
            <a:endParaRPr lang="en-US" altLang="ko-KR" sz="1500" dirty="0"/>
          </a:p>
          <a:p>
            <a:r>
              <a:rPr lang="ko-KR" altLang="en-US" sz="1500" dirty="0"/>
              <a:t>정적 라이브러리</a:t>
            </a:r>
          </a:p>
        </p:txBody>
      </p:sp>
      <p:cxnSp>
        <p:nvCxnSpPr>
          <p:cNvPr id="25" name="꺾인 연결선 24"/>
          <p:cNvCxnSpPr>
            <a:stCxn id="13" idx="2"/>
            <a:endCxn id="21" idx="3"/>
          </p:cNvCxnSpPr>
          <p:nvPr/>
        </p:nvCxnSpPr>
        <p:spPr>
          <a:xfrm rot="5400000">
            <a:off x="4785533" y="2750715"/>
            <a:ext cx="1023418" cy="306624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83738" y="1662069"/>
            <a:ext cx="19255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엔진 게임루프 구현 </a:t>
            </a:r>
            <a:br>
              <a:rPr lang="en-US" altLang="ko-KR" sz="1500" dirty="0"/>
            </a:br>
            <a:r>
              <a:rPr lang="ko-KR" altLang="en-US" sz="1500" dirty="0"/>
              <a:t>인터페이스</a:t>
            </a:r>
          </a:p>
        </p:txBody>
      </p:sp>
      <p:cxnSp>
        <p:nvCxnSpPr>
          <p:cNvPr id="30" name="꺾인 연결선 29"/>
          <p:cNvCxnSpPr>
            <a:stCxn id="21" idx="0"/>
            <a:endCxn id="7" idx="2"/>
          </p:cNvCxnSpPr>
          <p:nvPr/>
        </p:nvCxnSpPr>
        <p:spPr>
          <a:xfrm rot="5400000" flipH="1" flipV="1">
            <a:off x="1683424" y="3367992"/>
            <a:ext cx="2302447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081474" y="3346461"/>
            <a:ext cx="14739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/>
              <a:t>DirectX12 </a:t>
            </a:r>
            <a:r>
              <a:rPr lang="ko-KR" altLang="en-US" sz="1500" dirty="0"/>
              <a:t>이용</a:t>
            </a:r>
            <a:endParaRPr lang="en-US" altLang="ko-KR" sz="1500" dirty="0"/>
          </a:p>
          <a:p>
            <a:pPr algn="ctr"/>
            <a:r>
              <a:rPr lang="ko-KR" altLang="en-US" sz="1500" dirty="0"/>
              <a:t>모델 </a:t>
            </a:r>
            <a:r>
              <a:rPr lang="ko-KR" altLang="en-US" sz="1500" dirty="0" err="1"/>
              <a:t>렌더링</a:t>
            </a:r>
            <a:endParaRPr lang="ko-KR" altLang="en-US" sz="1500" dirty="0"/>
          </a:p>
        </p:txBody>
      </p:sp>
      <p:sp>
        <p:nvSpPr>
          <p:cNvPr id="58" name="TextBox 57"/>
          <p:cNvSpPr txBox="1"/>
          <p:nvPr/>
        </p:nvSpPr>
        <p:spPr>
          <a:xfrm>
            <a:off x="5623063" y="4339574"/>
            <a:ext cx="121379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모델 </a:t>
            </a:r>
            <a:r>
              <a:rPr lang="ko-KR" altLang="en-US" sz="1500" dirty="0" err="1"/>
              <a:t>렌더링</a:t>
            </a:r>
            <a:endParaRPr lang="ko-KR" altLang="en-US" sz="1500" dirty="0"/>
          </a:p>
        </p:txBody>
      </p:sp>
      <p:sp>
        <p:nvSpPr>
          <p:cNvPr id="120" name="직사각형 119"/>
          <p:cNvSpPr/>
          <p:nvPr/>
        </p:nvSpPr>
        <p:spPr>
          <a:xfrm>
            <a:off x="5900892" y="5463929"/>
            <a:ext cx="1858944" cy="55266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bg1"/>
                </a:solidFill>
              </a:rPr>
              <a:t>ModelConverter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2" name="꺾인 연결선 121"/>
          <p:cNvCxnSpPr>
            <a:stCxn id="120" idx="0"/>
          </p:cNvCxnSpPr>
          <p:nvPr/>
        </p:nvCxnSpPr>
        <p:spPr>
          <a:xfrm rot="16200000" flipV="1">
            <a:off x="5044766" y="3678330"/>
            <a:ext cx="504952" cy="306624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5782641" y="6101321"/>
            <a:ext cx="35445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사전</a:t>
            </a:r>
            <a:r>
              <a:rPr lang="en-US" altLang="ko-KR" sz="1500" dirty="0"/>
              <a:t>, 3d </a:t>
            </a:r>
            <a:r>
              <a:rPr lang="ko-KR" altLang="en-US" sz="1500" dirty="0"/>
              <a:t>파일 </a:t>
            </a:r>
            <a:r>
              <a:rPr lang="ko-KR" altLang="en-US" sz="1500" dirty="0" err="1"/>
              <a:t>파싱</a:t>
            </a:r>
            <a:r>
              <a:rPr lang="ko-KR" altLang="en-US" sz="1500" dirty="0"/>
              <a:t> 및 최적화 프로젝트</a:t>
            </a:r>
            <a:endParaRPr lang="en-US" altLang="ko-KR" sz="1500" dirty="0"/>
          </a:p>
          <a:p>
            <a:r>
              <a:rPr lang="en-US" altLang="ko-KR" sz="1500" dirty="0"/>
              <a:t>.</a:t>
            </a:r>
            <a:r>
              <a:rPr lang="en-US" altLang="ko-KR" sz="1500" dirty="0" err="1"/>
              <a:t>obj</a:t>
            </a:r>
            <a:r>
              <a:rPr lang="en-US" altLang="ko-KR" sz="1500" dirty="0"/>
              <a:t>, .</a:t>
            </a:r>
            <a:r>
              <a:rPr lang="en-US" altLang="ko-KR" sz="1500" dirty="0" err="1"/>
              <a:t>gltf</a:t>
            </a:r>
            <a:r>
              <a:rPr lang="en-US" altLang="ko-KR" sz="1500" dirty="0"/>
              <a:t> </a:t>
            </a:r>
            <a:r>
              <a:rPr lang="ko-KR" altLang="en-US" sz="1500" dirty="0" err="1"/>
              <a:t>확장자</a:t>
            </a:r>
            <a:r>
              <a:rPr lang="ko-KR" altLang="en-US" sz="1500" dirty="0"/>
              <a:t> 변환 예시</a:t>
            </a:r>
            <a:endParaRPr lang="en-US" altLang="ko-KR" sz="1500" dirty="0"/>
          </a:p>
        </p:txBody>
      </p:sp>
      <p:sp>
        <p:nvSpPr>
          <p:cNvPr id="133" name="TextBox 132"/>
          <p:cNvSpPr txBox="1"/>
          <p:nvPr/>
        </p:nvSpPr>
        <p:spPr>
          <a:xfrm>
            <a:off x="6816510" y="5025541"/>
            <a:ext cx="18501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/>
              <a:t>.</a:t>
            </a:r>
            <a:r>
              <a:rPr lang="en-US" altLang="ko-KR" sz="1500" dirty="0" err="1"/>
              <a:t>obj</a:t>
            </a:r>
            <a:r>
              <a:rPr lang="en-US" altLang="ko-KR" sz="1500" dirty="0"/>
              <a:t>, .</a:t>
            </a:r>
            <a:r>
              <a:rPr lang="en-US" altLang="ko-KR" sz="1500" dirty="0" err="1"/>
              <a:t>gltf</a:t>
            </a:r>
            <a:r>
              <a:rPr lang="en-US" altLang="ko-KR" sz="1500" dirty="0"/>
              <a:t> </a:t>
            </a:r>
            <a:r>
              <a:rPr lang="ko-KR" altLang="en-US" sz="1500" dirty="0"/>
              <a:t>파일 변환</a:t>
            </a:r>
          </a:p>
        </p:txBody>
      </p:sp>
    </p:spTree>
    <p:extLst>
      <p:ext uri="{BB962C8B-B14F-4D97-AF65-F5344CB8AC3E}">
        <p14:creationId xmlns:p14="http://schemas.microsoft.com/office/powerpoint/2010/main" val="2118968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24C7-A429-CDA0-4EB6-16142BB0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이번 주 작업 내역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5C835-CE30-2461-B5B2-C304088E694A}"/>
              </a:ext>
            </a:extLst>
          </p:cNvPr>
          <p:cNvSpPr txBox="1"/>
          <p:nvPr/>
        </p:nvSpPr>
        <p:spPr>
          <a:xfrm>
            <a:off x="302451" y="758852"/>
            <a:ext cx="8118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엔진 기반 클래스 작성</a:t>
            </a:r>
            <a:endParaRPr lang="en-US" altLang="ko-KR" sz="1600" dirty="0"/>
          </a:p>
        </p:txBody>
      </p:sp>
      <p:sp>
        <p:nvSpPr>
          <p:cNvPr id="38" name="직사각형 37"/>
          <p:cNvSpPr/>
          <p:nvPr/>
        </p:nvSpPr>
        <p:spPr>
          <a:xfrm>
            <a:off x="1093431" y="1295965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IGameApp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502606" y="1291809"/>
            <a:ext cx="1858944" cy="55266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Character Animation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41" name="꺾인 연결선 40"/>
          <p:cNvCxnSpPr>
            <a:stCxn id="39" idx="1"/>
            <a:endCxn id="38" idx="3"/>
          </p:cNvCxnSpPr>
          <p:nvPr/>
        </p:nvCxnSpPr>
        <p:spPr>
          <a:xfrm rot="10800000" flipV="1">
            <a:off x="2952376" y="1568140"/>
            <a:ext cx="1550231" cy="41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442797" y="1228330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구현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86" y="1406556"/>
            <a:ext cx="17908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연구과제 프로젝트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4502606" y="3194064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SceneManager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7061109" y="3188863"/>
            <a:ext cx="1316417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Scene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979906" y="4389434"/>
            <a:ext cx="1316418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Object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501600" y="5871353"/>
            <a:ext cx="1316418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Actor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533552" y="5871352"/>
            <a:ext cx="1316418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Component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824233" y="3194064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GUIManager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2" name="꺾인 연결선 61"/>
          <p:cNvCxnSpPr>
            <a:stCxn id="39" idx="2"/>
            <a:endCxn id="47" idx="0"/>
          </p:cNvCxnSpPr>
          <p:nvPr/>
        </p:nvCxnSpPr>
        <p:spPr>
          <a:xfrm rot="5400000">
            <a:off x="4757281" y="2519267"/>
            <a:ext cx="1349594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39" idx="2"/>
            <a:endCxn id="52" idx="0"/>
          </p:cNvCxnSpPr>
          <p:nvPr/>
        </p:nvCxnSpPr>
        <p:spPr>
          <a:xfrm rot="5400000">
            <a:off x="3418095" y="1180081"/>
            <a:ext cx="1349594" cy="26783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702932" y="3835922"/>
            <a:ext cx="21804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 err="1"/>
              <a:t>ImGui</a:t>
            </a:r>
            <a:r>
              <a:rPr lang="ko-KR" altLang="en-US" sz="1500" dirty="0"/>
              <a:t> 라이브러리 활용</a:t>
            </a:r>
            <a:br>
              <a:rPr lang="en-US" altLang="ko-KR" sz="1500" dirty="0"/>
            </a:br>
            <a:r>
              <a:rPr lang="en-US" altLang="ko-KR" sz="1500" dirty="0"/>
              <a:t>UI </a:t>
            </a:r>
            <a:r>
              <a:rPr lang="ko-KR" altLang="en-US" sz="1500" dirty="0"/>
              <a:t>업데이트</a:t>
            </a:r>
            <a:r>
              <a:rPr lang="en-US" altLang="ko-KR" sz="1500" dirty="0"/>
              <a:t>,</a:t>
            </a:r>
            <a:r>
              <a:rPr lang="ko-KR" altLang="en-US" sz="1500" dirty="0"/>
              <a:t> </a:t>
            </a:r>
            <a:r>
              <a:rPr lang="ko-KR" altLang="en-US" sz="1500" dirty="0" err="1"/>
              <a:t>렌더링</a:t>
            </a:r>
            <a:r>
              <a:rPr lang="en-US" altLang="ko-KR" sz="1500" dirty="0"/>
              <a:t> </a:t>
            </a:r>
            <a:endParaRPr lang="ko-KR" altLang="en-US" sz="1500" dirty="0"/>
          </a:p>
        </p:txBody>
      </p:sp>
      <p:cxnSp>
        <p:nvCxnSpPr>
          <p:cNvPr id="70" name="꺾인 연결선 69"/>
          <p:cNvCxnSpPr>
            <a:stCxn id="47" idx="3"/>
            <a:endCxn id="48" idx="1"/>
          </p:cNvCxnSpPr>
          <p:nvPr/>
        </p:nvCxnSpPr>
        <p:spPr>
          <a:xfrm flipV="1">
            <a:off x="6361550" y="3465194"/>
            <a:ext cx="699559" cy="52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818018" y="3779240"/>
            <a:ext cx="164019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업데이트</a:t>
            </a:r>
            <a:r>
              <a:rPr lang="en-US" altLang="ko-KR" sz="1500" dirty="0"/>
              <a:t>, </a:t>
            </a:r>
            <a:r>
              <a:rPr lang="ko-KR" altLang="en-US" sz="1500" dirty="0" err="1"/>
              <a:t>렌더링</a:t>
            </a:r>
            <a:endParaRPr lang="ko-KR" altLang="en-US" sz="1500" dirty="0"/>
          </a:p>
        </p:txBody>
      </p:sp>
      <p:cxnSp>
        <p:nvCxnSpPr>
          <p:cNvPr id="91" name="꺾인 연결선 90"/>
          <p:cNvCxnSpPr>
            <a:stCxn id="48" idx="2"/>
            <a:endCxn id="49" idx="3"/>
          </p:cNvCxnSpPr>
          <p:nvPr/>
        </p:nvCxnSpPr>
        <p:spPr>
          <a:xfrm rot="5400000">
            <a:off x="7045701" y="3992147"/>
            <a:ext cx="924241" cy="4229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 99"/>
          <p:cNvCxnSpPr>
            <a:stCxn id="50" idx="0"/>
            <a:endCxn id="49" idx="2"/>
          </p:cNvCxnSpPr>
          <p:nvPr/>
        </p:nvCxnSpPr>
        <p:spPr>
          <a:xfrm rot="5400000" flipH="1" flipV="1">
            <a:off x="5434333" y="4667571"/>
            <a:ext cx="929258" cy="14783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 101"/>
          <p:cNvCxnSpPr>
            <a:stCxn id="51" idx="0"/>
            <a:endCxn id="49" idx="2"/>
          </p:cNvCxnSpPr>
          <p:nvPr/>
        </p:nvCxnSpPr>
        <p:spPr>
          <a:xfrm rot="16200000" flipV="1">
            <a:off x="6950310" y="4629901"/>
            <a:ext cx="929257" cy="15536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314065" y="4357594"/>
            <a:ext cx="16658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객체 기반 클래스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19317" y="3922498"/>
            <a:ext cx="16401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/>
              <a:t>인스턴스</a:t>
            </a:r>
            <a:r>
              <a:rPr lang="ko-KR" altLang="en-US" sz="1500" dirty="0"/>
              <a:t> 관리</a:t>
            </a:r>
            <a:br>
              <a:rPr lang="en-US" altLang="ko-KR" sz="1500" dirty="0"/>
            </a:br>
            <a:r>
              <a:rPr lang="ko-KR" altLang="en-US" sz="1500" dirty="0"/>
              <a:t>업데이트</a:t>
            </a:r>
            <a:r>
              <a:rPr lang="en-US" altLang="ko-KR" sz="1500" dirty="0"/>
              <a:t>, </a:t>
            </a:r>
            <a:r>
              <a:rPr lang="ko-KR" altLang="en-US" sz="1500" dirty="0" err="1"/>
              <a:t>렌더링</a:t>
            </a:r>
            <a:endParaRPr lang="ko-KR" altLang="en-US" sz="1500" dirty="0"/>
          </a:p>
        </p:txBody>
      </p:sp>
      <p:sp>
        <p:nvSpPr>
          <p:cNvPr id="106" name="TextBox 105"/>
          <p:cNvSpPr txBox="1"/>
          <p:nvPr/>
        </p:nvSpPr>
        <p:spPr>
          <a:xfrm>
            <a:off x="5438428" y="2236829"/>
            <a:ext cx="185820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게임 루프에서 </a:t>
            </a:r>
            <a:br>
              <a:rPr lang="en-US" altLang="ko-KR" sz="1500" dirty="0"/>
            </a:br>
            <a:r>
              <a:rPr lang="ko-KR" altLang="en-US" sz="1500" dirty="0"/>
              <a:t>업데이트 및 </a:t>
            </a:r>
            <a:r>
              <a:rPr lang="ko-KR" altLang="en-US" sz="1500" dirty="0" err="1"/>
              <a:t>렌더링</a:t>
            </a:r>
            <a:endParaRPr lang="ko-KR" altLang="en-US" sz="1500" dirty="0"/>
          </a:p>
        </p:txBody>
      </p:sp>
      <p:cxnSp>
        <p:nvCxnSpPr>
          <p:cNvPr id="110" name="꺾인 연결선 109"/>
          <p:cNvCxnSpPr>
            <a:stCxn id="50" idx="3"/>
            <a:endCxn id="51" idx="1"/>
          </p:cNvCxnSpPr>
          <p:nvPr/>
        </p:nvCxnSpPr>
        <p:spPr>
          <a:xfrm flipV="1">
            <a:off x="5818018" y="6147683"/>
            <a:ext cx="1715534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658697" y="4999644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상속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63511" y="5871352"/>
            <a:ext cx="23776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500" dirty="0" err="1"/>
              <a:t>씬에</a:t>
            </a:r>
            <a:r>
              <a:rPr lang="ko-KR" altLang="en-US" sz="1500" dirty="0"/>
              <a:t> 배치될 수 있는 객체</a:t>
            </a:r>
            <a:endParaRPr lang="en-US" altLang="ko-KR" sz="1500" dirty="0"/>
          </a:p>
          <a:p>
            <a:pPr algn="r"/>
            <a:r>
              <a:rPr lang="ko-KR" altLang="en-US" sz="1500" dirty="0"/>
              <a:t>컴포넌트로 기능 확장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29645" y="5870015"/>
            <a:ext cx="16658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/>
              <a:t>액터의</a:t>
            </a:r>
            <a:r>
              <a:rPr lang="ko-KR" altLang="en-US" sz="1500" dirty="0"/>
              <a:t> </a:t>
            </a:r>
            <a:br>
              <a:rPr lang="en-US" altLang="ko-KR" sz="1500" dirty="0"/>
            </a:br>
            <a:r>
              <a:rPr lang="ko-KR" altLang="en-US" sz="1500" dirty="0"/>
              <a:t>기능 확장 클래스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92990" y="6100848"/>
            <a:ext cx="5693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의존</a:t>
            </a:r>
          </a:p>
        </p:txBody>
      </p:sp>
    </p:spTree>
    <p:extLst>
      <p:ext uri="{BB962C8B-B14F-4D97-AF65-F5344CB8AC3E}">
        <p14:creationId xmlns:p14="http://schemas.microsoft.com/office/powerpoint/2010/main" val="316539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24C7-A429-CDA0-4EB6-16142BB0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이번 주 작업 내역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302451" y="758852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fbx</a:t>
            </a:r>
            <a:r>
              <a:rPr lang="ko-KR" altLang="en-US" sz="1600" dirty="0"/>
              <a:t> 파일 </a:t>
            </a:r>
            <a:r>
              <a:rPr lang="ko-KR" altLang="en-US" sz="1600" dirty="0" err="1"/>
              <a:t>파싱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Assimp</a:t>
            </a:r>
            <a:r>
              <a:rPr lang="en-US" altLang="ko-KR" sz="1600" dirty="0"/>
              <a:t> </a:t>
            </a:r>
            <a:r>
              <a:rPr lang="ko-KR" altLang="en-US" sz="1600" dirty="0"/>
              <a:t>활용하여 </a:t>
            </a:r>
            <a:r>
              <a:rPr lang="en-US" altLang="ko-KR" sz="1600" dirty="0"/>
              <a:t>FBX</a:t>
            </a:r>
            <a:r>
              <a:rPr lang="ko-KR" altLang="en-US" sz="1600" dirty="0"/>
              <a:t>에 한정되지 않도록 수정 진행 중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fbx</a:t>
            </a:r>
            <a:r>
              <a:rPr lang="en-US" altLang="ko-KR" sz="1600" dirty="0"/>
              <a:t> </a:t>
            </a:r>
            <a:r>
              <a:rPr lang="ko-KR" altLang="en-US" sz="1600" dirty="0"/>
              <a:t>객체 </a:t>
            </a:r>
            <a:r>
              <a:rPr lang="ko-KR" altLang="en-US" sz="1600" dirty="0" err="1"/>
              <a:t>렌더링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애니메이션 로드 및 재생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애니메이션 </a:t>
            </a:r>
            <a:r>
              <a:rPr lang="ko-KR" altLang="en-US" sz="1600" dirty="0" err="1"/>
              <a:t>블렌드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진행 중</a:t>
            </a:r>
            <a:r>
              <a:rPr lang="en-US" altLang="ko-KR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자체 </a:t>
            </a:r>
            <a:r>
              <a:rPr lang="ko-KR" altLang="en-US" sz="1600" dirty="0" err="1"/>
              <a:t>메쉬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스켈레톤</a:t>
            </a:r>
            <a:r>
              <a:rPr lang="ko-KR" altLang="en-US" sz="1600" dirty="0"/>
              <a:t> 데이터 기반 작업</a:t>
            </a:r>
            <a:endParaRPr lang="en-US" altLang="ko-KR" sz="1600" dirty="0"/>
          </a:p>
        </p:txBody>
      </p:sp>
      <p:sp>
        <p:nvSpPr>
          <p:cNvPr id="11" name="직사각형 10"/>
          <p:cNvSpPr/>
          <p:nvPr/>
        </p:nvSpPr>
        <p:spPr>
          <a:xfrm>
            <a:off x="5737263" y="1473536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ModelData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737263" y="2144399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Renderer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8519329" y="1749866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MeshComponent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519329" y="684785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Component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꺾인 연결선 14"/>
          <p:cNvCxnSpPr>
            <a:stCxn id="13" idx="0"/>
            <a:endCxn id="14" idx="2"/>
          </p:cNvCxnSpPr>
          <p:nvPr/>
        </p:nvCxnSpPr>
        <p:spPr>
          <a:xfrm rot="5400000" flipH="1" flipV="1">
            <a:off x="9192591" y="1493656"/>
            <a:ext cx="512420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13" idx="1"/>
            <a:endCxn id="11" idx="3"/>
          </p:cNvCxnSpPr>
          <p:nvPr/>
        </p:nvCxnSpPr>
        <p:spPr>
          <a:xfrm rot="10800000">
            <a:off x="7596207" y="1749867"/>
            <a:ext cx="923122" cy="2763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13" idx="1"/>
            <a:endCxn id="12" idx="3"/>
          </p:cNvCxnSpPr>
          <p:nvPr/>
        </p:nvCxnSpPr>
        <p:spPr>
          <a:xfrm rot="10800000" flipV="1">
            <a:off x="7596207" y="2026196"/>
            <a:ext cx="923122" cy="3945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8525679" y="2897163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SkinnedMesh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Component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737263" y="2897164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Animation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43" name="꺾인 연결선 42"/>
          <p:cNvCxnSpPr>
            <a:stCxn id="39" idx="0"/>
            <a:endCxn id="13" idx="2"/>
          </p:cNvCxnSpPr>
          <p:nvPr/>
        </p:nvCxnSpPr>
        <p:spPr>
          <a:xfrm rot="16200000" flipV="1">
            <a:off x="9154658" y="2596670"/>
            <a:ext cx="594636" cy="63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9" idx="1"/>
            <a:endCxn id="41" idx="3"/>
          </p:cNvCxnSpPr>
          <p:nvPr/>
        </p:nvCxnSpPr>
        <p:spPr>
          <a:xfrm rot="10800000" flipV="1">
            <a:off x="7596207" y="3173493"/>
            <a:ext cx="929472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442451" y="1349763"/>
            <a:ext cx="5693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상속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42451" y="2438262"/>
            <a:ext cx="5693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상속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2371" y="223454"/>
            <a:ext cx="25891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 err="1"/>
              <a:t>MeshComponent</a:t>
            </a:r>
            <a:r>
              <a:rPr lang="en-US" altLang="ko-KR" sz="1500" dirty="0"/>
              <a:t> </a:t>
            </a:r>
            <a:r>
              <a:rPr lang="ko-KR" altLang="en-US" sz="1500" dirty="0"/>
              <a:t>구현 예정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D86C46-4E1D-2DF0-2914-2C305EB7A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5" t="13270" r="26415" b="10205"/>
          <a:stretch>
            <a:fillRect/>
          </a:stretch>
        </p:blipFill>
        <p:spPr>
          <a:xfrm>
            <a:off x="426581" y="3655270"/>
            <a:ext cx="3289236" cy="291696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E49B48B-9ECB-E0E3-3EEE-6C717CC4E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837" r="33065" b="2583"/>
          <a:stretch>
            <a:fillRect/>
          </a:stretch>
        </p:blipFill>
        <p:spPr>
          <a:xfrm>
            <a:off x="3944510" y="3649929"/>
            <a:ext cx="2422518" cy="292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78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진행 계획</a:t>
            </a:r>
            <a:r>
              <a:rPr lang="en-US" altLang="ko-KR" dirty="0"/>
              <a:t> (</a:t>
            </a:r>
            <a:r>
              <a:rPr lang="ko-KR" altLang="en-US" dirty="0" err="1"/>
              <a:t>주차별</a:t>
            </a:r>
            <a:r>
              <a:rPr lang="ko-KR" altLang="en-US" dirty="0"/>
              <a:t> 목표</a:t>
            </a:r>
            <a:r>
              <a:rPr lang="en-US" altLang="ko-KR" dirty="0"/>
              <a:t>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649412"/>
              </p:ext>
            </p:extLst>
          </p:nvPr>
        </p:nvGraphicFramePr>
        <p:xfrm>
          <a:off x="420856" y="870858"/>
          <a:ext cx="11437314" cy="553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6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/>
                        <a:t>작업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/>
                        <a:t>작업 세부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미니엔진 구조 파악 및 기반 클래스</a:t>
                      </a:r>
                      <a:r>
                        <a:rPr lang="ko-KR" altLang="en-US" sz="1600" baseline="0" dirty="0"/>
                        <a:t> 구성</a:t>
                      </a:r>
                      <a:endParaRPr lang="en-US" altLang="ko-K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600" dirty="0"/>
                        <a:t>미니엔진 파악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게임 기반 클래스 작성</a:t>
                      </a:r>
                      <a:r>
                        <a:rPr lang="en-US" altLang="ko-KR" sz="1600" dirty="0"/>
                        <a:t>, 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 err="1"/>
                        <a:t>fbx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파일 </a:t>
                      </a:r>
                      <a:r>
                        <a:rPr lang="ko-KR" altLang="en-US" sz="1600" dirty="0" err="1"/>
                        <a:t>파싱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씬 </a:t>
                      </a:r>
                      <a:r>
                        <a:rPr lang="ko-KR" altLang="en-US" sz="1600" baseline="0" dirty="0" err="1"/>
                        <a:t>렌더링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애니메이션 재생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애니메이션 시스템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물리엔진 적용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pPr latinLnBrk="1"/>
                      <a:r>
                        <a:rPr lang="ko-KR" altLang="en-US" sz="1600" dirty="0"/>
                        <a:t>입력 바인딩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캐릭터 애니메이션 </a:t>
                      </a:r>
                      <a:r>
                        <a:rPr lang="ko-KR" altLang="en-US" sz="1600" dirty="0" err="1"/>
                        <a:t>블렌드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애니메이션 </a:t>
                      </a:r>
                      <a:r>
                        <a:rPr lang="ko-KR" altLang="en-US" sz="1600" dirty="0" err="1"/>
                        <a:t>상태머신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pPr latinLnBrk="1"/>
                      <a:r>
                        <a:rPr lang="ko-KR" altLang="en-US" sz="1600" dirty="0"/>
                        <a:t>물리엔진</a:t>
                      </a:r>
                      <a:r>
                        <a:rPr lang="en-US" altLang="ko-KR" sz="1600" dirty="0"/>
                        <a:t>(PhysX) </a:t>
                      </a:r>
                      <a:r>
                        <a:rPr lang="ko-KR" altLang="en-US" sz="1600" dirty="0"/>
                        <a:t>적용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캐릭터 입력 바인딩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캐릭터 </a:t>
                      </a:r>
                      <a:r>
                        <a:rPr lang="ko-KR" altLang="en-US" sz="1600" dirty="0" err="1"/>
                        <a:t>로코모션</a:t>
                      </a:r>
                      <a:r>
                        <a:rPr lang="ko-KR" altLang="en-US" sz="1600" dirty="0"/>
                        <a:t> 적용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씬 배치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캐릭터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 err="1"/>
                        <a:t>파쿠르</a:t>
                      </a:r>
                      <a:r>
                        <a:rPr lang="ko-KR" altLang="en-US" sz="1600" dirty="0"/>
                        <a:t> 애니메이션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씬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데이터 직렬화 </a:t>
                      </a:r>
                      <a:r>
                        <a:rPr lang="en-US" altLang="ko-KR" sz="1600" baseline="0" dirty="0"/>
                        <a:t>(</a:t>
                      </a:r>
                      <a:r>
                        <a:rPr lang="ko-KR" altLang="en-US" sz="1600" baseline="0" dirty="0"/>
                        <a:t>장애물 배치 정보</a:t>
                      </a:r>
                      <a:r>
                        <a:rPr lang="en-US" altLang="ko-KR" sz="1600" baseline="0" dirty="0"/>
                        <a:t>), </a:t>
                      </a:r>
                      <a:r>
                        <a:rPr lang="ko-KR" altLang="en-US" sz="1600" baseline="0" dirty="0"/>
                        <a:t>장애물 높이 인식</a:t>
                      </a:r>
                      <a:r>
                        <a:rPr lang="en-US" altLang="ko-KR" sz="1600" baseline="0" dirty="0"/>
                        <a:t>, </a:t>
                      </a:r>
                      <a:br>
                        <a:rPr lang="en-US" altLang="ko-KR" sz="1600" baseline="0" dirty="0"/>
                      </a:br>
                      <a:r>
                        <a:rPr lang="ko-KR" altLang="en-US" sz="1600" baseline="0" dirty="0"/>
                        <a:t>인식한 장애물에 대한 </a:t>
                      </a:r>
                      <a:r>
                        <a:rPr lang="ko-KR" altLang="en-US" sz="1600" baseline="0" dirty="0" err="1"/>
                        <a:t>파쿠르</a:t>
                      </a:r>
                      <a:r>
                        <a:rPr lang="ko-KR" altLang="en-US" sz="1600" baseline="0" dirty="0"/>
                        <a:t> 애니메이션 선택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및 출력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파쿠르</a:t>
                      </a:r>
                      <a:r>
                        <a:rPr lang="ko-KR" altLang="en-US" sz="1600" dirty="0"/>
                        <a:t> </a:t>
                      </a:r>
                      <a:r>
                        <a:rPr lang="ko-KR" altLang="en-US" sz="1600" dirty="0" err="1"/>
                        <a:t>프로토타입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높이에 따른 장애물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ko-KR" altLang="en-US" sz="1600" baseline="0" dirty="0" err="1"/>
                        <a:t>파쿠르</a:t>
                      </a:r>
                      <a:r>
                        <a:rPr lang="ko-KR" altLang="en-US" sz="1600" baseline="0" dirty="0"/>
                        <a:t> 처리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dirty="0"/>
                        <a:t>평지</a:t>
                      </a:r>
                      <a:r>
                        <a:rPr lang="en-US" altLang="ko-KR" sz="1600" dirty="0"/>
                        <a:t>-</a:t>
                      </a:r>
                      <a:r>
                        <a:rPr lang="ko-KR" altLang="en-US" sz="1600" dirty="0"/>
                        <a:t>벽면 간 애니메이션</a:t>
                      </a:r>
                      <a:r>
                        <a:rPr lang="ko-KR" altLang="en-US" sz="1600" baseline="0" dirty="0"/>
                        <a:t> 상태</a:t>
                      </a:r>
                      <a:r>
                        <a:rPr lang="ko-KR" altLang="en-US" sz="1600" dirty="0"/>
                        <a:t> 전환</a:t>
                      </a:r>
                      <a:r>
                        <a:rPr lang="en-US" altLang="ko-KR" sz="1600" baseline="0" dirty="0"/>
                        <a:t> (</a:t>
                      </a:r>
                      <a:r>
                        <a:rPr lang="ko-KR" altLang="en-US" sz="1600" baseline="0" dirty="0"/>
                        <a:t>벽면을 올라 평지에 도달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벽면에서 내려와 평지에 도달 등</a:t>
                      </a:r>
                      <a:r>
                        <a:rPr lang="en-US" altLang="ko-KR" sz="1600" baseline="0" dirty="0"/>
                        <a:t>)</a:t>
                      </a:r>
                      <a:endParaRPr lang="en-US" altLang="ko-K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파쿠르</a:t>
                      </a:r>
                      <a:r>
                        <a:rPr lang="ko-KR" altLang="en-US" sz="1600" dirty="0"/>
                        <a:t> 시스템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애니메이션 </a:t>
                      </a:r>
                      <a:r>
                        <a:rPr lang="en-US" altLang="ko-KR" sz="1600" dirty="0"/>
                        <a:t>IK </a:t>
                      </a:r>
                      <a:r>
                        <a:rPr lang="ko-KR" altLang="en-US" sz="1600" dirty="0"/>
                        <a:t>적용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파쿠르</a:t>
                      </a:r>
                      <a:r>
                        <a:rPr lang="ko-KR" altLang="en-US" sz="1600" dirty="0"/>
                        <a:t> 시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캐릭터 손 위치 </a:t>
                      </a:r>
                      <a:r>
                        <a:rPr lang="en-US" altLang="ko-KR" sz="1600" dirty="0"/>
                        <a:t>IK</a:t>
                      </a:r>
                      <a:r>
                        <a:rPr lang="ko-KR" altLang="en-US" sz="1600" dirty="0"/>
                        <a:t>를 통해 보정</a:t>
                      </a:r>
                      <a:endParaRPr lang="en-US" altLang="ko-K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복잡한 지형 애니메이션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aseline="0" dirty="0"/>
                        <a:t>벽면 중간에 지붕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경사로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철봉 나열된 환경</a:t>
                      </a:r>
                      <a:br>
                        <a:rPr lang="en-US" altLang="ko-KR" sz="1600" baseline="0" dirty="0"/>
                      </a:br>
                      <a:r>
                        <a:rPr lang="ko-KR" altLang="en-US" sz="1600" baseline="0" dirty="0" err="1"/>
                        <a:t>파쿠르</a:t>
                      </a:r>
                      <a:r>
                        <a:rPr lang="ko-KR" altLang="en-US" sz="1600" baseline="0" dirty="0"/>
                        <a:t> 애니메이션 처리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복잡한 지형 애니메이션 처리</a:t>
                      </a:r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직각으로 만나는 벽면 간 이동 처리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벽면에 뻗어 나온 줄 또는 기둥</a:t>
                      </a:r>
                      <a:r>
                        <a:rPr lang="ko-KR" altLang="en-US" sz="1600" baseline="0" dirty="0"/>
                        <a:t> 환경 </a:t>
                      </a:r>
                      <a:r>
                        <a:rPr lang="ko-KR" altLang="en-US" sz="1600" baseline="0" dirty="0" err="1"/>
                        <a:t>파쿠르</a:t>
                      </a:r>
                      <a:r>
                        <a:rPr lang="ko-KR" altLang="en-US" sz="1600" baseline="0" dirty="0"/>
                        <a:t> 애니메이션 처리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마무리 및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테스트 및 미흡사항 보완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463</Words>
  <Application>Microsoft Office PowerPoint</Application>
  <PresentationFormat>와이드스크린</PresentationFormat>
  <Paragraphs>101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김정환</dc:creator>
  <cp:lastModifiedBy>김정환</cp:lastModifiedBy>
  <cp:revision>343</cp:revision>
  <dcterms:created xsi:type="dcterms:W3CDTF">2026-07-02T09:06:49Z</dcterms:created>
  <dcterms:modified xsi:type="dcterms:W3CDTF">2026-07-03T01:21:14Z</dcterms:modified>
</cp:coreProperties>
</file>