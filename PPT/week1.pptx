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sldIdLst>
    <p:sldId id="256" r:id="rId2"/>
    <p:sldId id="258" r:id="rId3"/>
    <p:sldId id="260" r:id="rId4"/>
    <p:sldId id="259" r:id="rId5"/>
    <p:sldId id="257" r:id="rId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0698" autoAdjust="0"/>
  </p:normalViewPr>
  <p:slideViewPr>
    <p:cSldViewPr snapToGrid="0">
      <p:cViewPr varScale="1">
        <p:scale>
          <a:sx n="73" d="100"/>
          <a:sy n="73" d="100"/>
        </p:scale>
        <p:origin x="90" y="246"/>
      </p:cViewPr>
      <p:guideLst/>
    </p:cSldViewPr>
  </p:slideViewPr>
  <p:notesTextViewPr>
    <p:cViewPr>
      <p:scale>
        <a:sx n="1" d="1"/>
        <a:sy n="1" d="1"/>
      </p:scale>
      <p:origin x="0" y="-132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867025-E300-421D-BABB-5C49D5736377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03AB99-662C-46EC-B86C-F2E227D3EFA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62853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3AB99-662C-46EC-B86C-F2E227D3EFAD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175203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3AB99-662C-46EC-B86C-F2E227D3EFAD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799370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목표 영상 </a:t>
            </a:r>
            <a:r>
              <a:rPr lang="en-US" altLang="ko-KR" dirty="0" smtClean="0"/>
              <a:t>: </a:t>
            </a:r>
          </a:p>
          <a:p>
            <a:pPr marL="228600" indent="-228600">
              <a:buAutoNum type="arabicPeriod"/>
            </a:pPr>
            <a:r>
              <a:rPr lang="ko-KR" altLang="en-US" dirty="0" err="1" smtClean="0"/>
              <a:t>어쌔신크리드</a:t>
            </a:r>
            <a:r>
              <a:rPr lang="ko-KR" altLang="en-US" dirty="0" smtClean="0"/>
              <a:t> </a:t>
            </a:r>
            <a:r>
              <a:rPr lang="ko-KR" altLang="en-US" dirty="0" err="1" smtClean="0"/>
              <a:t>파쿠르</a:t>
            </a:r>
            <a:r>
              <a:rPr lang="ko-KR" altLang="en-US" dirty="0" smtClean="0"/>
              <a:t> 액션 </a:t>
            </a:r>
            <a:endParaRPr lang="en-US" altLang="ko-KR" dirty="0" smtClean="0"/>
          </a:p>
          <a:p>
            <a:pPr marL="685800" lvl="1" indent="-228600">
              <a:buAutoNum type="arabicPeriod"/>
            </a:pPr>
            <a:r>
              <a:rPr lang="en-US" altLang="ko-KR" dirty="0" smtClean="0"/>
              <a:t>https://www.youtube.com/shorts/DgF8jxONRSM</a:t>
            </a:r>
          </a:p>
          <a:p>
            <a:pPr marL="685800" lvl="1" indent="-228600">
              <a:buAutoNum type="arabicPeriod"/>
            </a:pPr>
            <a:r>
              <a:rPr lang="en-US" altLang="ko-KR" dirty="0" smtClean="0"/>
              <a:t>https://www.youtube.com/shorts/bMgaW5dvLzk</a:t>
            </a:r>
          </a:p>
          <a:p>
            <a:pPr marL="685800" lvl="1" indent="-228600">
              <a:buAutoNum type="arabicPeriod"/>
            </a:pPr>
            <a:r>
              <a:rPr lang="en-US" altLang="ko-KR" dirty="0" smtClean="0"/>
              <a:t>https://www.youtube.com/watch?v=1vhC870Phb0</a:t>
            </a:r>
          </a:p>
          <a:p>
            <a:pPr marL="685800" lvl="1" indent="-228600">
              <a:buAutoNum type="arabicPeriod"/>
            </a:pPr>
            <a:r>
              <a:rPr lang="en-US" altLang="ko-KR" dirty="0" smtClean="0"/>
              <a:t>https://www.youtube.com/shorts/AZEMIHgBK1E</a:t>
            </a:r>
          </a:p>
          <a:p>
            <a:pPr marL="228600" lvl="0" indent="-228600">
              <a:buAutoNum type="arabicPeriod"/>
            </a:pPr>
            <a:r>
              <a:rPr lang="ko-KR" altLang="en-US" dirty="0" err="1" smtClean="0"/>
              <a:t>툼레이더</a:t>
            </a:r>
            <a:endParaRPr lang="en-US" altLang="ko-KR" dirty="0" smtClean="0"/>
          </a:p>
          <a:p>
            <a:pPr marL="685800" lvl="1" indent="-228600">
              <a:buAutoNum type="arabicPeriod"/>
            </a:pPr>
            <a:r>
              <a:rPr lang="en-US" altLang="ko-KR" dirty="0" smtClean="0"/>
              <a:t>https://www.youtube.com/watch?v=reqY7n8hdSg</a:t>
            </a:r>
          </a:p>
          <a:p>
            <a:pPr marL="685800" lvl="1" indent="-228600">
              <a:buAutoNum type="arabicPeriod"/>
            </a:pPr>
            <a:r>
              <a:rPr lang="en-US" altLang="ko-KR" dirty="0" smtClean="0"/>
              <a:t>https://www.youtube.com/shorts/PLTIvSb6AxM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F03AB99-662C-46EC-B86C-F2E227D3EFAD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457873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47C6A88D-EDAF-CEC2-712F-FA6A7E4FF5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="" xmlns:a16="http://schemas.microsoft.com/office/drawing/2014/main" id="{1F7A10E8-4E5D-A611-E577-EBA5676A507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FA4EF1CD-FA03-944B-0EC0-2AABE3B0C47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D7E1904F-F41F-7809-481D-7E79FCD213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46C721DE-9DEE-BACB-B354-8E260F432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6264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4F5793F-94FE-56B0-E0CB-A317DA7FB4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BFAF79B8-2AD1-69C6-D4D5-21827C6802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6718AF63-4F49-82B6-24FC-BB457FC964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AA45FF19-25D7-1FF3-E311-2C2E07B267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6F43D8BF-52A4-97EB-612B-F9899664EF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95851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1EB95909-78E9-5BAC-68EA-7DCA2A1271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D6B98DAF-2A47-3ECD-807C-96FB70CF98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A3AD9670-C268-56FC-281A-FE1F59541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A4946F37-FE38-E38E-7339-DC6E4EFA5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7C17C39B-6348-28CC-59AF-B1A65BE2F1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45825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0D0EFA0F-10D7-865F-1370-4EA34C7867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0498CDB5-9D2B-5F68-9DD8-ED20454B10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570EB1B7-8EDE-2794-EA53-E0C1972FAF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31FBCFA4-CF51-706E-F9F0-8B66CA1A0E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FD56636A-469F-7FE9-480E-955BCC0E6D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3971D272-167D-EE36-E685-CD8BFE8CC9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54376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AC7230E-A2F3-4027-B6F6-9C5C289B1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0C685356-7419-AD93-377A-8D9A0293423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CC36E6CA-94A6-3223-C91A-F6E9648C8E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="" xmlns:a16="http://schemas.microsoft.com/office/drawing/2014/main" id="{F4DFD790-787A-88A3-300F-C173DAD2E1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="" xmlns:a16="http://schemas.microsoft.com/office/drawing/2014/main" id="{012AE83D-2990-A6E4-CC9C-06D342A67C0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="" xmlns:a16="http://schemas.microsoft.com/office/drawing/2014/main" id="{3C11F8C3-5AD3-730B-8ADB-304185DAA6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="" xmlns:a16="http://schemas.microsoft.com/office/drawing/2014/main" id="{EF36ABA7-53C4-C11E-CC9D-F5E59BDBB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="" xmlns:a16="http://schemas.microsoft.com/office/drawing/2014/main" id="{5E29E145-D4AE-F9FB-A218-47B323C4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741481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13D855E6-5AD7-B657-346A-38D87715A5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="" xmlns:a16="http://schemas.microsoft.com/office/drawing/2014/main" id="{F3052B06-09E1-1CD0-A032-AEB30F69A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="" xmlns:a16="http://schemas.microsoft.com/office/drawing/2014/main" id="{DE18691A-8582-987D-DF06-E6D8B618E7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="" xmlns:a16="http://schemas.microsoft.com/office/drawing/2014/main" id="{6F997ACE-7D00-7B35-1F16-F56C5450EF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5170894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="" xmlns:a16="http://schemas.microsoft.com/office/drawing/2014/main" id="{2703D88F-9D50-1761-731E-68DD1FC6B7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="" xmlns:a16="http://schemas.microsoft.com/office/drawing/2014/main" id="{70793086-842E-7906-6019-4284A9E469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="" xmlns:a16="http://schemas.microsoft.com/office/drawing/2014/main" id="{6D4FE3DE-7F26-4352-74EE-A720C7AF55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062296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0AFB6F63-D5C7-EB4A-A651-8DA5561AD0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2000FB2D-0CF3-1A3C-E704-F8CA96C2D5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88C3C47D-E633-BB5D-0FA3-41A5E3C28A6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603DA118-0D2F-73A1-6311-85E95462C5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DE46749A-348F-886F-32BD-A562F1A2A3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0BF22D09-FBE9-294C-014E-9A808723A1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04018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DA50C132-3A30-7E9C-0BBB-1CD1A789CE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="" xmlns:a16="http://schemas.microsoft.com/office/drawing/2014/main" id="{2F31776A-D32D-34F5-8A99-A26F4F6535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3E500BF3-C366-20F6-6257-8233A079452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DB1C119C-B590-D055-6B10-AAE861F0D2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00064F92-4550-973E-464E-89CA3E7EED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708384D1-792D-8EA8-718E-F756CEE623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254759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8EC6E50E-2954-B290-1563-C4936B9E84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5B6A99E4-1414-E268-7B72-A4C896708AE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3A9BB3C2-1FA4-4151-9ADB-996284F1B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8A27C81A-BE4E-27CE-6CE4-0AE5876D47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B4E3C814-C417-2E3F-F02B-1B9ED6941F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5657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="" xmlns:a16="http://schemas.microsoft.com/office/drawing/2014/main" id="{AC1D687F-54E9-57A3-FDA2-5A8060E79A8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BC846A14-940B-8FE8-A769-3DABAE11AD2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393732A3-4427-5A76-3A9C-DBE87A4364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50A429-5607-4C3C-9BC0-4142A9E07459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16A5B672-F383-0FF5-2D72-72E1E7F0F0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DE28928A-9906-D889-A8B7-B97D729CDB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82910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="" xmlns:a16="http://schemas.microsoft.com/office/drawing/2014/main" id="{C0AC0570-6E75-D8C0-582D-3A448969CF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79ADFDDF-DF3C-19FA-0ED8-5D640C08DB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AB9AC677-7913-29B2-30F7-969771FA5D0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850A429-5607-4C3C-9BC0-4142A9E07459}" type="datetimeFigureOut">
              <a:rPr lang="ko-KR" altLang="en-US" smtClean="0"/>
              <a:t>2026-07-03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3A6836E4-21B2-245A-8933-7F64F64AC3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6F2D0B4E-8F0D-F1B8-2A71-9862FC974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3E746D1-A81D-47BF-84BA-CB580D1544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57761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="" xmlns:a16="http://schemas.microsoft.com/office/drawing/2014/main" id="{793E08CF-A6B7-6BE9-B7B8-4498ADC66316}"/>
              </a:ext>
            </a:extLst>
          </p:cNvPr>
          <p:cNvSpPr txBox="1"/>
          <p:nvPr/>
        </p:nvSpPr>
        <p:spPr>
          <a:xfrm>
            <a:off x="455516" y="2869142"/>
            <a:ext cx="6615242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/>
              <a:t>주제 </a:t>
            </a:r>
            <a:r>
              <a:rPr lang="en-US" altLang="ko-KR" sz="2400" dirty="0"/>
              <a:t>: </a:t>
            </a:r>
            <a:r>
              <a:rPr lang="ko-KR" altLang="en-US" sz="2400" dirty="0" smtClean="0"/>
              <a:t>캐릭터 애니메이션 </a:t>
            </a:r>
            <a:r>
              <a:rPr lang="ko-KR" altLang="en-US" sz="2400" dirty="0" err="1" smtClean="0"/>
              <a:t>파쿠르</a:t>
            </a:r>
            <a:r>
              <a:rPr lang="ko-KR" altLang="en-US" sz="2400" dirty="0" smtClean="0"/>
              <a:t> 시스템 </a:t>
            </a:r>
            <a:r>
              <a:rPr lang="en-US" altLang="ko-KR" sz="2400" dirty="0" smtClean="0"/>
              <a:t>1</a:t>
            </a:r>
            <a:r>
              <a:rPr lang="ko-KR" altLang="en-US" sz="2400" dirty="0" smtClean="0"/>
              <a:t>주차</a:t>
            </a:r>
            <a:endParaRPr lang="en-US" altLang="ko-KR" sz="2400" dirty="0" smtClean="0"/>
          </a:p>
          <a:p>
            <a:r>
              <a:rPr lang="ko-KR" altLang="en-US" dirty="0" smtClean="0"/>
              <a:t>발표자 </a:t>
            </a:r>
            <a:r>
              <a:rPr lang="en-US" altLang="ko-KR" dirty="0" smtClean="0"/>
              <a:t>: </a:t>
            </a:r>
            <a:r>
              <a:rPr lang="ko-KR" altLang="en-US" dirty="0" smtClean="0"/>
              <a:t>김정환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76376784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68E24C7-A429-CDA0-4EB6-16142BB05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4715F932-2F2C-4A3F-7F16-1B13D352985A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이번 주 작업 내역</a:t>
            </a:r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6DE5C835-CE30-2461-B5B2-C304088E694A}"/>
              </a:ext>
            </a:extLst>
          </p:cNvPr>
          <p:cNvSpPr txBox="1"/>
          <p:nvPr/>
        </p:nvSpPr>
        <p:spPr>
          <a:xfrm>
            <a:off x="302451" y="758852"/>
            <a:ext cx="811806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 smtClean="0"/>
              <a:t>미니엔진 구성 파악</a:t>
            </a:r>
            <a:endParaRPr lang="en-US" altLang="ko-KR" sz="16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600" dirty="0"/>
              <a:t>https://</a:t>
            </a:r>
            <a:r>
              <a:rPr lang="en-US" altLang="ko-KR" sz="1600" dirty="0" smtClean="0"/>
              <a:t>github.com/microsoft/DirectX-Graphics-Samples</a:t>
            </a:r>
          </a:p>
        </p:txBody>
      </p:sp>
      <p:sp>
        <p:nvSpPr>
          <p:cNvPr id="7" name="직사각형 6"/>
          <p:cNvSpPr/>
          <p:nvPr/>
        </p:nvSpPr>
        <p:spPr>
          <a:xfrm>
            <a:off x="1905176" y="1664107"/>
            <a:ext cx="1858944" cy="552661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solidFill>
                  <a:schemeClr val="bg1"/>
                </a:solidFill>
              </a:rPr>
              <a:t>Core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5900891" y="1666095"/>
            <a:ext cx="1858944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 smtClean="0">
                <a:solidFill>
                  <a:schemeClr val="tx1"/>
                </a:solidFill>
              </a:rPr>
              <a:t>IGameApp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5900892" y="3219467"/>
            <a:ext cx="1858944" cy="552661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 smtClean="0">
                <a:solidFill>
                  <a:schemeClr val="bg1"/>
                </a:solidFill>
              </a:rPr>
              <a:t>ModelViewer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cxnSp>
        <p:nvCxnSpPr>
          <p:cNvPr id="15" name="꺾인 연결선 14"/>
          <p:cNvCxnSpPr>
            <a:stCxn id="13" idx="0"/>
            <a:endCxn id="9" idx="2"/>
          </p:cNvCxnSpPr>
          <p:nvPr/>
        </p:nvCxnSpPr>
        <p:spPr>
          <a:xfrm rot="16200000" flipV="1">
            <a:off x="6330009" y="2719111"/>
            <a:ext cx="1000711" cy="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TextBox 16"/>
          <p:cNvSpPr txBox="1"/>
          <p:nvPr/>
        </p:nvSpPr>
        <p:spPr>
          <a:xfrm>
            <a:off x="6836857" y="2540974"/>
            <a:ext cx="56938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 smtClean="0"/>
              <a:t>구현</a:t>
            </a:r>
            <a:endParaRPr lang="ko-KR" altLang="en-US" sz="1500" dirty="0"/>
          </a:p>
        </p:txBody>
      </p:sp>
      <p:sp>
        <p:nvSpPr>
          <p:cNvPr id="18" name="TextBox 17"/>
          <p:cNvSpPr txBox="1"/>
          <p:nvPr/>
        </p:nvSpPr>
        <p:spPr>
          <a:xfrm>
            <a:off x="7759835" y="3219467"/>
            <a:ext cx="156805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 err="1" smtClean="0"/>
              <a:t>GameApp</a:t>
            </a:r>
            <a:r>
              <a:rPr lang="en-US" altLang="ko-KR" sz="1500" dirty="0" smtClean="0"/>
              <a:t> </a:t>
            </a:r>
            <a:r>
              <a:rPr lang="ko-KR" altLang="en-US" sz="1500" dirty="0" smtClean="0"/>
              <a:t>구현 </a:t>
            </a:r>
            <a:r>
              <a:rPr lang="en-US" altLang="ko-KR" sz="1500" dirty="0" smtClean="0"/>
              <a:t/>
            </a:r>
            <a:br>
              <a:rPr lang="en-US" altLang="ko-KR" sz="1500" dirty="0" smtClean="0"/>
            </a:br>
            <a:r>
              <a:rPr lang="ko-KR" altLang="en-US" sz="1500" dirty="0" smtClean="0"/>
              <a:t>예시 프로젝트</a:t>
            </a:r>
            <a:endParaRPr lang="ko-KR" altLang="en-US" sz="1500" dirty="0"/>
          </a:p>
        </p:txBody>
      </p:sp>
      <p:sp>
        <p:nvSpPr>
          <p:cNvPr id="20" name="TextBox 19"/>
          <p:cNvSpPr txBox="1"/>
          <p:nvPr/>
        </p:nvSpPr>
        <p:spPr>
          <a:xfrm>
            <a:off x="2930198" y="2339988"/>
            <a:ext cx="218572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500" dirty="0" smtClean="0"/>
              <a:t>DirectX12 </a:t>
            </a:r>
            <a:r>
              <a:rPr lang="ko-KR" altLang="en-US" sz="1500" dirty="0" smtClean="0"/>
              <a:t>및 엔진 구현</a:t>
            </a:r>
            <a:r>
              <a:rPr lang="en-US" altLang="ko-KR" sz="1500" dirty="0" smtClean="0"/>
              <a:t/>
            </a:r>
            <a:br>
              <a:rPr lang="en-US" altLang="ko-KR" sz="1500" dirty="0" smtClean="0"/>
            </a:br>
            <a:r>
              <a:rPr lang="ko-KR" altLang="en-US" sz="1500" dirty="0" smtClean="0"/>
              <a:t>정적 라이브러리</a:t>
            </a:r>
            <a:endParaRPr lang="ko-KR" altLang="en-US" sz="1500" dirty="0"/>
          </a:p>
        </p:txBody>
      </p:sp>
      <p:sp>
        <p:nvSpPr>
          <p:cNvPr id="21" name="직사각형 20"/>
          <p:cNvSpPr/>
          <p:nvPr/>
        </p:nvSpPr>
        <p:spPr>
          <a:xfrm>
            <a:off x="1905175" y="4519215"/>
            <a:ext cx="1858944" cy="552661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solidFill>
                  <a:schemeClr val="bg1"/>
                </a:solidFill>
              </a:rPr>
              <a:t>Model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sp>
        <p:nvSpPr>
          <p:cNvPr id="22" name="TextBox 21"/>
          <p:cNvSpPr txBox="1"/>
          <p:nvPr/>
        </p:nvSpPr>
        <p:spPr>
          <a:xfrm>
            <a:off x="1905175" y="5137972"/>
            <a:ext cx="211788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 smtClean="0"/>
              <a:t>모델 </a:t>
            </a:r>
            <a:r>
              <a:rPr lang="ko-KR" altLang="en-US" sz="1500" dirty="0" err="1" smtClean="0"/>
              <a:t>렌더링</a:t>
            </a:r>
            <a:r>
              <a:rPr lang="ko-KR" altLang="en-US" sz="1500" dirty="0" smtClean="0"/>
              <a:t> 구현 예시</a:t>
            </a:r>
            <a:endParaRPr lang="en-US" altLang="ko-KR" sz="1500" dirty="0" smtClean="0"/>
          </a:p>
          <a:p>
            <a:r>
              <a:rPr lang="ko-KR" altLang="en-US" sz="1500" dirty="0" smtClean="0"/>
              <a:t>정적 라이브러리</a:t>
            </a:r>
            <a:endParaRPr lang="ko-KR" altLang="en-US" sz="1500" dirty="0"/>
          </a:p>
        </p:txBody>
      </p:sp>
      <p:cxnSp>
        <p:nvCxnSpPr>
          <p:cNvPr id="25" name="꺾인 연결선 24"/>
          <p:cNvCxnSpPr>
            <a:stCxn id="13" idx="2"/>
            <a:endCxn id="21" idx="3"/>
          </p:cNvCxnSpPr>
          <p:nvPr/>
        </p:nvCxnSpPr>
        <p:spPr>
          <a:xfrm rot="5400000">
            <a:off x="4785533" y="2750715"/>
            <a:ext cx="1023418" cy="306624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/>
          <p:cNvSpPr txBox="1"/>
          <p:nvPr/>
        </p:nvSpPr>
        <p:spPr>
          <a:xfrm>
            <a:off x="7783738" y="1662069"/>
            <a:ext cx="1925527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 smtClean="0"/>
              <a:t>엔진 게임루프 구현 </a:t>
            </a:r>
            <a:r>
              <a:rPr lang="en-US" altLang="ko-KR" sz="1500" dirty="0" smtClean="0"/>
              <a:t/>
            </a:r>
            <a:br>
              <a:rPr lang="en-US" altLang="ko-KR" sz="1500" dirty="0" smtClean="0"/>
            </a:br>
            <a:r>
              <a:rPr lang="ko-KR" altLang="en-US" sz="1500" dirty="0" smtClean="0"/>
              <a:t>인터페이스</a:t>
            </a:r>
            <a:endParaRPr lang="ko-KR" altLang="en-US" sz="1500" dirty="0"/>
          </a:p>
        </p:txBody>
      </p:sp>
      <p:cxnSp>
        <p:nvCxnSpPr>
          <p:cNvPr id="30" name="꺾인 연결선 29"/>
          <p:cNvCxnSpPr>
            <a:stCxn id="21" idx="0"/>
            <a:endCxn id="7" idx="2"/>
          </p:cNvCxnSpPr>
          <p:nvPr/>
        </p:nvCxnSpPr>
        <p:spPr>
          <a:xfrm rot="5400000" flipH="1" flipV="1">
            <a:off x="1683424" y="3367992"/>
            <a:ext cx="2302447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TextBox 56"/>
          <p:cNvSpPr txBox="1"/>
          <p:nvPr/>
        </p:nvSpPr>
        <p:spPr>
          <a:xfrm>
            <a:off x="2081474" y="3346461"/>
            <a:ext cx="147399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500" dirty="0" smtClean="0"/>
              <a:t>DirectX12 </a:t>
            </a:r>
            <a:r>
              <a:rPr lang="ko-KR" altLang="en-US" sz="1500" dirty="0" smtClean="0"/>
              <a:t>이용</a:t>
            </a:r>
            <a:endParaRPr lang="en-US" altLang="ko-KR" sz="1500" dirty="0" smtClean="0"/>
          </a:p>
          <a:p>
            <a:pPr algn="ctr"/>
            <a:r>
              <a:rPr lang="ko-KR" altLang="en-US" sz="1500" dirty="0" smtClean="0"/>
              <a:t>모델 </a:t>
            </a:r>
            <a:r>
              <a:rPr lang="ko-KR" altLang="en-US" sz="1500" dirty="0" err="1" smtClean="0"/>
              <a:t>렌더링</a:t>
            </a:r>
            <a:endParaRPr lang="ko-KR" altLang="en-US" sz="1500" dirty="0"/>
          </a:p>
        </p:txBody>
      </p:sp>
      <p:sp>
        <p:nvSpPr>
          <p:cNvPr id="58" name="TextBox 57"/>
          <p:cNvSpPr txBox="1"/>
          <p:nvPr/>
        </p:nvSpPr>
        <p:spPr>
          <a:xfrm>
            <a:off x="5623063" y="4339574"/>
            <a:ext cx="1213794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500" dirty="0" smtClean="0"/>
              <a:t>모델 </a:t>
            </a:r>
            <a:r>
              <a:rPr lang="ko-KR" altLang="en-US" sz="1500" dirty="0" err="1" smtClean="0"/>
              <a:t>렌더링</a:t>
            </a:r>
            <a:endParaRPr lang="ko-KR" altLang="en-US" sz="1500" dirty="0"/>
          </a:p>
        </p:txBody>
      </p:sp>
      <p:sp>
        <p:nvSpPr>
          <p:cNvPr id="120" name="직사각형 119"/>
          <p:cNvSpPr/>
          <p:nvPr/>
        </p:nvSpPr>
        <p:spPr>
          <a:xfrm>
            <a:off x="5900892" y="5463929"/>
            <a:ext cx="1858944" cy="552661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 smtClean="0">
                <a:solidFill>
                  <a:schemeClr val="bg1"/>
                </a:solidFill>
              </a:rPr>
              <a:t>ModelConverter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cxnSp>
        <p:nvCxnSpPr>
          <p:cNvPr id="122" name="꺾인 연결선 121"/>
          <p:cNvCxnSpPr>
            <a:stCxn id="120" idx="0"/>
          </p:cNvCxnSpPr>
          <p:nvPr/>
        </p:nvCxnSpPr>
        <p:spPr>
          <a:xfrm rot="16200000" flipV="1">
            <a:off x="5044766" y="3678330"/>
            <a:ext cx="504952" cy="306624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0" name="TextBox 129"/>
          <p:cNvSpPr txBox="1"/>
          <p:nvPr/>
        </p:nvSpPr>
        <p:spPr>
          <a:xfrm>
            <a:off x="5782641" y="6101321"/>
            <a:ext cx="3544560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 smtClean="0"/>
              <a:t>사전</a:t>
            </a:r>
            <a:r>
              <a:rPr lang="en-US" altLang="ko-KR" sz="1500" dirty="0" smtClean="0"/>
              <a:t>, 3d </a:t>
            </a:r>
            <a:r>
              <a:rPr lang="ko-KR" altLang="en-US" sz="1500" dirty="0" smtClean="0"/>
              <a:t>파일 </a:t>
            </a:r>
            <a:r>
              <a:rPr lang="ko-KR" altLang="en-US" sz="1500" dirty="0" err="1" smtClean="0"/>
              <a:t>파싱</a:t>
            </a:r>
            <a:r>
              <a:rPr lang="ko-KR" altLang="en-US" sz="1500" dirty="0" smtClean="0"/>
              <a:t> 및 최적화 프로젝트</a:t>
            </a:r>
            <a:endParaRPr lang="en-US" altLang="ko-KR" sz="1500" dirty="0" smtClean="0"/>
          </a:p>
          <a:p>
            <a:r>
              <a:rPr lang="en-US" altLang="ko-KR" sz="1500" dirty="0" smtClean="0"/>
              <a:t>.</a:t>
            </a:r>
            <a:r>
              <a:rPr lang="en-US" altLang="ko-KR" sz="1500" dirty="0" err="1" smtClean="0"/>
              <a:t>obj</a:t>
            </a:r>
            <a:r>
              <a:rPr lang="en-US" altLang="ko-KR" sz="1500" dirty="0" smtClean="0"/>
              <a:t>, .</a:t>
            </a:r>
            <a:r>
              <a:rPr lang="en-US" altLang="ko-KR" sz="1500" dirty="0" err="1" smtClean="0"/>
              <a:t>gltf</a:t>
            </a:r>
            <a:r>
              <a:rPr lang="en-US" altLang="ko-KR" sz="1500" dirty="0" smtClean="0"/>
              <a:t> </a:t>
            </a:r>
            <a:r>
              <a:rPr lang="ko-KR" altLang="en-US" sz="1500" dirty="0" err="1" smtClean="0"/>
              <a:t>확장자</a:t>
            </a:r>
            <a:r>
              <a:rPr lang="ko-KR" altLang="en-US" sz="1500" dirty="0" smtClean="0"/>
              <a:t> 변환 예시</a:t>
            </a:r>
            <a:endParaRPr lang="en-US" altLang="ko-KR" sz="1500" dirty="0" smtClean="0"/>
          </a:p>
        </p:txBody>
      </p:sp>
      <p:sp>
        <p:nvSpPr>
          <p:cNvPr id="133" name="TextBox 132"/>
          <p:cNvSpPr txBox="1"/>
          <p:nvPr/>
        </p:nvSpPr>
        <p:spPr>
          <a:xfrm>
            <a:off x="6816510" y="5025541"/>
            <a:ext cx="1850186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500" dirty="0"/>
              <a:t>.</a:t>
            </a:r>
            <a:r>
              <a:rPr lang="en-US" altLang="ko-KR" sz="1500" dirty="0" err="1"/>
              <a:t>obj</a:t>
            </a:r>
            <a:r>
              <a:rPr lang="en-US" altLang="ko-KR" sz="1500" dirty="0"/>
              <a:t>, .</a:t>
            </a:r>
            <a:r>
              <a:rPr lang="en-US" altLang="ko-KR" sz="1500" dirty="0" err="1"/>
              <a:t>gltf</a:t>
            </a:r>
            <a:r>
              <a:rPr lang="en-US" altLang="ko-KR" sz="1500" dirty="0"/>
              <a:t> </a:t>
            </a:r>
            <a:r>
              <a:rPr lang="ko-KR" altLang="en-US" sz="1500" dirty="0" smtClean="0"/>
              <a:t>파일 변환</a:t>
            </a:r>
            <a:endParaRPr lang="ko-KR" altLang="en-US" sz="1500" dirty="0"/>
          </a:p>
        </p:txBody>
      </p:sp>
    </p:spTree>
    <p:extLst>
      <p:ext uri="{BB962C8B-B14F-4D97-AF65-F5344CB8AC3E}">
        <p14:creationId xmlns:p14="http://schemas.microsoft.com/office/powerpoint/2010/main" val="21189685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68E24C7-A429-CDA0-4EB6-16142BB05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4715F932-2F2C-4A3F-7F16-1B13D352985A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이번 주 작업 내역</a:t>
            </a:r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="" xmlns:a16="http://schemas.microsoft.com/office/drawing/2014/main" id="{6DE5C835-CE30-2461-B5B2-C304088E694A}"/>
              </a:ext>
            </a:extLst>
          </p:cNvPr>
          <p:cNvSpPr txBox="1"/>
          <p:nvPr/>
        </p:nvSpPr>
        <p:spPr>
          <a:xfrm>
            <a:off x="302451" y="758852"/>
            <a:ext cx="811806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엔진 </a:t>
            </a:r>
            <a:r>
              <a:rPr lang="ko-KR" altLang="en-US" sz="1600" dirty="0" smtClean="0"/>
              <a:t>기반 </a:t>
            </a:r>
            <a:r>
              <a:rPr lang="ko-KR" altLang="en-US" sz="1600" dirty="0"/>
              <a:t>클래스 </a:t>
            </a:r>
            <a:r>
              <a:rPr lang="ko-KR" altLang="en-US" sz="1600" dirty="0" smtClean="0"/>
              <a:t>작성</a:t>
            </a:r>
            <a:endParaRPr lang="en-US" altLang="ko-KR" sz="1600" dirty="0"/>
          </a:p>
        </p:txBody>
      </p:sp>
      <p:sp>
        <p:nvSpPr>
          <p:cNvPr id="38" name="직사각형 37"/>
          <p:cNvSpPr/>
          <p:nvPr/>
        </p:nvSpPr>
        <p:spPr>
          <a:xfrm>
            <a:off x="1093431" y="1295965"/>
            <a:ext cx="1858944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 smtClean="0">
                <a:solidFill>
                  <a:schemeClr val="tx1"/>
                </a:solidFill>
              </a:rPr>
              <a:t>IGameApp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39" name="직사각형 38"/>
          <p:cNvSpPr/>
          <p:nvPr/>
        </p:nvSpPr>
        <p:spPr>
          <a:xfrm>
            <a:off x="4502606" y="1291809"/>
            <a:ext cx="1858944" cy="552661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solidFill>
                  <a:schemeClr val="bg1"/>
                </a:solidFill>
              </a:rPr>
              <a:t>Character Animation</a:t>
            </a:r>
            <a:endParaRPr lang="ko-KR" altLang="en-US" sz="1400" dirty="0">
              <a:solidFill>
                <a:schemeClr val="bg1"/>
              </a:solidFill>
            </a:endParaRPr>
          </a:p>
        </p:txBody>
      </p:sp>
      <p:cxnSp>
        <p:nvCxnSpPr>
          <p:cNvPr id="41" name="꺾인 연결선 40"/>
          <p:cNvCxnSpPr>
            <a:stCxn id="39" idx="1"/>
            <a:endCxn id="38" idx="3"/>
          </p:cNvCxnSpPr>
          <p:nvPr/>
        </p:nvCxnSpPr>
        <p:spPr>
          <a:xfrm rot="10800000" flipV="1">
            <a:off x="2952376" y="1568140"/>
            <a:ext cx="1550231" cy="415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/>
          <p:cNvSpPr txBox="1"/>
          <p:nvPr/>
        </p:nvSpPr>
        <p:spPr>
          <a:xfrm>
            <a:off x="3442797" y="1228330"/>
            <a:ext cx="56938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 smtClean="0"/>
              <a:t>구현</a:t>
            </a:r>
            <a:endParaRPr lang="ko-KR" altLang="en-US" sz="1500" dirty="0"/>
          </a:p>
        </p:txBody>
      </p:sp>
      <p:sp>
        <p:nvSpPr>
          <p:cNvPr id="44" name="TextBox 43"/>
          <p:cNvSpPr txBox="1"/>
          <p:nvPr/>
        </p:nvSpPr>
        <p:spPr>
          <a:xfrm>
            <a:off x="6400886" y="1406556"/>
            <a:ext cx="1790875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 smtClean="0"/>
              <a:t>연구과제 프로젝트</a:t>
            </a:r>
            <a:endParaRPr lang="ko-KR" altLang="en-US" sz="1500" dirty="0"/>
          </a:p>
        </p:txBody>
      </p:sp>
      <p:sp>
        <p:nvSpPr>
          <p:cNvPr id="47" name="직사각형 46"/>
          <p:cNvSpPr/>
          <p:nvPr/>
        </p:nvSpPr>
        <p:spPr>
          <a:xfrm>
            <a:off x="4502606" y="3194064"/>
            <a:ext cx="1858944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 smtClean="0">
                <a:solidFill>
                  <a:schemeClr val="tx1"/>
                </a:solidFill>
              </a:rPr>
              <a:t>SceneManager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48" name="직사각형 47"/>
          <p:cNvSpPr/>
          <p:nvPr/>
        </p:nvSpPr>
        <p:spPr>
          <a:xfrm>
            <a:off x="7061109" y="3188863"/>
            <a:ext cx="1316417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solidFill>
                  <a:schemeClr val="tx1"/>
                </a:solidFill>
              </a:rPr>
              <a:t>Scene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49" name="직사각형 48"/>
          <p:cNvSpPr/>
          <p:nvPr/>
        </p:nvSpPr>
        <p:spPr>
          <a:xfrm>
            <a:off x="5979906" y="4389434"/>
            <a:ext cx="1316418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solidFill>
                  <a:schemeClr val="tx1"/>
                </a:solidFill>
              </a:rPr>
              <a:t>Object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50" name="직사각형 49"/>
          <p:cNvSpPr/>
          <p:nvPr/>
        </p:nvSpPr>
        <p:spPr>
          <a:xfrm>
            <a:off x="4501600" y="5871353"/>
            <a:ext cx="1316418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solidFill>
                  <a:schemeClr val="tx1"/>
                </a:solidFill>
              </a:rPr>
              <a:t>Actor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51" name="직사각형 50"/>
          <p:cNvSpPr/>
          <p:nvPr/>
        </p:nvSpPr>
        <p:spPr>
          <a:xfrm>
            <a:off x="7533552" y="5871352"/>
            <a:ext cx="1316418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solidFill>
                  <a:schemeClr val="tx1"/>
                </a:solidFill>
              </a:rPr>
              <a:t>Component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52" name="직사각형 51"/>
          <p:cNvSpPr/>
          <p:nvPr/>
        </p:nvSpPr>
        <p:spPr>
          <a:xfrm>
            <a:off x="1824233" y="3194064"/>
            <a:ext cx="1858944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 smtClean="0">
                <a:solidFill>
                  <a:schemeClr val="tx1"/>
                </a:solidFill>
              </a:rPr>
              <a:t>GUIManager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cxnSp>
        <p:nvCxnSpPr>
          <p:cNvPr id="62" name="꺾인 연결선 61"/>
          <p:cNvCxnSpPr>
            <a:stCxn id="39" idx="2"/>
            <a:endCxn id="47" idx="0"/>
          </p:cNvCxnSpPr>
          <p:nvPr/>
        </p:nvCxnSpPr>
        <p:spPr>
          <a:xfrm rot="5400000">
            <a:off x="4757281" y="2519267"/>
            <a:ext cx="1349594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꺾인 연결선 63"/>
          <p:cNvCxnSpPr>
            <a:stCxn id="39" idx="2"/>
            <a:endCxn id="52" idx="0"/>
          </p:cNvCxnSpPr>
          <p:nvPr/>
        </p:nvCxnSpPr>
        <p:spPr>
          <a:xfrm rot="5400000">
            <a:off x="3418095" y="1180081"/>
            <a:ext cx="1349594" cy="267837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1702932" y="3835922"/>
            <a:ext cx="2180405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500" dirty="0" err="1" smtClean="0"/>
              <a:t>ImGui</a:t>
            </a:r>
            <a:r>
              <a:rPr lang="ko-KR" altLang="en-US" sz="1500" dirty="0"/>
              <a:t> </a:t>
            </a:r>
            <a:r>
              <a:rPr lang="ko-KR" altLang="en-US" sz="1500" dirty="0" smtClean="0"/>
              <a:t>라이브러리 활용</a:t>
            </a:r>
            <a:r>
              <a:rPr lang="en-US" altLang="ko-KR" sz="1500" dirty="0" smtClean="0"/>
              <a:t/>
            </a:r>
            <a:br>
              <a:rPr lang="en-US" altLang="ko-KR" sz="1500" dirty="0" smtClean="0"/>
            </a:br>
            <a:r>
              <a:rPr lang="en-US" altLang="ko-KR" sz="1500" dirty="0" smtClean="0"/>
              <a:t>UI </a:t>
            </a:r>
            <a:r>
              <a:rPr lang="ko-KR" altLang="en-US" sz="1500" dirty="0" smtClean="0"/>
              <a:t>업데이트</a:t>
            </a:r>
            <a:r>
              <a:rPr lang="en-US" altLang="ko-KR" sz="1500" dirty="0" smtClean="0"/>
              <a:t>,</a:t>
            </a:r>
            <a:r>
              <a:rPr lang="ko-KR" altLang="en-US" sz="1500" dirty="0" smtClean="0"/>
              <a:t> </a:t>
            </a:r>
            <a:r>
              <a:rPr lang="ko-KR" altLang="en-US" sz="1500" dirty="0" err="1" smtClean="0"/>
              <a:t>렌더링</a:t>
            </a:r>
            <a:r>
              <a:rPr lang="en-US" altLang="ko-KR" sz="1500" dirty="0" smtClean="0"/>
              <a:t> </a:t>
            </a:r>
            <a:endParaRPr lang="ko-KR" altLang="en-US" sz="1500" dirty="0"/>
          </a:p>
        </p:txBody>
      </p:sp>
      <p:cxnSp>
        <p:nvCxnSpPr>
          <p:cNvPr id="70" name="꺾인 연결선 69"/>
          <p:cNvCxnSpPr>
            <a:stCxn id="47" idx="3"/>
            <a:endCxn id="48" idx="1"/>
          </p:cNvCxnSpPr>
          <p:nvPr/>
        </p:nvCxnSpPr>
        <p:spPr>
          <a:xfrm flipV="1">
            <a:off x="6361550" y="3465194"/>
            <a:ext cx="699559" cy="5201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5818018" y="3779240"/>
            <a:ext cx="1640193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 smtClean="0"/>
              <a:t>업데이트</a:t>
            </a:r>
            <a:r>
              <a:rPr lang="en-US" altLang="ko-KR" sz="1500" dirty="0" smtClean="0"/>
              <a:t>, </a:t>
            </a:r>
            <a:r>
              <a:rPr lang="ko-KR" altLang="en-US" sz="1500" dirty="0" err="1" smtClean="0"/>
              <a:t>렌더링</a:t>
            </a:r>
            <a:endParaRPr lang="ko-KR" altLang="en-US" sz="1500" dirty="0"/>
          </a:p>
        </p:txBody>
      </p:sp>
      <p:cxnSp>
        <p:nvCxnSpPr>
          <p:cNvPr id="91" name="꺾인 연결선 90"/>
          <p:cNvCxnSpPr>
            <a:stCxn id="48" idx="2"/>
            <a:endCxn id="49" idx="3"/>
          </p:cNvCxnSpPr>
          <p:nvPr/>
        </p:nvCxnSpPr>
        <p:spPr>
          <a:xfrm rot="5400000">
            <a:off x="7045701" y="3992147"/>
            <a:ext cx="924241" cy="422994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0" name="꺾인 연결선 99"/>
          <p:cNvCxnSpPr>
            <a:stCxn id="50" idx="0"/>
            <a:endCxn id="49" idx="2"/>
          </p:cNvCxnSpPr>
          <p:nvPr/>
        </p:nvCxnSpPr>
        <p:spPr>
          <a:xfrm rot="5400000" flipH="1" flipV="1">
            <a:off x="5434333" y="4667571"/>
            <a:ext cx="929258" cy="147830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2" name="꺾인 연결선 101"/>
          <p:cNvCxnSpPr>
            <a:stCxn id="51" idx="0"/>
            <a:endCxn id="49" idx="2"/>
          </p:cNvCxnSpPr>
          <p:nvPr/>
        </p:nvCxnSpPr>
        <p:spPr>
          <a:xfrm rot="16200000" flipV="1">
            <a:off x="6950310" y="4629901"/>
            <a:ext cx="929257" cy="15536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3" name="TextBox 102"/>
          <p:cNvSpPr txBox="1"/>
          <p:nvPr/>
        </p:nvSpPr>
        <p:spPr>
          <a:xfrm>
            <a:off x="4314065" y="4357594"/>
            <a:ext cx="166584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 smtClean="0"/>
              <a:t>객체 기반 클래스</a:t>
            </a:r>
            <a:endParaRPr lang="ko-KR" altLang="en-US" sz="1500" dirty="0"/>
          </a:p>
        </p:txBody>
      </p:sp>
      <p:sp>
        <p:nvSpPr>
          <p:cNvPr id="104" name="TextBox 103"/>
          <p:cNvSpPr txBox="1"/>
          <p:nvPr/>
        </p:nvSpPr>
        <p:spPr>
          <a:xfrm>
            <a:off x="7719317" y="3922498"/>
            <a:ext cx="1640193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 err="1" smtClean="0"/>
              <a:t>인스턴스</a:t>
            </a:r>
            <a:r>
              <a:rPr lang="ko-KR" altLang="en-US" sz="1500" dirty="0" smtClean="0"/>
              <a:t> 관리</a:t>
            </a:r>
            <a:r>
              <a:rPr lang="en-US" altLang="ko-KR" sz="1500" dirty="0" smtClean="0"/>
              <a:t/>
            </a:r>
            <a:br>
              <a:rPr lang="en-US" altLang="ko-KR" sz="1500" dirty="0" smtClean="0"/>
            </a:br>
            <a:r>
              <a:rPr lang="ko-KR" altLang="en-US" sz="1500" dirty="0" smtClean="0"/>
              <a:t>업데이트</a:t>
            </a:r>
            <a:r>
              <a:rPr lang="en-US" altLang="ko-KR" sz="1500" dirty="0" smtClean="0"/>
              <a:t>, </a:t>
            </a:r>
            <a:r>
              <a:rPr lang="ko-KR" altLang="en-US" sz="1500" dirty="0" err="1" smtClean="0"/>
              <a:t>렌더링</a:t>
            </a:r>
            <a:endParaRPr lang="ko-KR" altLang="en-US" sz="1500" dirty="0"/>
          </a:p>
        </p:txBody>
      </p:sp>
      <p:sp>
        <p:nvSpPr>
          <p:cNvPr id="106" name="TextBox 105"/>
          <p:cNvSpPr txBox="1"/>
          <p:nvPr/>
        </p:nvSpPr>
        <p:spPr>
          <a:xfrm>
            <a:off x="5438428" y="2236829"/>
            <a:ext cx="185820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 smtClean="0"/>
              <a:t>게임 루프에서 </a:t>
            </a:r>
            <a:r>
              <a:rPr lang="en-US" altLang="ko-KR" sz="1500" dirty="0" smtClean="0"/>
              <a:t/>
            </a:r>
            <a:br>
              <a:rPr lang="en-US" altLang="ko-KR" sz="1500" dirty="0" smtClean="0"/>
            </a:br>
            <a:r>
              <a:rPr lang="ko-KR" altLang="en-US" sz="1500" dirty="0" smtClean="0"/>
              <a:t>업데이트 및 </a:t>
            </a:r>
            <a:r>
              <a:rPr lang="ko-KR" altLang="en-US" sz="1500" dirty="0" err="1" smtClean="0"/>
              <a:t>렌더링</a:t>
            </a:r>
            <a:endParaRPr lang="ko-KR" altLang="en-US" sz="1500" dirty="0"/>
          </a:p>
        </p:txBody>
      </p:sp>
      <p:cxnSp>
        <p:nvCxnSpPr>
          <p:cNvPr id="110" name="꺾인 연결선 109"/>
          <p:cNvCxnSpPr>
            <a:stCxn id="50" idx="3"/>
            <a:endCxn id="51" idx="1"/>
          </p:cNvCxnSpPr>
          <p:nvPr/>
        </p:nvCxnSpPr>
        <p:spPr>
          <a:xfrm flipV="1">
            <a:off x="5818018" y="6147683"/>
            <a:ext cx="1715534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1" name="TextBox 110"/>
          <p:cNvSpPr txBox="1"/>
          <p:nvPr/>
        </p:nvSpPr>
        <p:spPr>
          <a:xfrm>
            <a:off x="6658697" y="4999644"/>
            <a:ext cx="569387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500" dirty="0" smtClean="0"/>
              <a:t>상속</a:t>
            </a:r>
            <a:endParaRPr lang="ko-KR" altLang="en-US" sz="1500" dirty="0"/>
          </a:p>
        </p:txBody>
      </p:sp>
      <p:sp>
        <p:nvSpPr>
          <p:cNvPr id="112" name="TextBox 111"/>
          <p:cNvSpPr txBox="1"/>
          <p:nvPr/>
        </p:nvSpPr>
        <p:spPr>
          <a:xfrm>
            <a:off x="2063511" y="5871352"/>
            <a:ext cx="2377639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ko-KR" altLang="en-US" sz="1500" dirty="0" err="1" smtClean="0"/>
              <a:t>씬에</a:t>
            </a:r>
            <a:r>
              <a:rPr lang="ko-KR" altLang="en-US" sz="1500" dirty="0" smtClean="0"/>
              <a:t> 배치될 수 있는 객체</a:t>
            </a:r>
            <a:endParaRPr lang="en-US" altLang="ko-KR" sz="1500" dirty="0" smtClean="0"/>
          </a:p>
          <a:p>
            <a:pPr algn="r"/>
            <a:r>
              <a:rPr lang="ko-KR" altLang="en-US" sz="1500" dirty="0" smtClean="0"/>
              <a:t>컴포넌트로 기능 확장</a:t>
            </a:r>
            <a:endParaRPr lang="ko-KR" altLang="en-US" sz="1500" dirty="0"/>
          </a:p>
        </p:txBody>
      </p:sp>
      <p:sp>
        <p:nvSpPr>
          <p:cNvPr id="117" name="TextBox 116"/>
          <p:cNvSpPr txBox="1"/>
          <p:nvPr/>
        </p:nvSpPr>
        <p:spPr>
          <a:xfrm>
            <a:off x="8929645" y="5870015"/>
            <a:ext cx="1665841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500" dirty="0" err="1" smtClean="0"/>
              <a:t>액터의</a:t>
            </a:r>
            <a:r>
              <a:rPr lang="ko-KR" altLang="en-US" sz="1500" dirty="0" smtClean="0"/>
              <a:t> </a:t>
            </a:r>
            <a:r>
              <a:rPr lang="en-US" altLang="ko-KR" sz="1500" dirty="0" smtClean="0"/>
              <a:t/>
            </a:r>
            <a:br>
              <a:rPr lang="en-US" altLang="ko-KR" sz="1500" dirty="0" smtClean="0"/>
            </a:br>
            <a:r>
              <a:rPr lang="ko-KR" altLang="en-US" sz="1500" dirty="0" smtClean="0"/>
              <a:t>기능 확장 클래스</a:t>
            </a:r>
            <a:endParaRPr lang="ko-KR" altLang="en-US" sz="1500" dirty="0"/>
          </a:p>
        </p:txBody>
      </p:sp>
      <p:sp>
        <p:nvSpPr>
          <p:cNvPr id="85" name="TextBox 84"/>
          <p:cNvSpPr txBox="1"/>
          <p:nvPr/>
        </p:nvSpPr>
        <p:spPr>
          <a:xfrm>
            <a:off x="6392990" y="6100848"/>
            <a:ext cx="56938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500" dirty="0" smtClean="0"/>
              <a:t>의존</a:t>
            </a:r>
            <a:endParaRPr lang="ko-KR" altLang="en-US" sz="1500" dirty="0"/>
          </a:p>
        </p:txBody>
      </p:sp>
    </p:spTree>
    <p:extLst>
      <p:ext uri="{BB962C8B-B14F-4D97-AF65-F5344CB8AC3E}">
        <p14:creationId xmlns:p14="http://schemas.microsoft.com/office/powerpoint/2010/main" val="31653937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068E24C7-A429-CDA0-4EB6-16142BB055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4715F932-2F2C-4A3F-7F16-1B13D352985A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이번 주 작업 내역</a:t>
            </a:r>
            <a:endParaRPr lang="en-US" altLang="ko-KR" dirty="0"/>
          </a:p>
        </p:txBody>
      </p:sp>
      <p:sp>
        <p:nvSpPr>
          <p:cNvPr id="7" name="직사각형 6"/>
          <p:cNvSpPr/>
          <p:nvPr/>
        </p:nvSpPr>
        <p:spPr>
          <a:xfrm>
            <a:off x="302451" y="758852"/>
            <a:ext cx="6096000" cy="1569660"/>
          </a:xfrm>
          <a:prstGeom prst="rect">
            <a:avLst/>
          </a:prstGeom>
        </p:spPr>
        <p:txBody>
          <a:bodyPr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 err="1" smtClean="0"/>
              <a:t>fbx</a:t>
            </a:r>
            <a:r>
              <a:rPr lang="ko-KR" altLang="en-US" sz="1600" dirty="0" smtClean="0"/>
              <a:t> </a:t>
            </a:r>
            <a:r>
              <a:rPr lang="ko-KR" altLang="en-US" sz="1600" dirty="0"/>
              <a:t>파일 </a:t>
            </a:r>
            <a:r>
              <a:rPr lang="ko-KR" altLang="en-US" sz="1600" dirty="0" err="1" smtClean="0"/>
              <a:t>파싱</a:t>
            </a:r>
            <a:r>
              <a:rPr lang="ko-KR" altLang="en-US" sz="1600" dirty="0" smtClean="0"/>
              <a:t> </a:t>
            </a:r>
            <a:endParaRPr lang="en-US" altLang="ko-KR" sz="1600" dirty="0" smtClean="0"/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altLang="ko-KR" sz="1600" dirty="0" err="1" smtClean="0"/>
              <a:t>Assimp</a:t>
            </a:r>
            <a:r>
              <a:rPr lang="en-US" altLang="ko-KR" sz="1600" dirty="0" smtClean="0"/>
              <a:t> </a:t>
            </a:r>
            <a:r>
              <a:rPr lang="ko-KR" altLang="en-US" sz="1600" dirty="0"/>
              <a:t>활용하여 </a:t>
            </a:r>
            <a:r>
              <a:rPr lang="en-US" altLang="ko-KR" sz="1600" dirty="0"/>
              <a:t>FBX</a:t>
            </a:r>
            <a:r>
              <a:rPr lang="ko-KR" altLang="en-US" sz="1600" dirty="0"/>
              <a:t>에 한정되지 않도록 </a:t>
            </a:r>
            <a:r>
              <a:rPr lang="ko-KR" altLang="en-US" sz="1600" dirty="0" smtClean="0"/>
              <a:t>수정 </a:t>
            </a:r>
            <a:r>
              <a:rPr lang="ko-KR" altLang="en-US" sz="1600" dirty="0"/>
              <a:t>진행 중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sz="1600" dirty="0" err="1" smtClean="0"/>
              <a:t>fbx</a:t>
            </a:r>
            <a:r>
              <a:rPr lang="en-US" altLang="ko-KR" sz="1600" dirty="0" smtClean="0"/>
              <a:t> </a:t>
            </a:r>
            <a:r>
              <a:rPr lang="ko-KR" altLang="en-US" sz="1600" dirty="0" smtClean="0"/>
              <a:t>객체 </a:t>
            </a:r>
            <a:r>
              <a:rPr lang="ko-KR" altLang="en-US" sz="1600" dirty="0" err="1"/>
              <a:t>렌더링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애니메이션 로드 및 </a:t>
            </a:r>
            <a:r>
              <a:rPr lang="ko-KR" altLang="en-US" sz="1600" dirty="0" smtClean="0"/>
              <a:t>재생</a:t>
            </a:r>
            <a:endParaRPr lang="en-US" altLang="ko-KR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sz="1600" dirty="0"/>
              <a:t>애니메이션 </a:t>
            </a:r>
            <a:r>
              <a:rPr lang="ko-KR" altLang="en-US" sz="1600" dirty="0" err="1"/>
              <a:t>블렌드</a:t>
            </a:r>
            <a:r>
              <a:rPr lang="ko-KR" altLang="en-US" sz="1600" dirty="0"/>
              <a:t> </a:t>
            </a:r>
            <a:r>
              <a:rPr lang="en-US" altLang="ko-KR" sz="1600" dirty="0"/>
              <a:t>(</a:t>
            </a:r>
            <a:r>
              <a:rPr lang="ko-KR" altLang="en-US" sz="1600" dirty="0"/>
              <a:t>진행 중</a:t>
            </a:r>
            <a:r>
              <a:rPr lang="en-US" altLang="ko-KR" sz="1600" dirty="0" smtClean="0"/>
              <a:t>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ko-KR" altLang="en-US" sz="1600" dirty="0" smtClean="0"/>
              <a:t>자체 </a:t>
            </a:r>
            <a:r>
              <a:rPr lang="ko-KR" altLang="en-US" sz="1600" dirty="0" err="1" smtClean="0"/>
              <a:t>메쉬</a:t>
            </a:r>
            <a:r>
              <a:rPr lang="en-US" altLang="ko-KR" sz="1600" dirty="0" smtClean="0"/>
              <a:t>, </a:t>
            </a:r>
            <a:r>
              <a:rPr lang="ko-KR" altLang="en-US" sz="1600" dirty="0" err="1" smtClean="0"/>
              <a:t>스켈레톤</a:t>
            </a:r>
            <a:r>
              <a:rPr lang="ko-KR" altLang="en-US" sz="1600" dirty="0" smtClean="0"/>
              <a:t> 데이터 기반 작업</a:t>
            </a:r>
            <a:endParaRPr lang="en-US" altLang="ko-KR" sz="1600" dirty="0"/>
          </a:p>
        </p:txBody>
      </p:sp>
      <p:sp>
        <p:nvSpPr>
          <p:cNvPr id="2" name="직사각형 1"/>
          <p:cNvSpPr/>
          <p:nvPr/>
        </p:nvSpPr>
        <p:spPr>
          <a:xfrm>
            <a:off x="422032" y="3818373"/>
            <a:ext cx="3537019" cy="2301073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err="1" smtClean="0"/>
              <a:t>큐브</a:t>
            </a:r>
            <a:r>
              <a:rPr lang="ko-KR" altLang="en-US" dirty="0" smtClean="0"/>
              <a:t> 이미지 추가</a:t>
            </a:r>
            <a:endParaRPr lang="ko-KR" altLang="en-US" dirty="0"/>
          </a:p>
        </p:txBody>
      </p:sp>
      <p:sp>
        <p:nvSpPr>
          <p:cNvPr id="8" name="직사각형 7"/>
          <p:cNvSpPr/>
          <p:nvPr/>
        </p:nvSpPr>
        <p:spPr>
          <a:xfrm>
            <a:off x="4267201" y="3818373"/>
            <a:ext cx="3537019" cy="2301073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 smtClean="0"/>
              <a:t>X bot </a:t>
            </a:r>
            <a:r>
              <a:rPr lang="ko-KR" altLang="en-US" dirty="0" smtClean="0"/>
              <a:t>이미지 추가</a:t>
            </a:r>
            <a:endParaRPr lang="ko-KR" altLang="en-US" dirty="0"/>
          </a:p>
        </p:txBody>
      </p:sp>
      <p:sp>
        <p:nvSpPr>
          <p:cNvPr id="9" name="직사각형 8"/>
          <p:cNvSpPr/>
          <p:nvPr/>
        </p:nvSpPr>
        <p:spPr>
          <a:xfrm>
            <a:off x="8112371" y="3818373"/>
            <a:ext cx="3537019" cy="2301073"/>
          </a:xfrm>
          <a:prstGeom prst="rect">
            <a:avLst/>
          </a:prstGeom>
          <a:solidFill>
            <a:schemeClr val="tx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 smtClean="0"/>
              <a:t>애니메이션 이미지 추가</a:t>
            </a:r>
            <a:endParaRPr lang="ko-KR" altLang="en-US" dirty="0"/>
          </a:p>
        </p:txBody>
      </p:sp>
      <p:sp>
        <p:nvSpPr>
          <p:cNvPr id="11" name="직사각형 10"/>
          <p:cNvSpPr/>
          <p:nvPr/>
        </p:nvSpPr>
        <p:spPr>
          <a:xfrm>
            <a:off x="5737263" y="1473536"/>
            <a:ext cx="1858944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 smtClean="0">
                <a:solidFill>
                  <a:schemeClr val="tx1"/>
                </a:solidFill>
              </a:rPr>
              <a:t>ModelData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5737263" y="2144399"/>
            <a:ext cx="1858944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solidFill>
                  <a:schemeClr val="tx1"/>
                </a:solidFill>
              </a:rPr>
              <a:t>Renderer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8519329" y="1749866"/>
            <a:ext cx="1858944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 smtClean="0">
                <a:solidFill>
                  <a:schemeClr val="tx1"/>
                </a:solidFill>
              </a:rPr>
              <a:t>MeshComponent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8519329" y="684785"/>
            <a:ext cx="1858944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solidFill>
                  <a:schemeClr val="tx1"/>
                </a:solidFill>
              </a:rPr>
              <a:t>Component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cxnSp>
        <p:nvCxnSpPr>
          <p:cNvPr id="15" name="꺾인 연결선 14"/>
          <p:cNvCxnSpPr>
            <a:stCxn id="13" idx="0"/>
            <a:endCxn id="14" idx="2"/>
          </p:cNvCxnSpPr>
          <p:nvPr/>
        </p:nvCxnSpPr>
        <p:spPr>
          <a:xfrm rot="5400000" flipH="1" flipV="1">
            <a:off x="9192591" y="1493656"/>
            <a:ext cx="512420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꺾인 연결선 20"/>
          <p:cNvCxnSpPr>
            <a:stCxn id="13" idx="1"/>
            <a:endCxn id="11" idx="3"/>
          </p:cNvCxnSpPr>
          <p:nvPr/>
        </p:nvCxnSpPr>
        <p:spPr>
          <a:xfrm rot="10800000">
            <a:off x="7596207" y="1749867"/>
            <a:ext cx="923122" cy="27633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꺾인 연결선 22"/>
          <p:cNvCxnSpPr>
            <a:stCxn id="13" idx="1"/>
            <a:endCxn id="12" idx="3"/>
          </p:cNvCxnSpPr>
          <p:nvPr/>
        </p:nvCxnSpPr>
        <p:spPr>
          <a:xfrm rot="10800000" flipV="1">
            <a:off x="7596207" y="2026196"/>
            <a:ext cx="923122" cy="394533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9" name="직사각형 38"/>
          <p:cNvSpPr/>
          <p:nvPr/>
        </p:nvSpPr>
        <p:spPr>
          <a:xfrm>
            <a:off x="8525679" y="2897163"/>
            <a:ext cx="1858944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err="1" smtClean="0">
                <a:solidFill>
                  <a:schemeClr val="tx1"/>
                </a:solidFill>
              </a:rPr>
              <a:t>SkinnedMesh</a:t>
            </a:r>
            <a:r>
              <a:rPr lang="en-US" altLang="ko-KR" sz="1400" dirty="0" smtClean="0">
                <a:solidFill>
                  <a:schemeClr val="tx1"/>
                </a:solidFill>
              </a:rPr>
              <a:t/>
            </a:r>
            <a:br>
              <a:rPr lang="en-US" altLang="ko-KR" sz="1400" dirty="0" smtClean="0">
                <a:solidFill>
                  <a:schemeClr val="tx1"/>
                </a:solidFill>
              </a:rPr>
            </a:br>
            <a:r>
              <a:rPr lang="en-US" altLang="ko-KR" sz="1400" dirty="0" smtClean="0">
                <a:solidFill>
                  <a:schemeClr val="tx1"/>
                </a:solidFill>
              </a:rPr>
              <a:t>Component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sp>
        <p:nvSpPr>
          <p:cNvPr id="41" name="직사각형 40"/>
          <p:cNvSpPr/>
          <p:nvPr/>
        </p:nvSpPr>
        <p:spPr>
          <a:xfrm>
            <a:off x="5737263" y="2897164"/>
            <a:ext cx="1858944" cy="552661"/>
          </a:xfrm>
          <a:prstGeom prst="rect">
            <a:avLst/>
          </a:prstGeom>
          <a:solidFill>
            <a:schemeClr val="bg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400" dirty="0" smtClean="0">
                <a:solidFill>
                  <a:schemeClr val="tx1"/>
                </a:solidFill>
              </a:rPr>
              <a:t>Animation</a:t>
            </a:r>
            <a:endParaRPr lang="ko-KR" altLang="en-US" sz="1400" dirty="0">
              <a:solidFill>
                <a:schemeClr val="tx1"/>
              </a:solidFill>
            </a:endParaRPr>
          </a:p>
        </p:txBody>
      </p:sp>
      <p:cxnSp>
        <p:nvCxnSpPr>
          <p:cNvPr id="43" name="꺾인 연결선 42"/>
          <p:cNvCxnSpPr>
            <a:stCxn id="39" idx="0"/>
            <a:endCxn id="13" idx="2"/>
          </p:cNvCxnSpPr>
          <p:nvPr/>
        </p:nvCxnSpPr>
        <p:spPr>
          <a:xfrm rot="16200000" flipV="1">
            <a:off x="9154658" y="2596670"/>
            <a:ext cx="594636" cy="635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꺾인 연결선 44"/>
          <p:cNvCxnSpPr>
            <a:stCxn id="39" idx="1"/>
            <a:endCxn id="41" idx="3"/>
          </p:cNvCxnSpPr>
          <p:nvPr/>
        </p:nvCxnSpPr>
        <p:spPr>
          <a:xfrm rot="10800000" flipV="1">
            <a:off x="7596207" y="3173493"/>
            <a:ext cx="929472" cy="1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9442451" y="1349763"/>
            <a:ext cx="56938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500" dirty="0" smtClean="0"/>
              <a:t>상속</a:t>
            </a:r>
            <a:endParaRPr lang="ko-KR" altLang="en-US" sz="1500" dirty="0"/>
          </a:p>
        </p:txBody>
      </p:sp>
      <p:sp>
        <p:nvSpPr>
          <p:cNvPr id="53" name="TextBox 52"/>
          <p:cNvSpPr txBox="1"/>
          <p:nvPr/>
        </p:nvSpPr>
        <p:spPr>
          <a:xfrm>
            <a:off x="9442451" y="2438262"/>
            <a:ext cx="569388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sz="1500" dirty="0" smtClean="0"/>
              <a:t>상속</a:t>
            </a:r>
            <a:endParaRPr lang="ko-KR" altLang="en-US" sz="1500" dirty="0"/>
          </a:p>
        </p:txBody>
      </p:sp>
      <p:sp>
        <p:nvSpPr>
          <p:cNvPr id="54" name="TextBox 53"/>
          <p:cNvSpPr txBox="1"/>
          <p:nvPr/>
        </p:nvSpPr>
        <p:spPr>
          <a:xfrm>
            <a:off x="8112371" y="223454"/>
            <a:ext cx="2589171" cy="3231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ko-KR" sz="1500" dirty="0" err="1" smtClean="0"/>
              <a:t>MeshComponent</a:t>
            </a:r>
            <a:r>
              <a:rPr lang="en-US" altLang="ko-KR" sz="1500" dirty="0" smtClean="0"/>
              <a:t> </a:t>
            </a:r>
            <a:r>
              <a:rPr lang="ko-KR" altLang="en-US" sz="1500" dirty="0" smtClean="0"/>
              <a:t>구현 예정</a:t>
            </a:r>
            <a:endParaRPr lang="ko-KR" altLang="en-US" sz="1500" dirty="0"/>
          </a:p>
        </p:txBody>
      </p:sp>
    </p:spTree>
    <p:extLst>
      <p:ext uri="{BB962C8B-B14F-4D97-AF65-F5344CB8AC3E}">
        <p14:creationId xmlns:p14="http://schemas.microsoft.com/office/powerpoint/2010/main" val="184777827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="" xmlns:a16="http://schemas.microsoft.com/office/drawing/2014/main" id="{49DA7EAA-204E-2F90-E52A-6C83B9013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="" xmlns:a16="http://schemas.microsoft.com/office/drawing/2014/main" id="{4715F932-2F2C-4A3F-7F16-1B13D352985A}"/>
              </a:ext>
            </a:extLst>
          </p:cNvPr>
          <p:cNvSpPr txBox="1"/>
          <p:nvPr/>
        </p:nvSpPr>
        <p:spPr>
          <a:xfrm>
            <a:off x="302451" y="315453"/>
            <a:ext cx="494414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진행 계획</a:t>
            </a:r>
            <a:r>
              <a:rPr lang="en-US" altLang="ko-KR" dirty="0"/>
              <a:t> (</a:t>
            </a:r>
            <a:r>
              <a:rPr lang="ko-KR" altLang="en-US" dirty="0" err="1"/>
              <a:t>주차별</a:t>
            </a:r>
            <a:r>
              <a:rPr lang="ko-KR" altLang="en-US" dirty="0"/>
              <a:t> 목표</a:t>
            </a:r>
            <a:r>
              <a:rPr lang="en-US" altLang="ko-KR" dirty="0"/>
              <a:t>)</a:t>
            </a:r>
          </a:p>
        </p:txBody>
      </p:sp>
      <p:graphicFrame>
        <p:nvGraphicFramePr>
          <p:cNvPr id="2" name="표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29649412"/>
              </p:ext>
            </p:extLst>
          </p:nvPr>
        </p:nvGraphicFramePr>
        <p:xfrm>
          <a:off x="420856" y="870858"/>
          <a:ext cx="11437314" cy="553810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99719"/>
                <a:gridCol w="4251311"/>
                <a:gridCol w="6386284"/>
              </a:tblGrid>
              <a:tr h="547281">
                <a:tc>
                  <a:txBody>
                    <a:bodyPr/>
                    <a:lstStyle/>
                    <a:p>
                      <a:pPr algn="ctr" latinLnBrk="1"/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 smtClean="0"/>
                        <a:t>작업 목표</a:t>
                      </a:r>
                      <a:endParaRPr lang="ko-KR" altLang="en-US" sz="20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000" b="0" dirty="0" smtClean="0"/>
                        <a:t>작업 세부 내용</a:t>
                      </a:r>
                      <a:endParaRPr lang="ko-KR" altLang="en-US" sz="2000" b="0" dirty="0"/>
                    </a:p>
                  </a:txBody>
                  <a:tcPr/>
                </a:tc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1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1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 smtClean="0"/>
                        <a:t>미니엔진 </a:t>
                      </a:r>
                      <a:r>
                        <a:rPr lang="ko-KR" altLang="en-US" sz="1600" dirty="0" smtClean="0"/>
                        <a:t>구조 파악 및 기반 클래스</a:t>
                      </a:r>
                      <a:r>
                        <a:rPr lang="ko-KR" altLang="en-US" sz="1600" baseline="0" dirty="0" smtClean="0"/>
                        <a:t> 구성</a:t>
                      </a:r>
                      <a:endParaRPr lang="en-US" altLang="ko-KR" sz="1600" dirty="0" smtClean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indent="0" latinLnBrk="1">
                        <a:buFontTx/>
                        <a:buNone/>
                      </a:pPr>
                      <a:r>
                        <a:rPr lang="ko-KR" altLang="en-US" sz="1600" dirty="0" smtClean="0"/>
                        <a:t>미니엔진 파악</a:t>
                      </a:r>
                      <a:r>
                        <a:rPr lang="en-US" altLang="ko-KR" sz="1600" dirty="0" smtClean="0"/>
                        <a:t>, </a:t>
                      </a:r>
                      <a:r>
                        <a:rPr lang="ko-KR" altLang="en-US" sz="1600" dirty="0" smtClean="0"/>
                        <a:t>게임 기반 클래스 작성</a:t>
                      </a:r>
                      <a:r>
                        <a:rPr lang="en-US" altLang="ko-KR" sz="1600" dirty="0" smtClean="0"/>
                        <a:t>, </a:t>
                      </a:r>
                      <a:br>
                        <a:rPr lang="en-US" altLang="ko-KR" sz="1600" dirty="0" smtClean="0"/>
                      </a:br>
                      <a:r>
                        <a:rPr lang="en-US" altLang="ko-KR" sz="1600" dirty="0" err="1" smtClean="0"/>
                        <a:t>fbx</a:t>
                      </a:r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smtClean="0"/>
                        <a:t>파일 </a:t>
                      </a:r>
                      <a:r>
                        <a:rPr lang="ko-KR" altLang="en-US" sz="1600" dirty="0" err="1" smtClean="0"/>
                        <a:t>파싱</a:t>
                      </a:r>
                      <a:r>
                        <a:rPr lang="en-US" altLang="ko-KR" sz="1600" baseline="0" dirty="0" smtClean="0"/>
                        <a:t>, </a:t>
                      </a:r>
                      <a:r>
                        <a:rPr lang="ko-KR" altLang="en-US" sz="1600" baseline="0" dirty="0" smtClean="0"/>
                        <a:t>씬 </a:t>
                      </a:r>
                      <a:r>
                        <a:rPr lang="ko-KR" altLang="en-US" sz="1600" baseline="0" dirty="0" err="1" smtClean="0"/>
                        <a:t>렌더링</a:t>
                      </a:r>
                      <a:r>
                        <a:rPr lang="en-US" altLang="ko-KR" sz="1600" baseline="0" dirty="0" smtClean="0"/>
                        <a:t>, </a:t>
                      </a:r>
                      <a:r>
                        <a:rPr lang="ko-KR" altLang="en-US" sz="1600" baseline="0" dirty="0" smtClean="0"/>
                        <a:t>애니메이션 재생</a:t>
                      </a:r>
                      <a:endParaRPr lang="ko-KR" altLang="en-US" sz="1600" dirty="0"/>
                    </a:p>
                  </a:txBody>
                  <a:tcPr/>
                </a:tc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2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애니메이션 시스템</a:t>
                      </a:r>
                      <a:r>
                        <a:rPr lang="en-US" altLang="ko-KR" sz="1600" dirty="0" smtClean="0"/>
                        <a:t>, </a:t>
                      </a:r>
                      <a:r>
                        <a:rPr lang="ko-KR" altLang="en-US" sz="1600" dirty="0" smtClean="0"/>
                        <a:t>물리엔진 적용</a:t>
                      </a:r>
                      <a:r>
                        <a:rPr lang="en-US" altLang="ko-KR" sz="1600" dirty="0" smtClean="0"/>
                        <a:t>,</a:t>
                      </a:r>
                    </a:p>
                    <a:p>
                      <a:pPr latinLnBrk="1"/>
                      <a:r>
                        <a:rPr lang="ko-KR" altLang="en-US" sz="1600" dirty="0" smtClean="0"/>
                        <a:t>입력 바인딩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캐릭터 애니메이션 </a:t>
                      </a:r>
                      <a:r>
                        <a:rPr lang="ko-KR" altLang="en-US" sz="1600" dirty="0" err="1" smtClean="0"/>
                        <a:t>블렌드</a:t>
                      </a:r>
                      <a:r>
                        <a:rPr lang="en-US" altLang="ko-KR" sz="1600" dirty="0" smtClean="0"/>
                        <a:t>, </a:t>
                      </a:r>
                      <a:r>
                        <a:rPr lang="ko-KR" altLang="en-US" sz="1600" dirty="0" smtClean="0"/>
                        <a:t>애니메이션 </a:t>
                      </a:r>
                      <a:r>
                        <a:rPr lang="ko-KR" altLang="en-US" sz="1600" dirty="0" err="1" smtClean="0"/>
                        <a:t>상태머신</a:t>
                      </a:r>
                      <a:r>
                        <a:rPr lang="en-US" altLang="ko-KR" sz="1600" dirty="0" smtClean="0"/>
                        <a:t>,</a:t>
                      </a:r>
                    </a:p>
                    <a:p>
                      <a:pPr latinLnBrk="1"/>
                      <a:r>
                        <a:rPr lang="ko-KR" altLang="en-US" sz="1600" dirty="0" smtClean="0"/>
                        <a:t>물리엔진</a:t>
                      </a:r>
                      <a:r>
                        <a:rPr lang="en-US" altLang="ko-KR" sz="1600" dirty="0" smtClean="0"/>
                        <a:t>(PhysX) </a:t>
                      </a:r>
                      <a:r>
                        <a:rPr lang="ko-KR" altLang="en-US" sz="1600" dirty="0" smtClean="0"/>
                        <a:t>적용</a:t>
                      </a:r>
                      <a:r>
                        <a:rPr lang="en-US" altLang="ko-KR" sz="1600" dirty="0" smtClean="0"/>
                        <a:t>, </a:t>
                      </a:r>
                      <a:r>
                        <a:rPr lang="ko-KR" altLang="en-US" sz="1600" dirty="0" smtClean="0"/>
                        <a:t>캐릭터 입력 </a:t>
                      </a:r>
                      <a:r>
                        <a:rPr lang="ko-KR" altLang="en-US" sz="1600" dirty="0" smtClean="0"/>
                        <a:t>바인딩</a:t>
                      </a:r>
                      <a:r>
                        <a:rPr lang="en-US" altLang="ko-KR" sz="1600" dirty="0" smtClean="0"/>
                        <a:t>, </a:t>
                      </a:r>
                      <a:r>
                        <a:rPr lang="ko-KR" altLang="en-US" sz="1600" dirty="0" smtClean="0"/>
                        <a:t>캐릭터 </a:t>
                      </a:r>
                      <a:r>
                        <a:rPr lang="ko-KR" altLang="en-US" sz="1600" dirty="0" err="1" smtClean="0"/>
                        <a:t>로코모션</a:t>
                      </a:r>
                      <a:r>
                        <a:rPr lang="ko-KR" altLang="en-US" sz="1600" dirty="0" smtClean="0"/>
                        <a:t> 적용</a:t>
                      </a:r>
                      <a:endParaRPr lang="ko-KR" altLang="en-US" sz="1600" dirty="0"/>
                    </a:p>
                  </a:txBody>
                  <a:tcPr/>
                </a:tc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3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씬 배치</a:t>
                      </a:r>
                      <a:r>
                        <a:rPr lang="en-US" altLang="ko-KR" sz="1600" dirty="0" smtClean="0"/>
                        <a:t>, </a:t>
                      </a:r>
                      <a:r>
                        <a:rPr lang="ko-KR" altLang="en-US" sz="1600" dirty="0" smtClean="0"/>
                        <a:t>캐릭터</a:t>
                      </a:r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err="1" smtClean="0"/>
                        <a:t>파쿠르</a:t>
                      </a:r>
                      <a:r>
                        <a:rPr lang="ko-KR" altLang="en-US" sz="1600" dirty="0" smtClean="0"/>
                        <a:t> 애니메이션 적용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씬</a:t>
                      </a:r>
                      <a:r>
                        <a:rPr lang="en-US" altLang="ko-KR" sz="1600" baseline="0" dirty="0" smtClean="0"/>
                        <a:t> </a:t>
                      </a:r>
                      <a:r>
                        <a:rPr lang="ko-KR" altLang="en-US" sz="1600" baseline="0" dirty="0" smtClean="0"/>
                        <a:t>데이터 직렬화 </a:t>
                      </a:r>
                      <a:r>
                        <a:rPr lang="en-US" altLang="ko-KR" sz="1600" baseline="0" dirty="0" smtClean="0"/>
                        <a:t>(</a:t>
                      </a:r>
                      <a:r>
                        <a:rPr lang="ko-KR" altLang="en-US" sz="1600" baseline="0" dirty="0" smtClean="0"/>
                        <a:t>장애물 배치 정보</a:t>
                      </a:r>
                      <a:r>
                        <a:rPr lang="en-US" altLang="ko-KR" sz="1600" baseline="0" dirty="0" smtClean="0"/>
                        <a:t>), </a:t>
                      </a:r>
                      <a:r>
                        <a:rPr lang="ko-KR" altLang="en-US" sz="1600" baseline="0" dirty="0" smtClean="0"/>
                        <a:t>장애물 높이 인식</a:t>
                      </a:r>
                      <a:r>
                        <a:rPr lang="en-US" altLang="ko-KR" sz="1600" baseline="0" dirty="0" smtClean="0"/>
                        <a:t>, </a:t>
                      </a:r>
                      <a:br>
                        <a:rPr lang="en-US" altLang="ko-KR" sz="1600" baseline="0" dirty="0" smtClean="0"/>
                      </a:br>
                      <a:r>
                        <a:rPr lang="ko-KR" altLang="en-US" sz="1600" baseline="0" dirty="0" smtClean="0"/>
                        <a:t>인식한 장애물에 대한 </a:t>
                      </a:r>
                      <a:r>
                        <a:rPr lang="ko-KR" altLang="en-US" sz="1600" baseline="0" dirty="0" err="1" smtClean="0"/>
                        <a:t>파쿠르</a:t>
                      </a:r>
                      <a:r>
                        <a:rPr lang="ko-KR" altLang="en-US" sz="1600" baseline="0" dirty="0" smtClean="0"/>
                        <a:t> 애니메이션 선택</a:t>
                      </a:r>
                      <a:r>
                        <a:rPr lang="en-US" altLang="ko-KR" sz="1600" baseline="0" dirty="0" smtClean="0"/>
                        <a:t> </a:t>
                      </a:r>
                      <a:r>
                        <a:rPr lang="ko-KR" altLang="en-US" sz="1600" baseline="0" dirty="0" smtClean="0"/>
                        <a:t>및 출력</a:t>
                      </a:r>
                      <a:endParaRPr lang="ko-KR" altLang="en-US" sz="1600" dirty="0"/>
                    </a:p>
                  </a:txBody>
                  <a:tcPr/>
                </a:tc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4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 smtClean="0"/>
                        <a:t>파쿠르</a:t>
                      </a:r>
                      <a:r>
                        <a:rPr lang="ko-KR" altLang="en-US" sz="1600" dirty="0" smtClean="0"/>
                        <a:t> </a:t>
                      </a:r>
                      <a:r>
                        <a:rPr lang="ko-KR" altLang="en-US" sz="1600" dirty="0" err="1" smtClean="0"/>
                        <a:t>프로토타입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높이에 따른 장애물</a:t>
                      </a:r>
                      <a:r>
                        <a:rPr lang="ko-KR" altLang="en-US" sz="1600" baseline="0" dirty="0" smtClean="0"/>
                        <a:t> </a:t>
                      </a:r>
                      <a:r>
                        <a:rPr lang="ko-KR" altLang="en-US" sz="1600" baseline="0" dirty="0" err="1" smtClean="0"/>
                        <a:t>파쿠르</a:t>
                      </a:r>
                      <a:r>
                        <a:rPr lang="ko-KR" altLang="en-US" sz="1600" baseline="0" dirty="0" smtClean="0"/>
                        <a:t> 처리</a:t>
                      </a:r>
                      <a:r>
                        <a:rPr lang="en-US" altLang="ko-KR" sz="1600" baseline="0" dirty="0" smtClean="0"/>
                        <a:t>, </a:t>
                      </a:r>
                      <a:r>
                        <a:rPr lang="ko-KR" altLang="en-US" sz="1600" dirty="0" smtClean="0"/>
                        <a:t>평지</a:t>
                      </a:r>
                      <a:r>
                        <a:rPr lang="en-US" altLang="ko-KR" sz="1600" dirty="0" smtClean="0"/>
                        <a:t>-</a:t>
                      </a:r>
                      <a:r>
                        <a:rPr lang="ko-KR" altLang="en-US" sz="1600" dirty="0" smtClean="0"/>
                        <a:t>벽면 간 애니메이션</a:t>
                      </a:r>
                      <a:r>
                        <a:rPr lang="ko-KR" altLang="en-US" sz="1600" baseline="0" dirty="0" smtClean="0"/>
                        <a:t> 상태</a:t>
                      </a:r>
                      <a:r>
                        <a:rPr lang="ko-KR" altLang="en-US" sz="1600" dirty="0" smtClean="0"/>
                        <a:t> 전환</a:t>
                      </a:r>
                      <a:r>
                        <a:rPr lang="en-US" altLang="ko-KR" sz="1600" baseline="0" dirty="0" smtClean="0"/>
                        <a:t> (</a:t>
                      </a:r>
                      <a:r>
                        <a:rPr lang="ko-KR" altLang="en-US" sz="1600" baseline="0" dirty="0" smtClean="0"/>
                        <a:t>벽면을 올라 평지에 도달</a:t>
                      </a:r>
                      <a:r>
                        <a:rPr lang="en-US" altLang="ko-KR" sz="1600" baseline="0" dirty="0" smtClean="0"/>
                        <a:t>, </a:t>
                      </a:r>
                      <a:r>
                        <a:rPr lang="ko-KR" altLang="en-US" sz="1600" baseline="0" dirty="0" smtClean="0"/>
                        <a:t>벽면에서 내려와 평지에 도달 등</a:t>
                      </a:r>
                      <a:r>
                        <a:rPr lang="en-US" altLang="ko-KR" sz="1600" baseline="0" dirty="0" smtClean="0"/>
                        <a:t>)</a:t>
                      </a:r>
                      <a:endParaRPr lang="en-US" altLang="ko-KR" sz="1600" dirty="0" smtClean="0"/>
                    </a:p>
                  </a:txBody>
                  <a:tcPr/>
                </a:tc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5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err="1" smtClean="0"/>
                        <a:t>파쿠르</a:t>
                      </a:r>
                      <a:r>
                        <a:rPr lang="ko-KR" altLang="en-US" sz="1600" dirty="0" smtClean="0"/>
                        <a:t> 시스템 보완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애니메이션 </a:t>
                      </a:r>
                      <a:r>
                        <a:rPr lang="en-US" altLang="ko-KR" sz="1600" dirty="0" smtClean="0"/>
                        <a:t>IK </a:t>
                      </a:r>
                      <a:r>
                        <a:rPr lang="ko-KR" altLang="en-US" sz="1600" dirty="0" smtClean="0"/>
                        <a:t>적용</a:t>
                      </a:r>
                      <a:r>
                        <a:rPr lang="en-US" altLang="ko-KR" sz="1600" dirty="0" smtClean="0"/>
                        <a:t>, </a:t>
                      </a:r>
                      <a:r>
                        <a:rPr lang="ko-KR" altLang="en-US" sz="1600" dirty="0" err="1" smtClean="0"/>
                        <a:t>파쿠르</a:t>
                      </a:r>
                      <a:r>
                        <a:rPr lang="ko-KR" altLang="en-US" sz="1600" dirty="0" smtClean="0"/>
                        <a:t> 시</a:t>
                      </a:r>
                      <a:r>
                        <a:rPr lang="en-US" altLang="ko-KR" sz="1600" dirty="0" smtClean="0"/>
                        <a:t> </a:t>
                      </a:r>
                      <a:r>
                        <a:rPr lang="ko-KR" altLang="en-US" sz="1600" dirty="0" smtClean="0"/>
                        <a:t>캐릭터 손 위치 </a:t>
                      </a:r>
                      <a:r>
                        <a:rPr lang="en-US" altLang="ko-KR" sz="1600" dirty="0" smtClean="0"/>
                        <a:t>IK</a:t>
                      </a:r>
                      <a:r>
                        <a:rPr lang="ko-KR" altLang="en-US" sz="1600" dirty="0" smtClean="0"/>
                        <a:t>를 통해 보정</a:t>
                      </a:r>
                      <a:endParaRPr lang="en-US" altLang="ko-KR" sz="1600" dirty="0" smtClean="0"/>
                    </a:p>
                  </a:txBody>
                  <a:tcPr/>
                </a:tc>
              </a:tr>
              <a:tr h="627956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6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복잡한 </a:t>
                      </a:r>
                      <a:r>
                        <a:rPr lang="ko-KR" altLang="en-US" sz="1600" dirty="0" smtClean="0"/>
                        <a:t>지형 애니메이션 처리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baseline="0" dirty="0" smtClean="0"/>
                        <a:t>벽면 중간에 지붕</a:t>
                      </a:r>
                      <a:r>
                        <a:rPr lang="en-US" altLang="ko-KR" sz="1600" baseline="0" dirty="0" smtClean="0"/>
                        <a:t>, </a:t>
                      </a:r>
                      <a:r>
                        <a:rPr lang="ko-KR" altLang="en-US" sz="1600" baseline="0" dirty="0" smtClean="0"/>
                        <a:t>경사로</a:t>
                      </a:r>
                      <a:r>
                        <a:rPr lang="en-US" altLang="ko-KR" sz="1600" baseline="0" dirty="0" smtClean="0"/>
                        <a:t>, </a:t>
                      </a:r>
                      <a:r>
                        <a:rPr lang="ko-KR" altLang="en-US" sz="1600" baseline="0" dirty="0" smtClean="0"/>
                        <a:t>철봉 나열된 환경</a:t>
                      </a:r>
                      <a:r>
                        <a:rPr lang="en-US" altLang="ko-KR" sz="1600" baseline="0" dirty="0" smtClean="0"/>
                        <a:t/>
                      </a:r>
                      <a:br>
                        <a:rPr lang="en-US" altLang="ko-KR" sz="1600" baseline="0" dirty="0" smtClean="0"/>
                      </a:br>
                      <a:r>
                        <a:rPr lang="ko-KR" altLang="en-US" sz="1600" baseline="0" dirty="0" err="1" smtClean="0"/>
                        <a:t>파쿠르</a:t>
                      </a:r>
                      <a:r>
                        <a:rPr lang="ko-KR" altLang="en-US" sz="1600" baseline="0" dirty="0" smtClean="0"/>
                        <a:t> 애니메이션 처리</a:t>
                      </a:r>
                      <a:endParaRPr lang="ko-KR" altLang="en-US" sz="1600" dirty="0"/>
                    </a:p>
                  </a:txBody>
                  <a:tcPr/>
                </a:tc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7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 smtClean="0"/>
                        <a:t>복잡한 지형 애니메이션 처리</a:t>
                      </a:r>
                    </a:p>
                    <a:p>
                      <a:pPr latinLnBrk="1"/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직각으로 만나는 벽면 간 이동 처리</a:t>
                      </a:r>
                      <a:r>
                        <a:rPr lang="en-US" altLang="ko-KR" sz="1600" dirty="0" smtClean="0"/>
                        <a:t>, </a:t>
                      </a:r>
                      <a:r>
                        <a:rPr lang="ko-KR" altLang="en-US" sz="1600" dirty="0" smtClean="0"/>
                        <a:t>벽면에 뻗어 나온 줄 또는 기둥</a:t>
                      </a:r>
                      <a:r>
                        <a:rPr lang="ko-KR" altLang="en-US" sz="1600" baseline="0" dirty="0" smtClean="0"/>
                        <a:t> 환경 </a:t>
                      </a:r>
                      <a:r>
                        <a:rPr lang="ko-KR" altLang="en-US" sz="1600" baseline="0" dirty="0" err="1" smtClean="0"/>
                        <a:t>파쿠르</a:t>
                      </a:r>
                      <a:r>
                        <a:rPr lang="ko-KR" altLang="en-US" sz="1600" baseline="0" dirty="0" smtClean="0"/>
                        <a:t> 애니메이션 처리</a:t>
                      </a:r>
                      <a:endParaRPr lang="ko-KR" altLang="en-US" sz="1600" dirty="0"/>
                    </a:p>
                  </a:txBody>
                  <a:tcPr/>
                </a:tc>
              </a:tr>
              <a:tr h="61154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 smtClean="0"/>
                        <a:t>8</a:t>
                      </a:r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마무리 및 보완</a:t>
                      </a:r>
                      <a:endParaRPr lang="ko-KR" altLang="en-US" sz="16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600" dirty="0" smtClean="0"/>
                        <a:t>테스트 및 미흡사항 보완</a:t>
                      </a:r>
                      <a:endParaRPr lang="ko-KR" altLang="en-US" sz="1600" dirty="0"/>
                    </a:p>
                  </a:txBody>
                  <a:tcPr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39331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178</TotalTime>
  <Words>365</Words>
  <Application>Microsoft Office PowerPoint</Application>
  <PresentationFormat>와이드스크린</PresentationFormat>
  <Paragraphs>104</Paragraphs>
  <Slides>5</Slides>
  <Notes>3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5</vt:i4>
      </vt:variant>
    </vt:vector>
  </HeadingPairs>
  <TitlesOfParts>
    <vt:vector size="8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김정환</dc:creator>
  <cp:lastModifiedBy>USER</cp:lastModifiedBy>
  <cp:revision>341</cp:revision>
  <dcterms:created xsi:type="dcterms:W3CDTF">2026-07-02T09:06:49Z</dcterms:created>
  <dcterms:modified xsi:type="dcterms:W3CDTF">2026-07-02T22:42:50Z</dcterms:modified>
</cp:coreProperties>
</file>