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62" r:id="rId2"/>
    <p:sldId id="278" r:id="rId3"/>
    <p:sldId id="271" r:id="rId4"/>
    <p:sldId id="270" r:id="rId5"/>
    <p:sldId id="281" r:id="rId6"/>
    <p:sldId id="279" r:id="rId7"/>
    <p:sldId id="280" r:id="rId8"/>
    <p:sldId id="274" r:id="rId9"/>
    <p:sldId id="276" r:id="rId10"/>
    <p:sldId id="265" r:id="rId11"/>
  </p:sldIdLst>
  <p:sldSz cx="12192000" cy="6858000"/>
  <p:notesSz cx="6858000" cy="9144000"/>
  <p:embeddedFontLst>
    <p:embeddedFont>
      <p:font typeface="나눔바른고딕" panose="020B0603020101020101" pitchFamily="50" charset="-127"/>
      <p:regular r:id="rId13"/>
      <p:bold r:id="rId14"/>
    </p:embeddedFont>
    <p:embeddedFont>
      <p:font typeface="맑은 고딕" panose="020B0503020000020004" pitchFamily="50" charset="-127"/>
      <p:regular r:id="rId15"/>
      <p:bold r:id="rId16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021" autoAdjust="0"/>
  </p:normalViewPr>
  <p:slideViewPr>
    <p:cSldViewPr snapToGrid="0">
      <p:cViewPr varScale="1">
        <p:scale>
          <a:sx n="106" d="100"/>
          <a:sy n="106" d="100"/>
        </p:scale>
        <p:origin x="7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A7D5B-B91B-48D9-9BBD-A861B53BECFD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06232B-CCFA-4887-B271-B9E43E273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614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90075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808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98800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05BC8-FE61-043B-17D7-A1ABBF121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242DAD-D355-F2F2-5BEA-E80235C764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C8C31CC-E4AE-D12F-8A1C-B95D5F2A56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89079D-84E1-1995-A935-0F915629F4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449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81C7-E434-47DB-6ACF-69FCF793A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29801-CBD4-2FA8-2EA2-88B9857B6C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05474EC-565F-6D80-B904-9D4B86842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2390A5-EAE6-1386-7936-D6AF28666E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39965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9EF1B-C7C6-A1AF-0BC1-E02EE13ED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E10179-2EB5-8FE5-6B74-E25058F902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6A4806E-3F16-22D7-399D-1844B4F6A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7A8156-B187-D66C-6EC9-0DD4CBF9D4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5186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02998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72655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목표 영상 </a:t>
            </a:r>
            <a:r>
              <a:rPr lang="en-US" altLang="ko-KR" dirty="0"/>
              <a:t>: 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어쌔신크리드</a:t>
            </a:r>
            <a:r>
              <a:rPr lang="ko-KR" altLang="en-US" dirty="0"/>
              <a:t> </a:t>
            </a:r>
            <a:r>
              <a:rPr lang="ko-KR" altLang="en-US" dirty="0" err="1"/>
              <a:t>파쿠르</a:t>
            </a:r>
            <a:r>
              <a:rPr lang="ko-KR" altLang="en-US" dirty="0"/>
              <a:t> 액션 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https://www.youtube.com/shorts/DgF8jxONRSM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https://www.youtube.com/shorts/bMgaW5dvLzk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https://www.youtube.com/watch?v=1vhC870Phb0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https://www.youtube.com/shorts/AZEMIHgBK1E</a:t>
            </a:r>
          </a:p>
          <a:p>
            <a:pPr marL="228600" lvl="0" indent="-228600">
              <a:buAutoNum type="arabicPeriod"/>
            </a:pPr>
            <a:r>
              <a:rPr lang="ko-KR" altLang="en-US" dirty="0" err="1"/>
              <a:t>툼레이더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https://www.youtube.com/watch?v=reqY7n8hdSg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https://www.youtube.com/shorts/PLTIvSb6AxM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82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6A88D-EDAF-CEC2-712F-FA6A7E4FF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7A10E8-4E5D-A611-E577-EBA5676A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EF1CD-FA03-944B-0EC0-2AABE3B0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E1904F-F41F-7809-481D-7E79FCD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C721DE-9DEE-BACB-B354-8E260F43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26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F5793F-94FE-56B0-E0CB-A317DA7F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AF79B8-2AD1-69C6-D4D5-21827C680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18AF63-4F49-82B6-24FC-BB457FC9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5FF19-25D7-1FF3-E311-2C2E07B2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43D8BF-52A4-97EB-612B-F9899664E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58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B95909-78E9-5BAC-68EA-7DCA2A1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B98DAF-2A47-3ECD-807C-96FB70CF9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AD9670-C268-56FC-281A-FE1F5954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946F37-FE38-E38E-7339-DC6E4EFA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17C39B-6348-28CC-59AF-B1A65BE2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82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FA0F-10D7-865F-1370-4EA34C78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98CDB5-9D2B-5F68-9DD8-ED20454B1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0EB1B7-8EDE-2794-EA53-E0C1972FA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FBCFA4-CF51-706E-F9F0-8B66CA1A0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56636A-469F-7FE9-480E-955BCC0E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71D272-167D-EE36-E685-CD8BFE8C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3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C7230E-A2F3-4027-B6F6-9C5C289B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685356-7419-AD93-377A-8D9A02934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C36E6CA-94A6-3223-C91A-F6E9648C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4DFD790-787A-88A3-300F-C173DAD2E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12AE83D-2990-A6E4-CC9C-06D342A67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C11F8C3-5AD3-730B-8ADB-304185DAA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F36ABA7-53C4-C11E-CC9D-F5E59BDB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29E145-D4AE-F9FB-A218-47B323C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1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55E6-5AD7-B657-346A-38D87715A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3052B06-09E1-1CD0-A032-AEB30F69A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18691A-8582-987D-DF06-E6D8B618E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997ACE-7D00-7B35-1F16-F56C5450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70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703D88F-9D50-1761-731E-68DD1FC6B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0793086-842E-7906-6019-4284A9E4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FE3DE-7F26-4352-74EE-A720C7AF5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22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B6F63-D5C7-EB4A-A651-8DA5561AD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00FB2D-0CF3-1A3C-E704-F8CA96C2D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8C3C47D-E633-BB5D-0FA3-41A5E3C28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3DA118-0D2F-73A1-6311-85E95462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46749A-348F-886F-32BD-A562F1A2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BF22D09-FBE9-294C-014E-9A808723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40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C132-3A30-7E9C-0BBB-1CD1A789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F31776A-D32D-34F5-8A99-A26F4F65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E500BF3-C366-20F6-6257-8233A0794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B1C119C-B590-D055-6B10-AAE861F0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64F92-4550-973E-464E-89CA3E7EE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8384D1-792D-8EA8-718E-F756CEE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47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C6E50E-2954-B290-1563-C4936B9E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6A99E4-1414-E268-7B72-A4C896708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9BB3C2-1FA4-4151-9ADB-996284F1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27C81A-BE4E-27CE-6CE4-0AE5876D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C814-C417-2E3F-F02B-1B9ED694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C1D687F-54E9-57A3-FDA2-5A8060E7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C846A14-940B-8FE8-A769-3DABAE11A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3732A3-4427-5A76-3A9C-DBE87A4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A5B672-F383-0FF5-2D72-72E1E7F0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28928A-9906-D889-A8B7-B97D729C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0AC0570-6E75-D8C0-582D-3A448969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ADFDDF-DF3C-19FA-0ED8-5D640C08D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9AC677-7913-29B2-30F7-969771FA5D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6836E4-21B2-245A-8933-7F64F64AC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2D0B4E-8F0D-F1B8-2A71-9862FC974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gif"/><Relationship Id="rId4" Type="http://schemas.openxmlformats.org/officeDocument/2006/relationships/image" Target="../media/image2.gi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gif"/><Relationship Id="rId4" Type="http://schemas.openxmlformats.org/officeDocument/2006/relationships/image" Target="../media/image12.g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g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31960" y="2959688"/>
            <a:ext cx="741780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 애니메이션 </a:t>
            </a:r>
            <a:r>
              <a:rPr lang="ko-KR" altLang="en-US" sz="24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시스템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5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</a:t>
            </a:r>
            <a:endParaRPr lang="en-US" altLang="ko-KR" sz="24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331960" y="3421353"/>
            <a:ext cx="1358064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발표자 </a:t>
            </a:r>
            <a:r>
              <a:rPr lang="en-US" altLang="ko-KR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김정환</a:t>
            </a:r>
          </a:p>
        </p:txBody>
      </p:sp>
    </p:spTree>
    <p:extLst>
      <p:ext uri="{BB962C8B-B14F-4D97-AF65-F5344CB8AC3E}">
        <p14:creationId xmlns:p14="http://schemas.microsoft.com/office/powerpoint/2010/main" val="3459223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인식과 인식 결과 처리 분리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342316"/>
            <a:ext cx="513868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기존엔 지형 인식 과정에서 예상되는 행동까지 판단해서 전달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캐릭터의 상태가 세분화하면서 상태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따라 기존 판단 결과를 번복하고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캐릭터의 현재 상태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위치에 따라 새로 행동을 찾아야 하는 상황이 발생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문제 원인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</a:t>
            </a:r>
          </a:p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인식과 행동 선택이 같은 곳에서 이루어 지는 것이 문제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이렇게 되면 상태가 늘어남에 따라 지형 인식 로직에서 수정을 하거나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</a:t>
            </a:r>
            <a:b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</a:b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현재처럼 적용 전에 번복하는 상황이 반복</a:t>
            </a:r>
            <a:b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</a:b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해결 방법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</a:t>
            </a: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부분을 해소하기 위해 지형 인식과 처리를 분리 작업을 진행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C34DFFA-E592-0721-82E0-F9FED048F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1134" y="951286"/>
            <a:ext cx="4642617" cy="23607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D7468A1-FE42-10CE-451E-6C93240EF165}"/>
              </a:ext>
            </a:extLst>
          </p:cNvPr>
          <p:cNvSpPr txBox="1"/>
          <p:nvPr/>
        </p:nvSpPr>
        <p:spPr>
          <a:xfrm>
            <a:off x="4716877" y="3549616"/>
            <a:ext cx="2279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Beam Stand -&gt; Landing Idle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05A1B2C-B9A6-4251-A625-337E28E52A88}"/>
              </a:ext>
            </a:extLst>
          </p:cNvPr>
          <p:cNvSpPr txBox="1"/>
          <p:nvPr/>
        </p:nvSpPr>
        <p:spPr>
          <a:xfrm>
            <a:off x="2217216" y="3703115"/>
            <a:ext cx="2279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번복 전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EBA000-A36C-DD17-1CCB-57E6DE88BBD3}"/>
              </a:ext>
            </a:extLst>
          </p:cNvPr>
          <p:cNvSpPr txBox="1"/>
          <p:nvPr/>
        </p:nvSpPr>
        <p:spPr>
          <a:xfrm>
            <a:off x="7216539" y="3703115"/>
            <a:ext cx="2279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번복 후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987B03BB-50EE-ED78-BE06-674052D6B5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6232" y="4041670"/>
            <a:ext cx="4001585" cy="2114659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C0D3F082-C8A6-4222-3936-39CA7F1A9F8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5555" y="4041670"/>
            <a:ext cx="4001585" cy="211465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15DF56F4-C669-FCF6-18D9-A9B7A2C5CACD}"/>
              </a:ext>
            </a:extLst>
          </p:cNvPr>
          <p:cNvSpPr txBox="1"/>
          <p:nvPr/>
        </p:nvSpPr>
        <p:spPr>
          <a:xfrm>
            <a:off x="2190078" y="6259409"/>
            <a:ext cx="2279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Default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지형에 대해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Vault Low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7169D-30C9-01BC-E147-7051DC00FA06}"/>
              </a:ext>
            </a:extLst>
          </p:cNvPr>
          <p:cNvSpPr txBox="1"/>
          <p:nvPr/>
        </p:nvSpPr>
        <p:spPr>
          <a:xfrm>
            <a:off x="6355555" y="6212117"/>
            <a:ext cx="40015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Vault Low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결과를 무시하고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</a:t>
            </a:r>
            <a:b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</a:b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현재 상태와 지형의 높이에 따라 다른 모션 선택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40903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인식과 인식 결과 처리 분리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7861760" y="3791890"/>
            <a:ext cx="31563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지정한 장애물에 대한 행동 판단 기준에 따라서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결과를 처리하도록 설정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080597D-D3BC-43A8-E2AA-2A1712A9FD72}"/>
              </a:ext>
            </a:extLst>
          </p:cNvPr>
          <p:cNvSpPr/>
          <p:nvPr/>
        </p:nvSpPr>
        <p:spPr>
          <a:xfrm>
            <a:off x="302449" y="1342316"/>
            <a:ext cx="6096000" cy="101566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인식에선 행동 유형 대신 인지한 지형에 대한 정보를 제공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포인터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최초 접촉 위치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파악한 모서리 위치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높이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장애물의 깊이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처리 파트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</a:t>
            </a:r>
            <a:r>
              <a:rPr lang="en-US" altLang="ko-KR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CharacterFSM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에선 인지 정보를 사용해서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각 상태에 따라 적절한 액션을 선택하도록 확인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A3D9E6F-4B08-02F3-95BF-F946C7DFC9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760" y="1263754"/>
            <a:ext cx="3511790" cy="1333503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E8110FE-3640-F57D-C910-76A28312B3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6259" y="2707697"/>
            <a:ext cx="2604379" cy="351625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E06D676-A94F-196C-6BD3-B36EC073F7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9842" y="1263755"/>
            <a:ext cx="2687117" cy="1333508"/>
          </a:xfrm>
          <a:prstGeom prst="rect">
            <a:avLst/>
          </a:prstGeom>
        </p:spPr>
      </p:pic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36B6D84B-67D0-F674-9E31-319537267AAA}"/>
              </a:ext>
            </a:extLst>
          </p:cNvPr>
          <p:cNvCxnSpPr>
            <a:cxnSpLocks/>
          </p:cNvCxnSpPr>
          <p:nvPr/>
        </p:nvCxnSpPr>
        <p:spPr>
          <a:xfrm>
            <a:off x="7796959" y="1927219"/>
            <a:ext cx="4344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671B1980-F83B-54EA-4896-FBB85CD71E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396" y="2773826"/>
            <a:ext cx="4396046" cy="2902697"/>
          </a:xfrm>
          <a:prstGeom prst="rect">
            <a:avLst/>
          </a:prstGeom>
        </p:spPr>
      </p:pic>
      <p:sp>
        <p:nvSpPr>
          <p:cNvPr id="13" name="오른쪽 대괄호 12">
            <a:extLst>
              <a:ext uri="{FF2B5EF4-FFF2-40B4-BE49-F238E27FC236}">
                <a16:creationId xmlns:a16="http://schemas.microsoft.com/office/drawing/2014/main" id="{701AF782-E79D-DBA9-9D5A-F40D2E37D15C}"/>
              </a:ext>
            </a:extLst>
          </p:cNvPr>
          <p:cNvSpPr/>
          <p:nvPr/>
        </p:nvSpPr>
        <p:spPr>
          <a:xfrm>
            <a:off x="7152238" y="3702867"/>
            <a:ext cx="298764" cy="651850"/>
          </a:xfrm>
          <a:prstGeom prst="rightBracke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700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 bone IK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구현 및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619182"/>
            <a:ext cx="7464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장애물을 넘어갈 때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손이 파 들어가거나 손이 붕 뜨며 어색해짐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.</a:t>
            </a: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부분을 해결하기 위해서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액션과 일부 상태 중에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를 적용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E0E499D-92BC-A3F8-B1BF-52D842A8E4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115" y="2517520"/>
            <a:ext cx="5940861" cy="313947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5F3CF03-3BF1-8C7B-44F5-7D320095E6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9840" y="2511755"/>
            <a:ext cx="4185800" cy="3157838"/>
          </a:xfrm>
          <a:prstGeom prst="rect">
            <a:avLst/>
          </a:prstGeom>
        </p:spPr>
      </p:pic>
      <p:sp>
        <p:nvSpPr>
          <p:cNvPr id="2" name="타원 1">
            <a:extLst>
              <a:ext uri="{FF2B5EF4-FFF2-40B4-BE49-F238E27FC236}">
                <a16:creationId xmlns:a16="http://schemas.microsoft.com/office/drawing/2014/main" id="{C1D52EF2-A646-0213-3D17-67AB0DD1E7DF}"/>
              </a:ext>
            </a:extLst>
          </p:cNvPr>
          <p:cNvSpPr/>
          <p:nvPr/>
        </p:nvSpPr>
        <p:spPr>
          <a:xfrm>
            <a:off x="8573631" y="4372824"/>
            <a:ext cx="470781" cy="46165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917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52C1E-1CD7-9D60-F3D8-5C5AABD65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DF21528-A5AC-CA4D-A69C-58C065D14CCA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9D2A6F-2871-AB34-4633-5353BC59041C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6C3311E-6CCF-1130-AEE4-5DACE99507B1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05DE6A6-8256-7947-FD99-833F66C78D60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2B4273-A130-DC98-1973-D3260B921E92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 bone IK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구현 및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FC29FD-0F65-1B56-C644-888281F43DCD}"/>
              </a:ext>
            </a:extLst>
          </p:cNvPr>
          <p:cNvSpPr txBox="1"/>
          <p:nvPr/>
        </p:nvSpPr>
        <p:spPr>
          <a:xfrm>
            <a:off x="302450" y="1619182"/>
            <a:ext cx="50572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적용 이후에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를 적용할 수 있도록 컴포넌트 호출 순서를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6E01A3E-4847-BF1E-8599-CAC72F6373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3456" y="2068616"/>
            <a:ext cx="5639129" cy="4123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511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0A15A-753E-D76E-7EA6-D7EC3C7C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CAEF54E-C261-DAEA-E241-FDBE88008C12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834159-A529-642E-DA72-BC14004E679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DA84CF49-B3AE-55A6-B5C8-1AFB49183522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0BE5BF5-965D-78BB-5728-A037B8A2E486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366076-5195-604B-D474-8C276C9406C6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 bone IK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구현 및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53A7BE6-7A50-D5F3-C8D2-4236C81695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27" t="9016" r="29204" b="2547"/>
          <a:stretch>
            <a:fillRect/>
          </a:stretch>
        </p:blipFill>
        <p:spPr>
          <a:xfrm>
            <a:off x="387511" y="2419164"/>
            <a:ext cx="3043752" cy="3726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D3C5630-512F-1962-4801-A817035479B0}"/>
              </a:ext>
            </a:extLst>
          </p:cNvPr>
          <p:cNvSpPr txBox="1"/>
          <p:nvPr/>
        </p:nvSpPr>
        <p:spPr>
          <a:xfrm>
            <a:off x="302449" y="1727036"/>
            <a:ext cx="65207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적용 대상은 캐릭터의 사지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팔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다리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한정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최대한 손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발의 위치를 보정하기 위한 수준으로만 사용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49743366-5615-8C7F-C1CC-4FA46F440B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5" t="12355" r="28201"/>
          <a:stretch>
            <a:fillRect/>
          </a:stretch>
        </p:blipFill>
        <p:spPr>
          <a:xfrm>
            <a:off x="3670758" y="2423581"/>
            <a:ext cx="3608146" cy="372248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A42600C-F024-A6D3-4674-990D4DEC04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52" t="19456" r="37063"/>
          <a:stretch>
            <a:fillRect/>
          </a:stretch>
        </p:blipFill>
        <p:spPr>
          <a:xfrm>
            <a:off x="7518400" y="2423580"/>
            <a:ext cx="4450282" cy="3722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208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350F6-EFD4-DE5E-E31F-1B64FC1EF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344E58C-5A2E-AF5D-EF22-78D9889268CE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C48101-5578-EE11-7D60-3665CA3AC246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43B4DB2-A75E-A19B-D878-0FDE1DD10186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228ED88-258D-9AF8-E596-9CECC2121B9E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C62598-1800-0B23-5745-D95BC32B6348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 bone IK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구현 및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DA9AC6-5DD7-AA85-7599-DDF96810A7AB}"/>
              </a:ext>
            </a:extLst>
          </p:cNvPr>
          <p:cNvSpPr txBox="1"/>
          <p:nvPr/>
        </p:nvSpPr>
        <p:spPr>
          <a:xfrm>
            <a:off x="302449" y="1727036"/>
            <a:ext cx="65207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적용 대상은 캐릭터의 사지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팔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다리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한정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최대한 손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발의 위치를 보정하기 위한 수준으로만 사용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28B1C1F-29BE-C0FA-786B-F5169E4E28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03" r="21949"/>
          <a:stretch>
            <a:fillRect/>
          </a:stretch>
        </p:blipFill>
        <p:spPr>
          <a:xfrm>
            <a:off x="1616236" y="2296421"/>
            <a:ext cx="4166382" cy="367886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5DB843-F47C-26E8-A341-0AA0DB5FE7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06" r="14836"/>
          <a:stretch>
            <a:fillRect/>
          </a:stretch>
        </p:blipFill>
        <p:spPr>
          <a:xfrm>
            <a:off x="6010275" y="2296421"/>
            <a:ext cx="4629150" cy="367544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19C40A5-ACEB-23DA-9660-42ACECDF0D1E}"/>
              </a:ext>
            </a:extLst>
          </p:cNvPr>
          <p:cNvSpPr txBox="1"/>
          <p:nvPr/>
        </p:nvSpPr>
        <p:spPr>
          <a:xfrm>
            <a:off x="5930854" y="6054415"/>
            <a:ext cx="178470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추가 보정 작업이 필요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828231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 bone IK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구현 및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F883ECF-1F7D-D79C-4229-5D5B89E0F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395" y="2218758"/>
            <a:ext cx="3067478" cy="358190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2CD6B622-3A13-1FCB-EC0D-5649357A8C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511" y="2059774"/>
            <a:ext cx="7379751" cy="3899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5035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남은 문제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8" y="1342316"/>
            <a:ext cx="89272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1. IK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적용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후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직접 보고 보정이 필요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에 대한 의존을 최소화하려고 캐릭터의 위치를 기본적으로 장애물에 가깝게 붙여둔 상태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이렇게 하면 손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의 타겟을 살짝만 붙이면 될 것이라 예상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lvl="2"/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실제로 적용된 결과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오히려 더 기괴하게 어깨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다리 등이 자세를 잡거나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손목이나 발목의 각도를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디테일하게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제어할 필요가 발생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애니메이션들을 확인하고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일정량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Offset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을 주어서 보정 작업이 필요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lvl="2"/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작업은 크게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Root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의 위치를 맞추고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로 미세한 오차를 보정하고 확인한다 과정의 반복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D81370-91D1-DB2C-4D2D-AEA1C8A47CAA}"/>
              </a:ext>
            </a:extLst>
          </p:cNvPr>
          <p:cNvSpPr txBox="1"/>
          <p:nvPr/>
        </p:nvSpPr>
        <p:spPr>
          <a:xfrm>
            <a:off x="302448" y="3456857"/>
            <a:ext cx="89272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지형들의 경계에 해당하는 처리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장애물을 인식하고 높이와 깊이를 잴 때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넘어갈 수 있을 법한 차이임에도 넘지 않고 매달리는 것으로 판단하는 경우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단위를 더 작게 줄이고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b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</a:b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레이캐스트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사용 횟수를 늘리는 방식으로 더 디테일한 높이 측정으로 해결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20D749F-5ACA-49A2-5FEE-FC8C0C412C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125" y="3348748"/>
            <a:ext cx="4599038" cy="2876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87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15F932-2F2C-4A3F-7F16-1B13D352985A}"/>
              </a:ext>
            </a:extLst>
          </p:cNvPr>
          <p:cNvSpPr txBox="1"/>
          <p:nvPr/>
        </p:nvSpPr>
        <p:spPr>
          <a:xfrm>
            <a:off x="354702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진행 계획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(</a:t>
            </a:r>
            <a:r>
              <a:rPr lang="ko-KR" altLang="en-US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주차별</a:t>
            </a:r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목표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7606412"/>
              </p:ext>
            </p:extLst>
          </p:nvPr>
        </p:nvGraphicFramePr>
        <p:xfrm>
          <a:off x="420856" y="870858"/>
          <a:ext cx="11318860" cy="562941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91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7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0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7281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세부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1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구조 파악 및 기반 클래스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구성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파악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게임 기반 클래스 작성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fbx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파일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파싱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렌더링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재생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2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시스템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 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입력 바인딩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블렌드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상태머신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(PhysX)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입력 바인딩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로코모션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루트 모션 적용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3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장애물 높이 인식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인식한 장애물에 대한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선택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및 출력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  <a:b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위치에 따른 보정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4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애니메이션 처리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 중간에 지붕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경사로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철봉 나열된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en-US" altLang="ko-KR" sz="1400" strike="sngStrike" baseline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직각으로 만나는 벽면 간 이동 처리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벽면에 뻗어 나온 줄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또는 기둥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5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미흡사항 보완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no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디테일한 보정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데이터화 작업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인식 트리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6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시스템 보완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디테일 보정 작업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높이 및 깊이 인식 </a:t>
                      </a:r>
                      <a:r>
                        <a:rPr lang="ko-KR" altLang="en-US" sz="1400" strike="no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경계값</a:t>
                      </a: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처리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테스트 및 버그 수정</a:t>
                      </a:r>
                      <a:endParaRPr lang="ko-KR" altLang="en-US" sz="1400" strike="no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92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7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strike="no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strike="no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8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마무리 및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6804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1106</TotalTime>
  <Words>761</Words>
  <Application>Microsoft Office PowerPoint</Application>
  <PresentationFormat>와이드스크린</PresentationFormat>
  <Paragraphs>120</Paragraphs>
  <Slides>10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나눔바른고딕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김정환</dc:creator>
  <cp:lastModifiedBy>김정환</cp:lastModifiedBy>
  <cp:revision>1152</cp:revision>
  <dcterms:created xsi:type="dcterms:W3CDTF">2026-07-02T09:06:49Z</dcterms:created>
  <dcterms:modified xsi:type="dcterms:W3CDTF">2026-07-31T07:26:13Z</dcterms:modified>
</cp:coreProperties>
</file>