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0"/>
  </p:notesMasterIdLst>
  <p:sldIdLst>
    <p:sldId id="262" r:id="rId2"/>
    <p:sldId id="278" r:id="rId3"/>
    <p:sldId id="271" r:id="rId4"/>
    <p:sldId id="270" r:id="rId5"/>
    <p:sldId id="273" r:id="rId6"/>
    <p:sldId id="274" r:id="rId7"/>
    <p:sldId id="276" r:id="rId8"/>
    <p:sldId id="265" r:id="rId9"/>
  </p:sldIdLst>
  <p:sldSz cx="12192000" cy="6858000"/>
  <p:notesSz cx="6858000" cy="9144000"/>
  <p:embeddedFontLst>
    <p:embeddedFont>
      <p:font typeface="나눔바른고딕" panose="020B0603020101020101" pitchFamily="50" charset="-127"/>
      <p:regular r:id="rId11"/>
      <p:bold r:id="rId12"/>
    </p:embeddedFont>
    <p:embeddedFont>
      <p:font typeface="맑은 고딕" panose="020B0503020000020004" pitchFamily="50" charset="-127"/>
      <p:regular r:id="rId13"/>
      <p:bold r:id="rId14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021" autoAdjust="0"/>
  </p:normalViewPr>
  <p:slideViewPr>
    <p:cSldViewPr snapToGrid="0">
      <p:cViewPr varScale="1">
        <p:scale>
          <a:sx n="106" d="100"/>
          <a:sy n="106" d="100"/>
        </p:scale>
        <p:origin x="75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FA7D5B-B91B-48D9-9BBD-A861B53BECFD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06232B-CCFA-4887-B271-B9E43E27353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26146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0075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8089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98800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858212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029987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B06232B-CCFA-4887-B271-B9E43E27353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72655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목표 영상 </a:t>
            </a:r>
            <a:r>
              <a:rPr lang="en-US" altLang="ko-KR" dirty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/>
              <a:t>어쌔신크리드</a:t>
            </a:r>
            <a:r>
              <a:rPr lang="ko-KR" altLang="en-US" dirty="0"/>
              <a:t> </a:t>
            </a:r>
            <a:r>
              <a:rPr lang="ko-KR" altLang="en-US" dirty="0" err="1"/>
              <a:t>파쿠르</a:t>
            </a:r>
            <a:r>
              <a:rPr lang="ko-KR" altLang="en-US" dirty="0"/>
              <a:t> 액션 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/>
              <a:t>툼레이더</a:t>
            </a:r>
            <a:endParaRPr lang="en-US" altLang="ko-KR" dirty="0"/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486827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2026-07-31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gif"/><Relationship Id="rId4" Type="http://schemas.openxmlformats.org/officeDocument/2006/relationships/image" Target="../media/image2.gi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/>
        </p:nvSpPr>
        <p:spPr>
          <a:xfrm>
            <a:off x="331960" y="2959688"/>
            <a:ext cx="7417806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 애니메이션 </a:t>
            </a:r>
            <a:r>
              <a:rPr lang="ko-KR" altLang="en-US" sz="24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시스템 </a:t>
            </a:r>
            <a:r>
              <a:rPr lang="en-US" altLang="ko-KR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5</a:t>
            </a:r>
            <a:r>
              <a:rPr lang="ko-KR" altLang="en-US" sz="24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</a:t>
            </a:r>
            <a:endParaRPr lang="en-US" altLang="ko-KR" sz="24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331960" y="3421353"/>
            <a:ext cx="1358064" cy="3231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발표자 </a:t>
            </a:r>
            <a:r>
              <a:rPr lang="en-US" altLang="ko-KR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 </a:t>
            </a:r>
            <a:r>
              <a:rPr lang="ko-KR" altLang="en-US" sz="15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김정환</a:t>
            </a:r>
          </a:p>
        </p:txBody>
      </p:sp>
    </p:spTree>
    <p:extLst>
      <p:ext uri="{BB962C8B-B14F-4D97-AF65-F5344CB8AC3E}">
        <p14:creationId xmlns:p14="http://schemas.microsoft.com/office/powerpoint/2010/main" val="34592239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인식과 인식 결과 처리 분리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342316"/>
            <a:ext cx="513868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기존엔 지형 인식 과정에서 예상되는 행동까지 판단해서 전달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상태가 세분화하면서 상태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따라 기존 판단 결과를 번복하고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캐릭터의 현재 상태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위치에 따라 새로 행동을 찾아야 하는 상황이 발생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문제 원인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</a:t>
            </a:r>
          </a:p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인식과 행동 선택이 같은 곳에서 이루어 지는 것이 문제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이렇게 되면 상태가 늘어남에 따라 지형 인식 로직에서 수정을 하거나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</a:t>
            </a:r>
            <a:b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현재처럼 적용 전에 번복하는 상황이 반복</a:t>
            </a:r>
            <a:b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해결 방법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:</a:t>
            </a: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해소하기 위해 지형 인식과 처리를 분리 작업을 진행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C34DFFA-E592-0721-82E0-F9FED048F3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03763"/>
            <a:ext cx="4642617" cy="236079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4D7468A1-FE42-10CE-451E-6C93240EF165}"/>
              </a:ext>
            </a:extLst>
          </p:cNvPr>
          <p:cNvSpPr txBox="1"/>
          <p:nvPr/>
        </p:nvSpPr>
        <p:spPr>
          <a:xfrm>
            <a:off x="4716877" y="3549616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Beam Stand -&gt; Landing Idle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05A1B2C-B9A6-4251-A625-337E28E52A88}"/>
              </a:ext>
            </a:extLst>
          </p:cNvPr>
          <p:cNvSpPr txBox="1"/>
          <p:nvPr/>
        </p:nvSpPr>
        <p:spPr>
          <a:xfrm>
            <a:off x="2217216" y="3703115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번복 전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EBA000-A36C-DD17-1CCB-57E6DE88BBD3}"/>
              </a:ext>
            </a:extLst>
          </p:cNvPr>
          <p:cNvSpPr txBox="1"/>
          <p:nvPr/>
        </p:nvSpPr>
        <p:spPr>
          <a:xfrm>
            <a:off x="7216539" y="3703115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번복 후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987B03BB-50EE-ED78-BE06-674052D6B5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6232" y="4041670"/>
            <a:ext cx="4001585" cy="2114659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C0D3F082-C8A6-4222-3936-39CA7F1A9F8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555" y="4041670"/>
            <a:ext cx="4001585" cy="2114659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5DF56F4-C669-FCF6-18D9-A9B7A2C5CACD}"/>
              </a:ext>
            </a:extLst>
          </p:cNvPr>
          <p:cNvSpPr txBox="1"/>
          <p:nvPr/>
        </p:nvSpPr>
        <p:spPr>
          <a:xfrm>
            <a:off x="2190078" y="6259409"/>
            <a:ext cx="22796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Default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지형에 대해 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Vault Low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CF7169D-30C9-01BC-E147-7051DC00FA06}"/>
              </a:ext>
            </a:extLst>
          </p:cNvPr>
          <p:cNvSpPr txBox="1"/>
          <p:nvPr/>
        </p:nvSpPr>
        <p:spPr>
          <a:xfrm>
            <a:off x="6355555" y="6212117"/>
            <a:ext cx="40015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Vault Low </a:t>
            </a: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결과를 무시하고</a:t>
            </a:r>
            <a: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</a:t>
            </a:r>
            <a:br>
              <a:rPr lang="en-US" altLang="ko-KR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</a:br>
            <a:r>
              <a:rPr lang="ko-KR" altLang="en-US" sz="10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현재 상태와 지형의 높이에 따라 다른 모션 선택</a:t>
            </a:r>
            <a:endParaRPr lang="en-US" altLang="ko-KR" sz="10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409030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53668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인식과 인식 결과 처리 분리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1320128" y="5817273"/>
            <a:ext cx="3789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장애물에 대한 행동 판단 기준이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 로직에 매개변수 형태로 섞여있던 것을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분리하고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보다 편리하게 변경할 수 있도록 데이터화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080597D-D3BC-43A8-E2AA-2A1712A9FD72}"/>
              </a:ext>
            </a:extLst>
          </p:cNvPr>
          <p:cNvSpPr/>
          <p:nvPr/>
        </p:nvSpPr>
        <p:spPr>
          <a:xfrm>
            <a:off x="302449" y="1342316"/>
            <a:ext cx="6096000" cy="1015663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지형 인식에선 행동 유형 대신 인지한 지형에 대한 정보를 제공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 포인터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최초 접촉 위치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파악한 모서리 위치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높이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장애물의 깊이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인식 처리 파트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</a:t>
            </a:r>
            <a:r>
              <a:rPr lang="en-US" altLang="ko-KR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CharacterFSM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에선 인지 정보를 사용해서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각 상태에 따라 적절한 액션을 선택하도록 확인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A3D9E6F-4B08-02F3-95BF-F946C7DFC9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77760" y="1263754"/>
            <a:ext cx="3511790" cy="133350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9E8110FE-3640-F57D-C910-76A28312B3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58247" y="2905391"/>
            <a:ext cx="2604379" cy="351625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E06D676-A94F-196C-6BD3-B36EC073F7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9842" y="1263755"/>
            <a:ext cx="2687117" cy="1333508"/>
          </a:xfrm>
          <a:prstGeom prst="rect">
            <a:avLst/>
          </a:prstGeom>
        </p:spPr>
      </p:pic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36B6D84B-67D0-F674-9E31-319537267AAA}"/>
              </a:ext>
            </a:extLst>
          </p:cNvPr>
          <p:cNvCxnSpPr>
            <a:cxnSpLocks/>
          </p:cNvCxnSpPr>
          <p:nvPr/>
        </p:nvCxnSpPr>
        <p:spPr>
          <a:xfrm>
            <a:off x="7796959" y="1927219"/>
            <a:ext cx="43443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0" name="그림 19">
            <a:extLst>
              <a:ext uri="{FF2B5EF4-FFF2-40B4-BE49-F238E27FC236}">
                <a16:creationId xmlns:a16="http://schemas.microsoft.com/office/drawing/2014/main" id="{DDC12C05-4A82-E75F-B103-28C4D94CAEF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511" y="2905391"/>
            <a:ext cx="4600472" cy="2501767"/>
          </a:xfrm>
          <a:prstGeom prst="rect">
            <a:avLst/>
          </a:prstGeom>
        </p:spPr>
      </p:pic>
      <p:sp>
        <p:nvSpPr>
          <p:cNvPr id="21" name="직사각형 20">
            <a:extLst>
              <a:ext uri="{FF2B5EF4-FFF2-40B4-BE49-F238E27FC236}">
                <a16:creationId xmlns:a16="http://schemas.microsoft.com/office/drawing/2014/main" id="{0FF4B31C-76CC-1F4C-DF75-E9B8BBA1FE28}"/>
              </a:ext>
            </a:extLst>
          </p:cNvPr>
          <p:cNvSpPr/>
          <p:nvPr/>
        </p:nvSpPr>
        <p:spPr>
          <a:xfrm>
            <a:off x="525101" y="3232087"/>
            <a:ext cx="3268301" cy="196913"/>
          </a:xfrm>
          <a:prstGeom prst="rect">
            <a:avLst/>
          </a:pr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3" name="연결선: 꺾임 22">
            <a:extLst>
              <a:ext uri="{FF2B5EF4-FFF2-40B4-BE49-F238E27FC236}">
                <a16:creationId xmlns:a16="http://schemas.microsoft.com/office/drawing/2014/main" id="{87061010-C649-3556-7822-CA538B9DF740}"/>
              </a:ext>
            </a:extLst>
          </p:cNvPr>
          <p:cNvCxnSpPr>
            <a:stCxn id="21" idx="3"/>
            <a:endCxn id="14" idx="1"/>
          </p:cNvCxnSpPr>
          <p:nvPr/>
        </p:nvCxnSpPr>
        <p:spPr>
          <a:xfrm>
            <a:off x="3793402" y="3330544"/>
            <a:ext cx="1764845" cy="1332976"/>
          </a:xfrm>
          <a:prstGeom prst="bentConnector3">
            <a:avLst>
              <a:gd name="adj1" fmla="val 82831"/>
            </a:avLst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27006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742836"/>
            <a:ext cx="74648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장애물을 넘어갈 때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손이 파 들어가거나 손이 붕 뜨며 어색해짐</a:t>
            </a:r>
            <a:r>
              <a:rPr lang="en-US" altLang="ko-KR" sz="120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.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 부분을 해결하기 위해서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및 장애물에 매달린 상태에서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를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917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742836"/>
            <a:ext cx="7464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발생한 문제점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1. Update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순서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는 애니메이션이 호출된 이후에 적용되어야 정상적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기존에 물리 처리용 </a:t>
            </a:r>
            <a:r>
              <a:rPr lang="en-US" altLang="ko-KR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FixedUpdate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(Tick), Update(Tick)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외에 가장 마지막에 호출되는 </a:t>
            </a:r>
            <a:r>
              <a:rPr lang="en-US" altLang="ko-KR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LateUpdate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96319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8" y="1742836"/>
            <a:ext cx="746481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발생한 문제점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경사로 상에서 발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원래는 장애물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파쿠르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및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매달린 상태의 보정을 위해서 고려한 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손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적용해보니 경사로에서도 발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를 적용할 필요성이 생김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 시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바닥에 닿아야 하지만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쭉 뻗어져 닫지 않음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lvl="1"/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-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골반 뼈를 아래쪽 발에 맞춰서 같이 내려주기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0503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701093AF-254C-83D7-8032-465A5FB513FB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이번 주 작업 내역</a:t>
            </a:r>
            <a:endParaRPr lang="en-US" altLang="ko-KR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50" y="1003762"/>
            <a:ext cx="26942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 </a:t>
            </a:r>
            <a:r>
              <a:rPr lang="en-US" altLang="ko-KR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 </a:t>
            </a:r>
            <a:r>
              <a:rPr lang="ko-KR" altLang="en-US" sz="16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추가</a:t>
            </a:r>
            <a:endParaRPr lang="en-US" altLang="ko-KR" sz="16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76FFFECF-4B1C-95DF-32C3-2D2F19BEDAFB}"/>
              </a:ext>
            </a:extLst>
          </p:cNvPr>
          <p:cNvCxnSpPr>
            <a:cxnSpLocks/>
          </p:cNvCxnSpPr>
          <p:nvPr/>
        </p:nvCxnSpPr>
        <p:spPr>
          <a:xfrm>
            <a:off x="387511" y="818707"/>
            <a:ext cx="11308303" cy="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직사각형 11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9" y="1342316"/>
            <a:ext cx="74648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 bone IK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구현 및 적용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538815-CBEF-E37B-5659-B5091F86B485}"/>
              </a:ext>
            </a:extLst>
          </p:cNvPr>
          <p:cNvSpPr txBox="1"/>
          <p:nvPr/>
        </p:nvSpPr>
        <p:spPr>
          <a:xfrm>
            <a:off x="302448" y="1742836"/>
            <a:ext cx="74648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발생한 문제점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3.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적용했으나 직접 보고 추가 보정이 필요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의 의존을 최소화하려고 캐릭터의 위치를 기본적으로 장애물에 가깝게 붙여둔 상태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이렇게 하면 손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발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의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타겟을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ko-KR" altLang="en-US" sz="1200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살짝만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붙이면 될 것이라 예상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실제로 적용된 결과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오히려 더 기괴하게 어깨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다리 등이 자세를 잡게 됨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  <a:p>
            <a:pPr marL="628650" lvl="1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애니메이션들에서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IK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를 쓰는 경우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, 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일정량 </a:t>
            </a:r>
            <a:r>
              <a:rPr lang="en-US" altLang="ko-KR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Offset</a:t>
            </a:r>
            <a:r>
              <a:rPr lang="ko-KR" altLang="en-US" sz="1200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을 주어서 보정할 필요성이 생김</a:t>
            </a:r>
            <a:endParaRPr lang="en-US" altLang="ko-KR" sz="1200" dirty="0"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3875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54702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진행 계획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(</a:t>
            </a:r>
            <a:r>
              <a:rPr lang="ko-KR" altLang="en-US" dirty="0" err="1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주차별</a:t>
            </a:r>
            <a:r>
              <a:rPr lang="ko-KR" altLang="en-US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목표</a:t>
            </a:r>
            <a:r>
              <a:rPr lang="en-US" altLang="ko-KR" dirty="0">
                <a:latin typeface="나눔바른고딕" panose="020B0603020101020101" pitchFamily="34" charset="-127"/>
                <a:ea typeface="나눔바른고딕" panose="020B0603020101020101" pitchFamily="34" charset="-127"/>
              </a:rPr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706287"/>
              </p:ext>
            </p:extLst>
          </p:nvPr>
        </p:nvGraphicFramePr>
        <p:xfrm>
          <a:off x="420856" y="870858"/>
          <a:ext cx="11318860" cy="5629414"/>
        </p:xfrm>
        <a:graphic>
          <a:graphicData uri="http://schemas.openxmlformats.org/drawingml/2006/table">
            <a:tbl>
              <a:tblPr firstRow="1" bandRow="1">
                <a:tableStyleId>{7E9639D4-E3E2-4D34-9284-5A2195B3D0D7}</a:tableStyleId>
              </a:tblPr>
              <a:tblGrid>
                <a:gridCol w="791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07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3201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목표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작업 세부 내용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1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구조 파악 및 기반 클래스</a:t>
                      </a:r>
                      <a:r>
                        <a:rPr lang="ko-KR" altLang="en-US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구성</a:t>
                      </a:r>
                      <a:endParaRPr lang="en-US" altLang="ko-KR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미니엔진 파악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게임 기반 클래스 작성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fbx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파일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파싱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렌더링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재생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2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시스템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 적용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입력 바인딩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블렌드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상태머신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물리엔진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(PhysX)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입력 바인딩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 </a:t>
                      </a:r>
                      <a:r>
                        <a:rPr lang="ko-KR" altLang="en-US" sz="1400" strike="sng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로코모션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적용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루트 모션 적용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3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캐릭터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장애물 높이 인식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인식한 장애물에 대한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선택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및 출력</a:t>
                      </a:r>
                      <a: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</a:t>
                      </a:r>
                      <a:br>
                        <a:rPr lang="en-US" altLang="ko-KR" sz="1400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위치에 따른 보정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4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복잡한 지형 애니메이션 처리</a:t>
                      </a: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 중간에 지붕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경사로</a:t>
                      </a:r>
                      <a:r>
                        <a:rPr lang="en-US" altLang="ko-KR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철봉 나열된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en-US" altLang="ko-KR" sz="1400" strike="sngStrike" baseline="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직각으로 만나는 벽면 간 이동 처리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벽면에 뻗어 나온 줄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또는 기둥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환경 </a:t>
                      </a:r>
                      <a:r>
                        <a:rPr lang="ko-KR" altLang="en-US" sz="1400" strike="sng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sng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애니메이션 처리</a:t>
                      </a:r>
                      <a:endParaRPr lang="ko-KR" altLang="en-US" sz="1400" strike="sng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5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미흡사항 보완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noStrike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</a:t>
                      </a:r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디테일한 보정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),</a:t>
                      </a:r>
                    </a:p>
                    <a:p>
                      <a:pPr latinLnBrk="1"/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데이터화 작업 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애니메이션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인식 트리</a:t>
                      </a:r>
                      <a:r>
                        <a:rPr lang="en-US" altLang="ko-KR" sz="1400" strike="sng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</a:p>
                  </a:txBody>
                  <a:tcPr anchor="ctr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6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파쿠르</a:t>
                      </a:r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시스템 보완 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(</a:t>
                      </a:r>
                      <a:r>
                        <a:rPr lang="ko-KR" altLang="en-US" sz="140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폴리싱</a:t>
                      </a:r>
                      <a:r>
                        <a:rPr lang="en-US" altLang="ko-KR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)</a:t>
                      </a:r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strike="noStrike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IK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적용 디테일 보정 작업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지형 높이 및 깊이 인식 </a:t>
                      </a:r>
                      <a:r>
                        <a:rPr lang="ko-KR" altLang="en-US" sz="1400" strike="noStrike" baseline="0" dirty="0" err="1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경계값</a:t>
                      </a: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 처리</a:t>
                      </a:r>
                      <a: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, </a:t>
                      </a:r>
                      <a:br>
                        <a:rPr lang="en-US" altLang="ko-KR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</a:br>
                      <a:r>
                        <a:rPr lang="ko-KR" altLang="en-US" sz="1400" strike="noStrike" baseline="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전체적인 테스트 및 버그 수정</a:t>
                      </a:r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992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7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strike="noStrike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8</a:t>
                      </a:r>
                      <a:endParaRPr lang="ko-KR" altLang="en-US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나눔바른고딕" panose="020B0603020101020101" pitchFamily="34" charset="-127"/>
                          <a:ea typeface="나눔바른고딕" panose="020B0603020101020101" pitchFamily="34" charset="-127"/>
                        </a:rPr>
                        <a:t>마무리 및 보완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나눔바른고딕" panose="020B0603020101020101" pitchFamily="34" charset="-127"/>
                        <a:ea typeface="나눔바른고딕" panose="020B0603020101020101" pitchFamily="34" charset="-127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직사각형 3"/>
          <p:cNvSpPr/>
          <p:nvPr/>
        </p:nvSpPr>
        <p:spPr>
          <a:xfrm>
            <a:off x="10443172" y="118011"/>
            <a:ext cx="1596912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펄어비스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 </a:t>
            </a:r>
            <a:r>
              <a:rPr lang="en-US" altLang="ko-KR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2026 </a:t>
            </a:r>
            <a:r>
              <a:rPr lang="ko-KR" altLang="en-US" sz="1000" dirty="0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여름 </a:t>
            </a:r>
            <a:r>
              <a:rPr lang="ko-KR" altLang="en-US" sz="1000" dirty="0" err="1">
                <a:solidFill>
                  <a:schemeClr val="bg1">
                    <a:lumMod val="75000"/>
                  </a:schemeClr>
                </a:solidFill>
                <a:latin typeface="나눔바른고딕" panose="020B0603020101020101" pitchFamily="34" charset="-127"/>
                <a:ea typeface="나눔바른고딕" panose="020B0603020101020101" pitchFamily="34" charset="-127"/>
              </a:rPr>
              <a:t>인턴십</a:t>
            </a:r>
            <a:endParaRPr lang="ko-KR" altLang="en-US" sz="1000" dirty="0">
              <a:solidFill>
                <a:schemeClr val="bg1">
                  <a:lumMod val="75000"/>
                </a:schemeClr>
              </a:solidFill>
              <a:latin typeface="나눔바른고딕" panose="020B0603020101020101" pitchFamily="34" charset="-127"/>
              <a:ea typeface="나눔바른고딕" panose="020B0603020101020101" pitchFamily="34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680441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992</TotalTime>
  <Words>708</Words>
  <Application>Microsoft Office PowerPoint</Application>
  <PresentationFormat>와이드스크린</PresentationFormat>
  <Paragraphs>108</Paragraphs>
  <Slides>8</Slides>
  <Notes>7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2" baseType="lpstr">
      <vt:lpstr>Arial</vt:lpstr>
      <vt:lpstr>나눔바른고딕</vt:lpstr>
      <vt:lpstr>맑은 고딕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김정환</cp:lastModifiedBy>
  <cp:revision>1049</cp:revision>
  <dcterms:created xsi:type="dcterms:W3CDTF">2026-07-02T09:06:49Z</dcterms:created>
  <dcterms:modified xsi:type="dcterms:W3CDTF">2026-07-31T02:51:21Z</dcterms:modified>
</cp:coreProperties>
</file>