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6"/>
  </p:notesMasterIdLst>
  <p:sldIdLst>
    <p:sldId id="262" r:id="rId2"/>
    <p:sldId id="278" r:id="rId3"/>
    <p:sldId id="280" r:id="rId4"/>
    <p:sldId id="281" r:id="rId5"/>
    <p:sldId id="282" r:id="rId6"/>
    <p:sldId id="283" r:id="rId7"/>
    <p:sldId id="284" r:id="rId8"/>
    <p:sldId id="279" r:id="rId9"/>
    <p:sldId id="285" r:id="rId10"/>
    <p:sldId id="286" r:id="rId11"/>
    <p:sldId id="287" r:id="rId12"/>
    <p:sldId id="288" r:id="rId13"/>
    <p:sldId id="289" r:id="rId14"/>
    <p:sldId id="265" r:id="rId15"/>
  </p:sldIdLst>
  <p:sldSz cx="12192000" cy="6858000"/>
  <p:notesSz cx="6858000" cy="9144000"/>
  <p:embeddedFontLst>
    <p:embeddedFont>
      <p:font typeface="나눔바른고딕" panose="020B0603020101020101" pitchFamily="50" charset="-127"/>
      <p:regular r:id="rId17"/>
      <p:bold r:id="rId18"/>
    </p:embeddedFont>
    <p:embeddedFont>
      <p:font typeface="맑은 고딕" panose="020B0503020000020004" pitchFamily="50" charset="-127"/>
      <p:regular r:id="rId19"/>
      <p:bold r:id="rId20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89312" autoAdjust="0"/>
  </p:normalViewPr>
  <p:slideViewPr>
    <p:cSldViewPr snapToGrid="0">
      <p:cViewPr>
        <p:scale>
          <a:sx n="75" d="100"/>
          <a:sy n="75" d="100"/>
        </p:scale>
        <p:origin x="1914" y="9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font" Target="fonts/font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9FA7D5B-B91B-48D9-9BBD-A861B53BECFD}" type="datetimeFigureOut">
              <a:rPr lang="ko-KR" altLang="en-US" smtClean="0"/>
              <a:t>2026-08-06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B06232B-CCFA-4887-B271-B9E43E2735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26146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B06232B-CCFA-4887-B271-B9E43E27353A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8900752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A38960-BC67-841A-1008-8ED7410D5C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2A2A7C5-4DBD-6DA0-D4C4-9F15814544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FDC0F1D-EE0C-3681-61B0-1DEA4C2B65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52BD183-004B-E054-798A-87423BE18FA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B06232B-CCFA-4887-B271-B9E43E27353A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9076238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A8A9F5-7FAD-EA63-4B9A-5846B7E228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202E732-321E-64DE-26A7-11C0FFAC97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414D46E-19A2-3FE0-BD28-64F8E1AA2D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EE4F259-EAD0-3E0A-4FEE-20170219770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B06232B-CCFA-4887-B271-B9E43E27353A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9712857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EF1E15-50B0-7CD5-5CD9-AF14260601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C5E0A1A-0F25-DCCA-903B-AF336B3472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78C4E44-1823-534F-C317-628BA12DF2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D898966-BE35-B09B-403B-482EAD85F6D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B06232B-CCFA-4887-B271-B9E43E27353A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5538200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04A8CD-060B-520A-1539-B50E08D82A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0ECCCAC-5625-D489-0D80-E44820EBBA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BDE29CD-63EC-784A-64E7-B6B5232236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1A896FB-CC67-A4DC-2394-10F168A5FF4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B06232B-CCFA-4887-B271-B9E43E27353A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9781939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C90BDA-805E-3810-7AC0-6461A3B05D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E6C3313-1968-467F-E98C-5C86AAD5D8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6C7B1B1-2165-67D8-CD12-9DB8174DA0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0E81CD0-9089-C7DA-75CD-CA965606E2D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B06232B-CCFA-4887-B271-B9E43E27353A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5270430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6581C7-E434-47DB-6ACF-69FCF793A9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DD29801-CBD4-2FA8-2EA2-88B9857B6C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05474EC-565F-6D80-B904-9D4B868429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D2390A5-EAE6-1386-7936-D6AF28666EB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B06232B-CCFA-4887-B271-B9E43E27353A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6399654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E1B068-BCF9-DF67-6E29-01EF82BB40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25E688F-A200-C65E-6A69-AFC1F3DB5E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0141520-229E-D6BA-1D69-806FABD37E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D6B0D90-DC5B-3AE6-13C9-4AD3D298621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B06232B-CCFA-4887-B271-B9E43E27353A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2018675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BDADBC-6CCF-EA69-5FBA-13CF2A01CF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2BCCC5F-F401-9A94-2426-2B481E6D9B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147BFC0-7061-2FD7-CC0E-5E10DDF4D5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F8764C0-AB41-E0B8-5881-76F2E6C708E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B06232B-CCFA-4887-B271-B9E43E27353A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6779905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50ECA6-11FC-1DB9-A06D-63BBB0A7C5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941A8E8-300D-2CD2-F859-3730FEB50C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DE2D11D-E2A8-65CA-3163-987BE00490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08F4815-000D-BD80-CD19-2FA5D55D5A3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B06232B-CCFA-4887-B271-B9E43E27353A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4532068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DA3B39-8894-5F9A-934E-FCF5B21FE0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4F1F109-881F-1045-0558-BD4713E8A01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0B3D547-C55C-7D84-2362-21E153F0B1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25ED412-6A91-4910-2C5B-30D9A592C4D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B06232B-CCFA-4887-B271-B9E43E27353A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1665244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DC35D4-0EB2-D96E-FEC2-15DE35D299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9637B56-09F8-D88B-57B1-AA984EE2B7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385C1FD-EB20-045C-494E-90A4493EC5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56638F2-87D8-5072-51A8-E438416CD84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B06232B-CCFA-4887-B271-B9E43E27353A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1798997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목표 영상 </a:t>
            </a:r>
            <a:r>
              <a:rPr lang="en-US" altLang="ko-KR" dirty="0"/>
              <a:t>: </a:t>
            </a:r>
          </a:p>
          <a:p>
            <a:pPr marL="228600" indent="-228600">
              <a:buAutoNum type="arabicPeriod"/>
            </a:pPr>
            <a:r>
              <a:rPr lang="ko-KR" altLang="en-US" dirty="0" err="1"/>
              <a:t>어쌔신크리드</a:t>
            </a:r>
            <a:r>
              <a:rPr lang="ko-KR" altLang="en-US" dirty="0"/>
              <a:t> </a:t>
            </a:r>
            <a:r>
              <a:rPr lang="ko-KR" altLang="en-US" dirty="0" err="1"/>
              <a:t>파쿠르</a:t>
            </a:r>
            <a:r>
              <a:rPr lang="ko-KR" altLang="en-US" dirty="0"/>
              <a:t> 액션 </a:t>
            </a:r>
            <a:endParaRPr lang="en-US" altLang="ko-KR" dirty="0"/>
          </a:p>
          <a:p>
            <a:pPr marL="685800" lvl="1" indent="-228600">
              <a:buAutoNum type="arabicPeriod"/>
            </a:pPr>
            <a:r>
              <a:rPr lang="en-US" altLang="ko-KR" dirty="0"/>
              <a:t>https://www.youtube.com/shorts/DgF8jxONRSM</a:t>
            </a:r>
          </a:p>
          <a:p>
            <a:pPr marL="685800" lvl="1" indent="-228600">
              <a:buAutoNum type="arabicPeriod"/>
            </a:pPr>
            <a:r>
              <a:rPr lang="en-US" altLang="ko-KR" dirty="0"/>
              <a:t>https://www.youtube.com/shorts/bMgaW5dvLzk</a:t>
            </a:r>
          </a:p>
          <a:p>
            <a:pPr marL="685800" lvl="1" indent="-228600">
              <a:buAutoNum type="arabicPeriod"/>
            </a:pPr>
            <a:r>
              <a:rPr lang="en-US" altLang="ko-KR" dirty="0"/>
              <a:t>https://www.youtube.com/watch?v=1vhC870Phb0</a:t>
            </a:r>
          </a:p>
          <a:p>
            <a:pPr marL="685800" lvl="1" indent="-228600">
              <a:buAutoNum type="arabicPeriod"/>
            </a:pPr>
            <a:r>
              <a:rPr lang="en-US" altLang="ko-KR" dirty="0"/>
              <a:t>https://www.youtube.com/shorts/AZEMIHgBK1E</a:t>
            </a:r>
          </a:p>
          <a:p>
            <a:pPr marL="228600" lvl="0" indent="-228600">
              <a:buAutoNum type="arabicPeriod"/>
            </a:pPr>
            <a:r>
              <a:rPr lang="ko-KR" altLang="en-US" dirty="0" err="1"/>
              <a:t>툼레이더</a:t>
            </a:r>
            <a:endParaRPr lang="en-US" altLang="ko-KR" dirty="0"/>
          </a:p>
          <a:p>
            <a:pPr marL="685800" lvl="1" indent="-228600">
              <a:buAutoNum type="arabicPeriod"/>
            </a:pPr>
            <a:r>
              <a:rPr lang="en-US" altLang="ko-KR" dirty="0"/>
              <a:t>https://www.youtube.com/watch?v=reqY7n8hdSg</a:t>
            </a:r>
          </a:p>
          <a:p>
            <a:pPr marL="685800" lvl="1" indent="-228600">
              <a:buAutoNum type="arabicPeriod"/>
            </a:pPr>
            <a:r>
              <a:rPr lang="en-US" altLang="ko-KR" dirty="0"/>
              <a:t>https://www.youtube.com/shorts/PLTIvSb6AxM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F03AB99-662C-46EC-B86C-F2E227D3EFAD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486827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7C6A88D-EDAF-CEC2-712F-FA6A7E4FF53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1F7A10E8-4E5D-A611-E577-EBA5676A507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A4EF1CD-FA03-944B-0EC0-2AABE3B0C4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2026-08-06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7E1904F-F41F-7809-481D-7E79FCD21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6C721DE-9DEE-BACB-B354-8E260F4321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62647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4F5793F-94FE-56B0-E0CB-A317DA7FB4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FAF79B8-2AD1-69C6-D4D5-21827C6802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718AF63-4F49-82B6-24FC-BB457FC964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2026-08-06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A45FF19-25D7-1FF3-E311-2C2E07B267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F43D8BF-52A4-97EB-612B-F9899664EF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695851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B95909-78E9-5BAC-68EA-7DCA2A1271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6B98DAF-2A47-3ECD-807C-96FB70CF98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3AD9670-C268-56FC-281A-FE1F59541E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2026-08-06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4946F37-FE38-E38E-7339-DC6E4EFA5B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C17C39B-6348-28CC-59AF-B1A65BE2F1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5825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0EFA0F-10D7-865F-1370-4EA34C7867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498CDB5-9D2B-5F68-9DD8-ED20454B104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70EB1B7-8EDE-2794-EA53-E0C1972FAF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1FBCFA4-CF51-706E-F9F0-8B66CA1A0E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2026-08-06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D56636A-469F-7FE9-480E-955BCC0E6D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971D272-167D-EE36-E685-CD8BFE8CC9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95437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C7230E-A2F3-4027-B6F6-9C5C289B13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C685356-7419-AD93-377A-8D9A029342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C36E6CA-94A6-3223-C91A-F6E9648C8E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4DFD790-787A-88A3-300F-C173DAD2E1A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012AE83D-2990-A6E4-CC9C-06D342A67C0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3C11F8C3-5AD3-730B-8ADB-304185DAA6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2026-08-06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EF36ABA7-53C4-C11E-CC9D-F5E59BDBBD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5E29E145-D4AE-F9FB-A218-47B323C43E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74148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3D855E6-5AD7-B657-346A-38D87715A5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F3052B06-09E1-1CD0-A032-AEB30F69A0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2026-08-06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E18691A-8582-987D-DF06-E6D8B618E7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F997ACE-7D00-7B35-1F16-F56C5450EF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517089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2703D88F-9D50-1761-731E-68DD1FC6B7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2026-08-06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70793086-842E-7906-6019-4284A9E469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D4FE3DE-7F26-4352-74EE-A720C7AF55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062296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FB6F63-D5C7-EB4A-A651-8DA5561AD0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000FB2D-0CF3-1A3C-E704-F8CA96C2D5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8C3C47D-E633-BB5D-0FA3-41A5E3C28A6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03DA118-0D2F-73A1-6311-85E95462C5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2026-08-06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E46749A-348F-886F-32BD-A562F1A2A3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BF22D09-FBE9-294C-014E-9A808723A1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004018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50C132-3A30-7E9C-0BBB-1CD1A789CE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2F31776A-D32D-34F5-8A99-A26F4F6535B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E500BF3-C366-20F6-6257-8233A079452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B1C119C-B590-D055-6B10-AAE861F0D2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2026-08-06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0064F92-4550-973E-464E-89CA3E7EED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08384D1-792D-8EA8-718E-F756CEE623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254759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EC6E50E-2954-B290-1563-C4936B9E84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B6A99E4-1414-E268-7B72-A4C896708AE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A9BB3C2-1FA4-4151-9ADB-996284F1BD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2026-08-06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A27C81A-BE4E-27CE-6CE4-0AE5876D47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4E3C814-C417-2E3F-F02B-1B9ED6941F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756577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AC1D687F-54E9-57A3-FDA2-5A8060E79A8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C846A14-940B-8FE8-A769-3DABAE11AD2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93732A3-4427-5A76-3A9C-DBE87A4364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2026-08-06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6A5B672-F383-0FF5-2D72-72E1E7F0F0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E28928A-9906-D889-A8B7-B97D729CDB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82910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C0AC0570-6E75-D8C0-582D-3A448969CF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9ADFDDF-DF3C-19FA-0ED8-5D640C08DB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9AC677-7913-29B2-30F7-969771FA5D0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850A429-5607-4C3C-9BC0-4142A9E07459}" type="datetimeFigureOut">
              <a:rPr lang="ko-KR" altLang="en-US" smtClean="0"/>
              <a:t>2026-08-06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A6836E4-21B2-245A-8933-7F64F64AC38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F2D0B4E-8F0D-F1B8-2A71-9862FC9749C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57761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331960" y="2959688"/>
            <a:ext cx="7417806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4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주제 </a:t>
            </a:r>
            <a:r>
              <a:rPr lang="en-US" altLang="ko-KR" sz="24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: </a:t>
            </a:r>
            <a:r>
              <a:rPr lang="ko-KR" altLang="en-US" sz="24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캐릭터 애니메이션 </a:t>
            </a:r>
            <a:r>
              <a:rPr lang="ko-KR" altLang="en-US" sz="2400" dirty="0" err="1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파쿠르</a:t>
            </a:r>
            <a:r>
              <a:rPr lang="ko-KR" altLang="en-US" sz="24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시스템 </a:t>
            </a:r>
            <a:r>
              <a:rPr lang="en-US" altLang="ko-KR" sz="24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6</a:t>
            </a:r>
            <a:r>
              <a:rPr lang="ko-KR" altLang="en-US" sz="24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주차</a:t>
            </a:r>
            <a:endParaRPr lang="en-US" altLang="ko-KR" sz="24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3" name="직사각형 2"/>
          <p:cNvSpPr/>
          <p:nvPr/>
        </p:nvSpPr>
        <p:spPr>
          <a:xfrm>
            <a:off x="331960" y="3421353"/>
            <a:ext cx="1358064" cy="3231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5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발표자 </a:t>
            </a:r>
            <a:r>
              <a:rPr lang="en-US" altLang="ko-KR" sz="15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: </a:t>
            </a:r>
            <a:r>
              <a:rPr lang="ko-KR" altLang="en-US" sz="15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김정환</a:t>
            </a:r>
          </a:p>
        </p:txBody>
      </p:sp>
    </p:spTree>
    <p:extLst>
      <p:ext uri="{BB962C8B-B14F-4D97-AF65-F5344CB8AC3E}">
        <p14:creationId xmlns:p14="http://schemas.microsoft.com/office/powerpoint/2010/main" val="34592239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DA7EAA-204E-2F90-E52A-6C83B90130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701093AF-254C-83D7-8032-465A5FB513FB}"/>
              </a:ext>
            </a:extLst>
          </p:cNvPr>
          <p:cNvSpPr txBox="1"/>
          <p:nvPr/>
        </p:nvSpPr>
        <p:spPr>
          <a:xfrm>
            <a:off x="302451" y="315453"/>
            <a:ext cx="4944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이번 주 작업 내역</a:t>
            </a:r>
            <a:endParaRPr lang="en-US" altLang="ko-KR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D538815-CBEF-E37B-5659-B5091F86B485}"/>
              </a:ext>
            </a:extLst>
          </p:cNvPr>
          <p:cNvSpPr txBox="1"/>
          <p:nvPr/>
        </p:nvSpPr>
        <p:spPr>
          <a:xfrm>
            <a:off x="302450" y="1003762"/>
            <a:ext cx="53668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주요 작업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76FFFECF-4B1C-95DF-32C3-2D2F19BEDAFB}"/>
              </a:ext>
            </a:extLst>
          </p:cNvPr>
          <p:cNvCxnSpPr>
            <a:cxnSpLocks/>
          </p:cNvCxnSpPr>
          <p:nvPr/>
        </p:nvCxnSpPr>
        <p:spPr>
          <a:xfrm>
            <a:off x="387511" y="818707"/>
            <a:ext cx="1130830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직사각형 11"/>
          <p:cNvSpPr/>
          <p:nvPr/>
        </p:nvSpPr>
        <p:spPr>
          <a:xfrm>
            <a:off x="10443172" y="118011"/>
            <a:ext cx="1596912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펄어비스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en-US" altLang="ko-KR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2026 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여름 </a:t>
            </a:r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인턴십</a:t>
            </a:r>
            <a:endParaRPr lang="ko-KR" altLang="en-US" sz="1000" dirty="0">
              <a:solidFill>
                <a:schemeClr val="bg1">
                  <a:lumMod val="75000"/>
                </a:schemeClr>
              </a:solidFill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DC3BDF7-0C17-3E65-3F95-62AEFEB0CD86}"/>
              </a:ext>
            </a:extLst>
          </p:cNvPr>
          <p:cNvSpPr txBox="1"/>
          <p:nvPr/>
        </p:nvSpPr>
        <p:spPr>
          <a:xfrm>
            <a:off x="302450" y="1342316"/>
            <a:ext cx="51386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지형 인식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인식 결과 데이터화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IK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적용 후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디테일 </a:t>
            </a:r>
            <a:r>
              <a:rPr lang="ko-KR" altLang="en-US" sz="1200" dirty="0" err="1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폴리싱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지형 테스트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A46B86B-2A5E-39F7-A0B5-6BB8D1D20358}"/>
              </a:ext>
            </a:extLst>
          </p:cNvPr>
          <p:cNvSpPr/>
          <p:nvPr/>
        </p:nvSpPr>
        <p:spPr>
          <a:xfrm>
            <a:off x="769545" y="2083785"/>
            <a:ext cx="10058399" cy="438943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accent1"/>
                </a:solidFill>
              </a:rPr>
              <a:t>결과 영상</a:t>
            </a:r>
            <a:endParaRPr lang="en-US" altLang="ko-KR" dirty="0">
              <a:solidFill>
                <a:schemeClr val="accent1"/>
              </a:solidFill>
            </a:endParaRPr>
          </a:p>
          <a:p>
            <a:pPr algn="ctr"/>
            <a:r>
              <a:rPr lang="en-US" altLang="ko-KR" dirty="0">
                <a:solidFill>
                  <a:schemeClr val="accent1"/>
                </a:solidFill>
              </a:rPr>
              <a:t>1m~2m</a:t>
            </a:r>
            <a:endParaRPr lang="ko-KR" alt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409030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9567D0-8D8D-4F82-AAD7-B0FF119C04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EA448F56-014E-4B94-FB44-E56AECD3FEB6}"/>
              </a:ext>
            </a:extLst>
          </p:cNvPr>
          <p:cNvSpPr txBox="1"/>
          <p:nvPr/>
        </p:nvSpPr>
        <p:spPr>
          <a:xfrm>
            <a:off x="302451" y="315453"/>
            <a:ext cx="4944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이번 주 작업 내역</a:t>
            </a:r>
            <a:endParaRPr lang="en-US" altLang="ko-KR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316BC8B-3E9C-4B1A-E79B-6ACB06F238D1}"/>
              </a:ext>
            </a:extLst>
          </p:cNvPr>
          <p:cNvSpPr txBox="1"/>
          <p:nvPr/>
        </p:nvSpPr>
        <p:spPr>
          <a:xfrm>
            <a:off x="302450" y="1003762"/>
            <a:ext cx="53668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지형 인식</a:t>
            </a:r>
            <a:r>
              <a:rPr lang="en-US" altLang="ko-KR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인식 결과 데이터화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225FDA88-AB34-8322-EAD0-B9E3833A2962}"/>
              </a:ext>
            </a:extLst>
          </p:cNvPr>
          <p:cNvCxnSpPr>
            <a:cxnSpLocks/>
          </p:cNvCxnSpPr>
          <p:nvPr/>
        </p:nvCxnSpPr>
        <p:spPr>
          <a:xfrm>
            <a:off x="387511" y="818707"/>
            <a:ext cx="1130830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445848D8-1587-C15E-4275-1CAD486BF1EB}"/>
              </a:ext>
            </a:extLst>
          </p:cNvPr>
          <p:cNvSpPr/>
          <p:nvPr/>
        </p:nvSpPr>
        <p:spPr>
          <a:xfrm>
            <a:off x="10443172" y="118011"/>
            <a:ext cx="1596912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펄어비스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en-US" altLang="ko-KR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2026 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여름 </a:t>
            </a:r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인턴십</a:t>
            </a:r>
            <a:endParaRPr lang="ko-KR" altLang="en-US" sz="1000" dirty="0">
              <a:solidFill>
                <a:schemeClr val="bg1">
                  <a:lumMod val="75000"/>
                </a:schemeClr>
              </a:solidFill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B4EBD0C-7AD4-F15A-16EF-C7AFB68FB270}"/>
              </a:ext>
            </a:extLst>
          </p:cNvPr>
          <p:cNvSpPr txBox="1"/>
          <p:nvPr/>
        </p:nvSpPr>
        <p:spPr>
          <a:xfrm>
            <a:off x="302450" y="1342316"/>
            <a:ext cx="513868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지형 인식과 처리 결과 분리 후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후속 작업 진행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데이터 작업 대상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지형 인식 트리 인식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결과 처리 조건 및 모션 매칭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C09C16A-35D2-48AD-4061-2C115EAF7976}"/>
              </a:ext>
            </a:extLst>
          </p:cNvPr>
          <p:cNvSpPr txBox="1"/>
          <p:nvPr/>
        </p:nvSpPr>
        <p:spPr>
          <a:xfrm>
            <a:off x="302450" y="3295120"/>
            <a:ext cx="682262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구조적 문제점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지형 인식 과정을 트리 구조로 처리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결과는 무수히 많아질 수 있는데 이걸 </a:t>
            </a:r>
            <a:r>
              <a:rPr lang="ko-KR" altLang="en-US" sz="1200" dirty="0" err="1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일일히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FSM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으로 처리하고 있는 상황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처리해야 할 조건들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상황들은 많은데 이것들을 </a:t>
            </a:r>
            <a:r>
              <a:rPr lang="ko-KR" altLang="en-US" sz="1200" dirty="0" err="1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일일히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FSM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에서 코드로 처리하는 것은 비효율적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8CCFE6E-0F8B-0AFD-783E-1814D9C177FA}"/>
              </a:ext>
            </a:extLst>
          </p:cNvPr>
          <p:cNvSpPr txBox="1"/>
          <p:nvPr/>
        </p:nvSpPr>
        <p:spPr>
          <a:xfrm>
            <a:off x="302449" y="5171961"/>
            <a:ext cx="682262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해결 방법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처리 결과를 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FSM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으로 하지 않고 마찬가지로 추가하기 용이한 방법으로 데이터화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421710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549640-3534-B328-F19D-483A4CB1AB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B1A3C1A3-4416-EBEB-03C5-ADA3B9DDFD9F}"/>
              </a:ext>
            </a:extLst>
          </p:cNvPr>
          <p:cNvSpPr txBox="1"/>
          <p:nvPr/>
        </p:nvSpPr>
        <p:spPr>
          <a:xfrm>
            <a:off x="302451" y="315453"/>
            <a:ext cx="4944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이번 주 작업 내역</a:t>
            </a:r>
            <a:endParaRPr lang="en-US" altLang="ko-KR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280500D-53D9-B8BE-35B6-A5F3FD71B9BB}"/>
              </a:ext>
            </a:extLst>
          </p:cNvPr>
          <p:cNvSpPr txBox="1"/>
          <p:nvPr/>
        </p:nvSpPr>
        <p:spPr>
          <a:xfrm>
            <a:off x="302450" y="1003762"/>
            <a:ext cx="53668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지형 인식</a:t>
            </a:r>
            <a:r>
              <a:rPr lang="en-US" altLang="ko-KR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인식 결과 데이터화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2337E7D7-473D-730B-07F1-97FF6521A5E0}"/>
              </a:ext>
            </a:extLst>
          </p:cNvPr>
          <p:cNvCxnSpPr>
            <a:cxnSpLocks/>
          </p:cNvCxnSpPr>
          <p:nvPr/>
        </p:nvCxnSpPr>
        <p:spPr>
          <a:xfrm>
            <a:off x="387511" y="818707"/>
            <a:ext cx="1130830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8B3FCCC0-FB7B-8632-1ACD-EB0F3BD1468A}"/>
              </a:ext>
            </a:extLst>
          </p:cNvPr>
          <p:cNvSpPr/>
          <p:nvPr/>
        </p:nvSpPr>
        <p:spPr>
          <a:xfrm>
            <a:off x="10443172" y="118011"/>
            <a:ext cx="1596912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펄어비스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en-US" altLang="ko-KR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2026 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여름 </a:t>
            </a:r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인턴십</a:t>
            </a:r>
            <a:endParaRPr lang="ko-KR" altLang="en-US" sz="1000" dirty="0">
              <a:solidFill>
                <a:schemeClr val="bg1">
                  <a:lumMod val="75000"/>
                </a:schemeClr>
              </a:solidFill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ECF1401-017B-8423-172E-E3F163EFB8EB}"/>
              </a:ext>
            </a:extLst>
          </p:cNvPr>
          <p:cNvSpPr txBox="1"/>
          <p:nvPr/>
        </p:nvSpPr>
        <p:spPr>
          <a:xfrm>
            <a:off x="302450" y="1342316"/>
            <a:ext cx="513868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지형 인식 트리의 데이터화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grpSp>
        <p:nvGrpSpPr>
          <p:cNvPr id="30" name="그룹 29">
            <a:extLst>
              <a:ext uri="{FF2B5EF4-FFF2-40B4-BE49-F238E27FC236}">
                <a16:creationId xmlns:a16="http://schemas.microsoft.com/office/drawing/2014/main" id="{A6DA15CE-5F24-FFF6-A074-18E1A83481E6}"/>
              </a:ext>
            </a:extLst>
          </p:cNvPr>
          <p:cNvGrpSpPr/>
          <p:nvPr/>
        </p:nvGrpSpPr>
        <p:grpSpPr>
          <a:xfrm>
            <a:off x="7535008" y="1480815"/>
            <a:ext cx="3222192" cy="4621793"/>
            <a:chOff x="7535008" y="1480815"/>
            <a:chExt cx="3222192" cy="4621793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3A214DBD-1651-1475-989A-E14493702D2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535008" y="1480815"/>
              <a:ext cx="3222192" cy="4621793"/>
            </a:xfrm>
            <a:prstGeom prst="rect">
              <a:avLst/>
            </a:prstGeom>
          </p:spPr>
        </p:pic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F9E65E49-A8A8-BBD3-74E0-04B6A2EFAA36}"/>
                </a:ext>
              </a:extLst>
            </p:cNvPr>
            <p:cNvSpPr/>
            <p:nvPr/>
          </p:nvSpPr>
          <p:spPr>
            <a:xfrm>
              <a:off x="7962901" y="2100263"/>
              <a:ext cx="920750" cy="161925"/>
            </a:xfrm>
            <a:prstGeom prst="rect">
              <a:avLst/>
            </a:prstGeom>
            <a:noFill/>
            <a:ln>
              <a:solidFill>
                <a:schemeClr val="tx2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23AD9AF1-9D94-6237-6A92-1A3A5817628C}"/>
                </a:ext>
              </a:extLst>
            </p:cNvPr>
            <p:cNvSpPr/>
            <p:nvPr/>
          </p:nvSpPr>
          <p:spPr>
            <a:xfrm>
              <a:off x="7962900" y="3148013"/>
              <a:ext cx="1752599" cy="280987"/>
            </a:xfrm>
            <a:prstGeom prst="rect">
              <a:avLst/>
            </a:prstGeom>
            <a:noFill/>
            <a:ln>
              <a:solidFill>
                <a:schemeClr val="tx2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5" name="연결선: 꺾임 14">
              <a:extLst>
                <a:ext uri="{FF2B5EF4-FFF2-40B4-BE49-F238E27FC236}">
                  <a16:creationId xmlns:a16="http://schemas.microsoft.com/office/drawing/2014/main" id="{DAB8CAF1-FB11-9067-1644-667819E60FB0}"/>
                </a:ext>
              </a:extLst>
            </p:cNvPr>
            <p:cNvCxnSpPr>
              <a:cxnSpLocks/>
              <a:stCxn id="7" idx="3"/>
              <a:endCxn id="13" idx="0"/>
            </p:cNvCxnSpPr>
            <p:nvPr/>
          </p:nvCxnSpPr>
          <p:spPr>
            <a:xfrm flipH="1">
              <a:off x="8839200" y="2181226"/>
              <a:ext cx="44451" cy="966787"/>
            </a:xfrm>
            <a:prstGeom prst="bentConnector4">
              <a:avLst>
                <a:gd name="adj1" fmla="val -514274"/>
                <a:gd name="adj2" fmla="val 54187"/>
              </a:avLst>
            </a:prstGeom>
            <a:ln>
              <a:solidFill>
                <a:schemeClr val="tx2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2DC80D0A-EBA1-DF24-6345-7929413EC1D8}"/>
                </a:ext>
              </a:extLst>
            </p:cNvPr>
            <p:cNvSpPr/>
            <p:nvPr/>
          </p:nvSpPr>
          <p:spPr>
            <a:xfrm>
              <a:off x="8151514" y="3767461"/>
              <a:ext cx="920750" cy="161925"/>
            </a:xfrm>
            <a:prstGeom prst="rect">
              <a:avLst/>
            </a:prstGeom>
            <a:noFill/>
            <a:ln>
              <a:solidFill>
                <a:schemeClr val="tx2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직사각형 19">
              <a:extLst>
                <a:ext uri="{FF2B5EF4-FFF2-40B4-BE49-F238E27FC236}">
                  <a16:creationId xmlns:a16="http://schemas.microsoft.com/office/drawing/2014/main" id="{3B3F4FF5-4D70-71E7-C892-86F125617051}"/>
                </a:ext>
              </a:extLst>
            </p:cNvPr>
            <p:cNvSpPr/>
            <p:nvPr/>
          </p:nvSpPr>
          <p:spPr>
            <a:xfrm>
              <a:off x="8151514" y="4322910"/>
              <a:ext cx="1843512" cy="280987"/>
            </a:xfrm>
            <a:prstGeom prst="rect">
              <a:avLst/>
            </a:prstGeom>
            <a:noFill/>
            <a:ln>
              <a:solidFill>
                <a:schemeClr val="tx2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21" name="연결선: 꺾임 20">
              <a:extLst>
                <a:ext uri="{FF2B5EF4-FFF2-40B4-BE49-F238E27FC236}">
                  <a16:creationId xmlns:a16="http://schemas.microsoft.com/office/drawing/2014/main" id="{0E207835-0D29-1B22-9A3F-4DEAA7DB59AE}"/>
                </a:ext>
              </a:extLst>
            </p:cNvPr>
            <p:cNvCxnSpPr>
              <a:cxnSpLocks/>
              <a:stCxn id="18" idx="3"/>
              <a:endCxn id="20" idx="3"/>
            </p:cNvCxnSpPr>
            <p:nvPr/>
          </p:nvCxnSpPr>
          <p:spPr>
            <a:xfrm>
              <a:off x="9072264" y="3848424"/>
              <a:ext cx="922762" cy="614980"/>
            </a:xfrm>
            <a:prstGeom prst="bentConnector3">
              <a:avLst>
                <a:gd name="adj1" fmla="val 124773"/>
              </a:avLst>
            </a:prstGeom>
            <a:ln>
              <a:solidFill>
                <a:schemeClr val="tx2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2" name="사각형: 둥근 모서리 31">
            <a:extLst>
              <a:ext uri="{FF2B5EF4-FFF2-40B4-BE49-F238E27FC236}">
                <a16:creationId xmlns:a16="http://schemas.microsoft.com/office/drawing/2014/main" id="{409384A0-8E2E-5B98-5811-1EE512A460CF}"/>
              </a:ext>
            </a:extLst>
          </p:cNvPr>
          <p:cNvSpPr/>
          <p:nvPr/>
        </p:nvSpPr>
        <p:spPr>
          <a:xfrm>
            <a:off x="387511" y="2270938"/>
            <a:ext cx="4364578" cy="3306300"/>
          </a:xfrm>
          <a:prstGeom prst="roundRect">
            <a:avLst>
              <a:gd name="adj" fmla="val 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지형 </a:t>
            </a:r>
            <a:r>
              <a:rPr lang="ko-KR" altLang="en-US" dirty="0" err="1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인식트리</a:t>
            </a:r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간이 구조</a:t>
            </a:r>
            <a:endParaRPr lang="en-US" altLang="ko-KR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256709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D40794-C860-43E7-F9ED-71A8381C4F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82B74064-1CF1-64B6-B967-87A34DBEBA5B}"/>
              </a:ext>
            </a:extLst>
          </p:cNvPr>
          <p:cNvSpPr txBox="1"/>
          <p:nvPr/>
        </p:nvSpPr>
        <p:spPr>
          <a:xfrm>
            <a:off x="302451" y="315453"/>
            <a:ext cx="4944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이번 주 작업 내역</a:t>
            </a:r>
            <a:endParaRPr lang="en-US" altLang="ko-KR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0EDB4A4-AD43-7437-1751-585C2EE07962}"/>
              </a:ext>
            </a:extLst>
          </p:cNvPr>
          <p:cNvSpPr txBox="1"/>
          <p:nvPr/>
        </p:nvSpPr>
        <p:spPr>
          <a:xfrm>
            <a:off x="302450" y="1003762"/>
            <a:ext cx="53668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지형 인식</a:t>
            </a:r>
            <a:r>
              <a:rPr lang="en-US" altLang="ko-KR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인식 결과 데이터화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5881176A-B630-2E6B-975F-F70B31FECDCA}"/>
              </a:ext>
            </a:extLst>
          </p:cNvPr>
          <p:cNvCxnSpPr>
            <a:cxnSpLocks/>
          </p:cNvCxnSpPr>
          <p:nvPr/>
        </p:nvCxnSpPr>
        <p:spPr>
          <a:xfrm>
            <a:off x="387511" y="818707"/>
            <a:ext cx="1130830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1076178A-F76B-2754-F98B-62FC7E00E197}"/>
              </a:ext>
            </a:extLst>
          </p:cNvPr>
          <p:cNvSpPr/>
          <p:nvPr/>
        </p:nvSpPr>
        <p:spPr>
          <a:xfrm>
            <a:off x="10443172" y="118011"/>
            <a:ext cx="1596912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펄어비스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en-US" altLang="ko-KR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2026 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여름 </a:t>
            </a:r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인턴십</a:t>
            </a:r>
            <a:endParaRPr lang="ko-KR" altLang="en-US" sz="1000" dirty="0">
              <a:solidFill>
                <a:schemeClr val="bg1">
                  <a:lumMod val="75000"/>
                </a:schemeClr>
              </a:solidFill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2EE7006-8FDB-6FA8-36D5-06293A0CF1E2}"/>
              </a:ext>
            </a:extLst>
          </p:cNvPr>
          <p:cNvSpPr txBox="1"/>
          <p:nvPr/>
        </p:nvSpPr>
        <p:spPr>
          <a:xfrm>
            <a:off x="302450" y="1342316"/>
            <a:ext cx="513868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처리 결과 조건 데이터화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53F6B5E3-D78F-2C0F-FE33-E72FA876B3FA}"/>
              </a:ext>
            </a:extLst>
          </p:cNvPr>
          <p:cNvSpPr/>
          <p:nvPr/>
        </p:nvSpPr>
        <p:spPr>
          <a:xfrm>
            <a:off x="387511" y="2270938"/>
            <a:ext cx="4364578" cy="3306300"/>
          </a:xfrm>
          <a:prstGeom prst="roundRect">
            <a:avLst>
              <a:gd name="adj" fmla="val 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처리 조건 간이 구조</a:t>
            </a:r>
            <a:endParaRPr lang="en-US" altLang="ko-KR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pic>
        <p:nvPicPr>
          <p:cNvPr id="26" name="그림 25">
            <a:extLst>
              <a:ext uri="{FF2B5EF4-FFF2-40B4-BE49-F238E27FC236}">
                <a16:creationId xmlns:a16="http://schemas.microsoft.com/office/drawing/2014/main" id="{94998307-14E9-A7BB-377D-CF5C660A48B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2743" r="17893"/>
          <a:stretch>
            <a:fillRect/>
          </a:stretch>
        </p:blipFill>
        <p:spPr>
          <a:xfrm>
            <a:off x="5246591" y="2201256"/>
            <a:ext cx="2383853" cy="3023606"/>
          </a:xfrm>
          <a:prstGeom prst="rect">
            <a:avLst/>
          </a:prstGeom>
        </p:spPr>
      </p:pic>
      <p:pic>
        <p:nvPicPr>
          <p:cNvPr id="28" name="그림 27">
            <a:extLst>
              <a:ext uri="{FF2B5EF4-FFF2-40B4-BE49-F238E27FC236}">
                <a16:creationId xmlns:a16="http://schemas.microsoft.com/office/drawing/2014/main" id="{18C09418-DC5F-4DF6-0E94-14DC09E3033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38076" b="29068"/>
          <a:stretch>
            <a:fillRect/>
          </a:stretch>
        </p:blipFill>
        <p:spPr>
          <a:xfrm>
            <a:off x="7719071" y="3670301"/>
            <a:ext cx="4693919" cy="1285877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626AF803-A46C-A563-26C1-DC47EB5CBE9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709959" y="2806574"/>
            <a:ext cx="2813435" cy="3423758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59294F2D-ECCD-F62C-6CB8-6A61C54D819A}"/>
              </a:ext>
            </a:extLst>
          </p:cNvPr>
          <p:cNvSpPr txBox="1"/>
          <p:nvPr/>
        </p:nvSpPr>
        <p:spPr>
          <a:xfrm>
            <a:off x="6027400" y="5269463"/>
            <a:ext cx="66877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000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개별 조건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C5D9207-25EB-035F-5DCB-626072ECDBD4}"/>
              </a:ext>
            </a:extLst>
          </p:cNvPr>
          <p:cNvSpPr txBox="1"/>
          <p:nvPr/>
        </p:nvSpPr>
        <p:spPr>
          <a:xfrm>
            <a:off x="9606628" y="4988166"/>
            <a:ext cx="92525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000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개별 조건 합성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EDC0331-B6CA-958E-7125-B577FD65F081}"/>
              </a:ext>
            </a:extLst>
          </p:cNvPr>
          <p:cNvSpPr txBox="1"/>
          <p:nvPr/>
        </p:nvSpPr>
        <p:spPr>
          <a:xfrm>
            <a:off x="13582718" y="6319467"/>
            <a:ext cx="106792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000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조건 </a:t>
            </a:r>
            <a:r>
              <a:rPr lang="en-US" altLang="ko-KR" sz="1000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– </a:t>
            </a:r>
            <a:r>
              <a:rPr lang="ko-KR" altLang="en-US" sz="1000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액션 매핑</a:t>
            </a:r>
          </a:p>
        </p:txBody>
      </p:sp>
    </p:spTree>
    <p:extLst>
      <p:ext uri="{BB962C8B-B14F-4D97-AF65-F5344CB8AC3E}">
        <p14:creationId xmlns:p14="http://schemas.microsoft.com/office/powerpoint/2010/main" val="27287548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8995AF-D319-2365-EC57-EAE534183D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4DAE5240-9B2D-78CF-0442-8B81D93E3D0A}"/>
              </a:ext>
            </a:extLst>
          </p:cNvPr>
          <p:cNvSpPr txBox="1"/>
          <p:nvPr/>
        </p:nvSpPr>
        <p:spPr>
          <a:xfrm>
            <a:off x="302451" y="315453"/>
            <a:ext cx="4944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이번 주 작업 내역</a:t>
            </a:r>
            <a:endParaRPr lang="en-US" altLang="ko-KR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E2D7367-BCF0-D483-53D4-D8A697B6BDE5}"/>
              </a:ext>
            </a:extLst>
          </p:cNvPr>
          <p:cNvSpPr txBox="1"/>
          <p:nvPr/>
        </p:nvSpPr>
        <p:spPr>
          <a:xfrm>
            <a:off x="302450" y="1003762"/>
            <a:ext cx="53668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지형 인식</a:t>
            </a:r>
            <a:r>
              <a:rPr lang="en-US" altLang="ko-KR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인식 결과 데이터화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152A268F-3E5E-2B11-0AD7-A86D14C66136}"/>
              </a:ext>
            </a:extLst>
          </p:cNvPr>
          <p:cNvCxnSpPr>
            <a:cxnSpLocks/>
          </p:cNvCxnSpPr>
          <p:nvPr/>
        </p:nvCxnSpPr>
        <p:spPr>
          <a:xfrm>
            <a:off x="387511" y="818707"/>
            <a:ext cx="1130830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9258C093-2B88-545E-EF7D-3487CC8A13F5}"/>
              </a:ext>
            </a:extLst>
          </p:cNvPr>
          <p:cNvSpPr/>
          <p:nvPr/>
        </p:nvSpPr>
        <p:spPr>
          <a:xfrm>
            <a:off x="10443172" y="118011"/>
            <a:ext cx="1596912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펄어비스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en-US" altLang="ko-KR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2026 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여름 </a:t>
            </a:r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인턴십</a:t>
            </a:r>
            <a:endParaRPr lang="ko-KR" altLang="en-US" sz="1000" dirty="0">
              <a:solidFill>
                <a:schemeClr val="bg1">
                  <a:lumMod val="75000"/>
                </a:schemeClr>
              </a:solidFill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52C1419-AADF-3530-B23B-76E90DC1FACE}"/>
              </a:ext>
            </a:extLst>
          </p:cNvPr>
          <p:cNvSpPr txBox="1"/>
          <p:nvPr/>
        </p:nvSpPr>
        <p:spPr>
          <a:xfrm>
            <a:off x="302450" y="1342316"/>
            <a:ext cx="307892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애니메이션 클립 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–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모션 태그 맵핑 데이터화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B1D6041B-BAA4-0EE6-F386-3883261487F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68523"/>
          <a:stretch>
            <a:fillRect/>
          </a:stretch>
        </p:blipFill>
        <p:spPr>
          <a:xfrm>
            <a:off x="7376349" y="3122060"/>
            <a:ext cx="2454887" cy="17039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53389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6C87CA-FBA0-1129-2CD2-B7595C90C9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077FE9DB-6D36-3752-E690-70E8B6E2179F}"/>
              </a:ext>
            </a:extLst>
          </p:cNvPr>
          <p:cNvSpPr txBox="1"/>
          <p:nvPr/>
        </p:nvSpPr>
        <p:spPr>
          <a:xfrm>
            <a:off x="302451" y="315453"/>
            <a:ext cx="4944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이번 주 작업 내역</a:t>
            </a:r>
            <a:endParaRPr lang="en-US" altLang="ko-KR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5139DE7-8E55-0D67-0B7E-3427D1146A81}"/>
              </a:ext>
            </a:extLst>
          </p:cNvPr>
          <p:cNvSpPr txBox="1"/>
          <p:nvPr/>
        </p:nvSpPr>
        <p:spPr>
          <a:xfrm>
            <a:off x="302450" y="1003762"/>
            <a:ext cx="53668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지형 인식</a:t>
            </a:r>
            <a:r>
              <a:rPr lang="en-US" altLang="ko-KR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인식 결과 데이터화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1F5D6D6D-B1AA-D0F0-5BEC-5A1116B9B75D}"/>
              </a:ext>
            </a:extLst>
          </p:cNvPr>
          <p:cNvCxnSpPr>
            <a:cxnSpLocks/>
          </p:cNvCxnSpPr>
          <p:nvPr/>
        </p:nvCxnSpPr>
        <p:spPr>
          <a:xfrm>
            <a:off x="387511" y="818707"/>
            <a:ext cx="1130830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F02250AE-83E3-72FA-BE0F-035FE27B7CE3}"/>
              </a:ext>
            </a:extLst>
          </p:cNvPr>
          <p:cNvSpPr/>
          <p:nvPr/>
        </p:nvSpPr>
        <p:spPr>
          <a:xfrm>
            <a:off x="10443172" y="118011"/>
            <a:ext cx="1596912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펄어비스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en-US" altLang="ko-KR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2026 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여름 </a:t>
            </a:r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인턴십</a:t>
            </a:r>
            <a:endParaRPr lang="ko-KR" altLang="en-US" sz="1000" dirty="0">
              <a:solidFill>
                <a:schemeClr val="bg1">
                  <a:lumMod val="75000"/>
                </a:schemeClr>
              </a:solidFill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D3FF80F-4A63-E7D7-CC28-F6B2D2F05A83}"/>
              </a:ext>
            </a:extLst>
          </p:cNvPr>
          <p:cNvSpPr txBox="1"/>
          <p:nvPr/>
        </p:nvSpPr>
        <p:spPr>
          <a:xfrm>
            <a:off x="302450" y="1342316"/>
            <a:ext cx="513868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작동 과정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0740C2F9-7A33-5697-3852-4CC9C7440513}"/>
              </a:ext>
            </a:extLst>
          </p:cNvPr>
          <p:cNvSpPr/>
          <p:nvPr/>
        </p:nvSpPr>
        <p:spPr>
          <a:xfrm>
            <a:off x="3486991" y="2209384"/>
            <a:ext cx="4364578" cy="3306300"/>
          </a:xfrm>
          <a:prstGeom prst="roundRect">
            <a:avLst>
              <a:gd name="adj" fmla="val 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데이터 연결과</a:t>
            </a:r>
            <a:endParaRPr lang="en-US" altLang="ko-KR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algn="ctr"/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처리 컴포넌트 흐름</a:t>
            </a:r>
            <a:endParaRPr lang="en-US" altLang="ko-KR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121449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D0A15A-753E-D76E-7EA6-D7EC3C7C40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8CAEF54E-C261-DAEA-E241-FDBE88008C12}"/>
              </a:ext>
            </a:extLst>
          </p:cNvPr>
          <p:cNvSpPr txBox="1"/>
          <p:nvPr/>
        </p:nvSpPr>
        <p:spPr>
          <a:xfrm>
            <a:off x="302451" y="315453"/>
            <a:ext cx="4944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이번 주 작업 내역</a:t>
            </a:r>
            <a:endParaRPr lang="en-US" altLang="ko-KR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2834159-A529-642E-DA72-BC14004E6795}"/>
              </a:ext>
            </a:extLst>
          </p:cNvPr>
          <p:cNvSpPr txBox="1"/>
          <p:nvPr/>
        </p:nvSpPr>
        <p:spPr>
          <a:xfrm>
            <a:off x="302450" y="1003762"/>
            <a:ext cx="269424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지형 타입 추가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DA84CF49-B3AE-55A6-B5C8-1AFB49183522}"/>
              </a:ext>
            </a:extLst>
          </p:cNvPr>
          <p:cNvCxnSpPr>
            <a:cxnSpLocks/>
          </p:cNvCxnSpPr>
          <p:nvPr/>
        </p:nvCxnSpPr>
        <p:spPr>
          <a:xfrm>
            <a:off x="387511" y="818707"/>
            <a:ext cx="1130830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20BE5BF5-965D-78BB-5728-A037B8A2E486}"/>
              </a:ext>
            </a:extLst>
          </p:cNvPr>
          <p:cNvSpPr/>
          <p:nvPr/>
        </p:nvSpPr>
        <p:spPr>
          <a:xfrm>
            <a:off x="10443172" y="118011"/>
            <a:ext cx="1596912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펄어비스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en-US" altLang="ko-KR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2026 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여름 </a:t>
            </a:r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인턴십</a:t>
            </a:r>
            <a:endParaRPr lang="ko-KR" altLang="en-US" sz="1000" dirty="0">
              <a:solidFill>
                <a:schemeClr val="bg1">
                  <a:lumMod val="75000"/>
                </a:schemeClr>
              </a:solidFill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3366076-5195-604B-D474-8C276C9406C6}"/>
              </a:ext>
            </a:extLst>
          </p:cNvPr>
          <p:cNvSpPr txBox="1"/>
          <p:nvPr/>
        </p:nvSpPr>
        <p:spPr>
          <a:xfrm>
            <a:off x="302449" y="1342316"/>
            <a:ext cx="746481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장애물에 돌출부 유형 추가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D3C5630-512F-1962-4801-A817035479B0}"/>
              </a:ext>
            </a:extLst>
          </p:cNvPr>
          <p:cNvSpPr txBox="1"/>
          <p:nvPr/>
        </p:nvSpPr>
        <p:spPr>
          <a:xfrm>
            <a:off x="302449" y="1727036"/>
            <a:ext cx="6520758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 err="1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파쿠르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시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대체로 매끈한 면보다는 돌출된 부분을 이용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 부분을 모사하고자 돌출부 유형을 추가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독립적으로 있진 않고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다른 장애물에 부속으로 추가된 형태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장애물 인식 시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우선해서 인식처리 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-&gt;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인식 과정에서 우선순위 적용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882AF4B5-EDA2-1820-BA45-BE5BEC846ABC}"/>
              </a:ext>
            </a:extLst>
          </p:cNvPr>
          <p:cNvSpPr/>
          <p:nvPr/>
        </p:nvSpPr>
        <p:spPr>
          <a:xfrm>
            <a:off x="1733738" y="3365626"/>
            <a:ext cx="4246075" cy="25768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예시 이미지</a:t>
            </a:r>
            <a:endParaRPr lang="en-US" altLang="ko-KR" dirty="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8CD54640-16D0-6184-2B2B-58AF16D76054}"/>
              </a:ext>
            </a:extLst>
          </p:cNvPr>
          <p:cNvSpPr/>
          <p:nvPr/>
        </p:nvSpPr>
        <p:spPr>
          <a:xfrm>
            <a:off x="6268016" y="3365626"/>
            <a:ext cx="4246075" cy="25768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예시 이미지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51920835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A86296-173C-4AC2-A55F-D30AFCB90C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0887BFEF-E1BD-42E7-5862-15A8B92AD0E2}"/>
              </a:ext>
            </a:extLst>
          </p:cNvPr>
          <p:cNvSpPr txBox="1"/>
          <p:nvPr/>
        </p:nvSpPr>
        <p:spPr>
          <a:xfrm>
            <a:off x="302451" y="315453"/>
            <a:ext cx="4944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이번 주 작업 내역</a:t>
            </a:r>
            <a:endParaRPr lang="en-US" altLang="ko-KR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584577B-DDFD-04C0-8325-711E292A17D8}"/>
              </a:ext>
            </a:extLst>
          </p:cNvPr>
          <p:cNvSpPr txBox="1"/>
          <p:nvPr/>
        </p:nvSpPr>
        <p:spPr>
          <a:xfrm>
            <a:off x="302450" y="1003762"/>
            <a:ext cx="269424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지형 타입 추가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B8A80CFC-DFA8-D9B5-4A33-5D6D856774E9}"/>
              </a:ext>
            </a:extLst>
          </p:cNvPr>
          <p:cNvCxnSpPr>
            <a:cxnSpLocks/>
          </p:cNvCxnSpPr>
          <p:nvPr/>
        </p:nvCxnSpPr>
        <p:spPr>
          <a:xfrm>
            <a:off x="387511" y="818707"/>
            <a:ext cx="1130830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8CE27908-B35F-A041-B2CF-3D7698DCD08E}"/>
              </a:ext>
            </a:extLst>
          </p:cNvPr>
          <p:cNvSpPr/>
          <p:nvPr/>
        </p:nvSpPr>
        <p:spPr>
          <a:xfrm>
            <a:off x="10443172" y="118011"/>
            <a:ext cx="1596912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펄어비스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en-US" altLang="ko-KR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2026 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여름 </a:t>
            </a:r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인턴십</a:t>
            </a:r>
            <a:endParaRPr lang="ko-KR" altLang="en-US" sz="1000" dirty="0">
              <a:solidFill>
                <a:schemeClr val="bg1">
                  <a:lumMod val="75000"/>
                </a:schemeClr>
              </a:solidFill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0689D22-0DA1-7A1E-CECB-EC31F0063E61}"/>
              </a:ext>
            </a:extLst>
          </p:cNvPr>
          <p:cNvSpPr txBox="1"/>
          <p:nvPr/>
        </p:nvSpPr>
        <p:spPr>
          <a:xfrm>
            <a:off x="302449" y="1342316"/>
            <a:ext cx="746481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장애물에 돌출부 유형 추가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82E8436-9881-CBB7-FD72-2A84E303A454}"/>
              </a:ext>
            </a:extLst>
          </p:cNvPr>
          <p:cNvSpPr txBox="1"/>
          <p:nvPr/>
        </p:nvSpPr>
        <p:spPr>
          <a:xfrm>
            <a:off x="302449" y="1727036"/>
            <a:ext cx="6520758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 err="1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파쿠르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시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대체로 매끈한 면보다는 돌출된 부분을 이용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 부분을 모사하고자 돌출부 유형을 추가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독립적으로 있진 않고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다른 장애물에 부속으로 추가된 형태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장애물 인식 시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우선해서 인식처리 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-&gt;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인식 과정에서 우선순위 적용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5CEF6D9A-E641-4C3C-D3A0-1AB138A6686E}"/>
              </a:ext>
            </a:extLst>
          </p:cNvPr>
          <p:cNvSpPr/>
          <p:nvPr/>
        </p:nvSpPr>
        <p:spPr>
          <a:xfrm>
            <a:off x="1333769" y="3429000"/>
            <a:ext cx="4246075" cy="25768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/>
              <a:t>인식 과정 트리</a:t>
            </a:r>
            <a:endParaRPr lang="en-US" altLang="ko-KR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3753B949-0A30-2B30-B95A-A5D6F341C4BC}"/>
              </a:ext>
            </a:extLst>
          </p:cNvPr>
          <p:cNvSpPr/>
          <p:nvPr/>
        </p:nvSpPr>
        <p:spPr>
          <a:xfrm>
            <a:off x="6096000" y="3429000"/>
            <a:ext cx="4246075" cy="25768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/>
              <a:t>처리 조건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3883347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AC5628-6096-007D-4F9A-097D06EAA7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BCBC9F85-F7A3-3F83-1806-6A8A789EB677}"/>
              </a:ext>
            </a:extLst>
          </p:cNvPr>
          <p:cNvSpPr txBox="1"/>
          <p:nvPr/>
        </p:nvSpPr>
        <p:spPr>
          <a:xfrm>
            <a:off x="302451" y="315453"/>
            <a:ext cx="4944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이번 주 작업 내역</a:t>
            </a:r>
            <a:endParaRPr lang="en-US" altLang="ko-KR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D273E2F-7739-7201-81F8-1F5E095D26E7}"/>
              </a:ext>
            </a:extLst>
          </p:cNvPr>
          <p:cNvSpPr txBox="1"/>
          <p:nvPr/>
        </p:nvSpPr>
        <p:spPr>
          <a:xfrm>
            <a:off x="302450" y="1003762"/>
            <a:ext cx="269424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지형 타입 추가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B40C969E-FCF4-2ECC-59EC-50B8643A5B76}"/>
              </a:ext>
            </a:extLst>
          </p:cNvPr>
          <p:cNvCxnSpPr>
            <a:cxnSpLocks/>
          </p:cNvCxnSpPr>
          <p:nvPr/>
        </p:nvCxnSpPr>
        <p:spPr>
          <a:xfrm>
            <a:off x="387511" y="818707"/>
            <a:ext cx="1130830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3A205B8F-1C93-C984-E61E-45A53634FE3C}"/>
              </a:ext>
            </a:extLst>
          </p:cNvPr>
          <p:cNvSpPr/>
          <p:nvPr/>
        </p:nvSpPr>
        <p:spPr>
          <a:xfrm>
            <a:off x="10443172" y="118011"/>
            <a:ext cx="1596912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펄어비스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en-US" altLang="ko-KR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2026 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여름 </a:t>
            </a:r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인턴십</a:t>
            </a:r>
            <a:endParaRPr lang="ko-KR" altLang="en-US" sz="1000" dirty="0">
              <a:solidFill>
                <a:schemeClr val="bg1">
                  <a:lumMod val="75000"/>
                </a:schemeClr>
              </a:solidFill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974F786-0106-0EA4-FB07-6C517269E920}"/>
              </a:ext>
            </a:extLst>
          </p:cNvPr>
          <p:cNvSpPr txBox="1"/>
          <p:nvPr/>
        </p:nvSpPr>
        <p:spPr>
          <a:xfrm>
            <a:off x="302449" y="1342316"/>
            <a:ext cx="746481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장애물에 돌출부 유형 추가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B785176-81DD-7D2E-530B-971CA461B933}"/>
              </a:ext>
            </a:extLst>
          </p:cNvPr>
          <p:cNvSpPr txBox="1"/>
          <p:nvPr/>
        </p:nvSpPr>
        <p:spPr>
          <a:xfrm>
            <a:off x="302449" y="1727036"/>
            <a:ext cx="6520758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 err="1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파쿠르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시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대체로 매끈한 면보다는 돌출된 부분을 이용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 부분을 모사하고자 돌출부 유형을 추가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독립적으로 있진 않고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다른 장애물에 부속으로 추가된 형태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장애물 인식 시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우선해서 인식처리 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-&gt;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인식 과정에서 우선순위 적용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05832E80-A59D-9F14-5DAB-D51BFF4C47A1}"/>
              </a:ext>
            </a:extLst>
          </p:cNvPr>
          <p:cNvSpPr/>
          <p:nvPr/>
        </p:nvSpPr>
        <p:spPr>
          <a:xfrm>
            <a:off x="1333769" y="3429000"/>
            <a:ext cx="4246075" cy="25768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적용 영상 </a:t>
            </a:r>
            <a:r>
              <a:rPr lang="en-US" altLang="ko-KR" dirty="0"/>
              <a:t>1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57E9570B-25D7-061D-8946-9CCEBBC71B1A}"/>
              </a:ext>
            </a:extLst>
          </p:cNvPr>
          <p:cNvSpPr/>
          <p:nvPr/>
        </p:nvSpPr>
        <p:spPr>
          <a:xfrm>
            <a:off x="6096000" y="3429000"/>
            <a:ext cx="4246075" cy="25768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적용 영상 </a:t>
            </a:r>
            <a:r>
              <a:rPr lang="en-US" altLang="ko-KR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9397254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3477D4-BD5D-3DBD-B86A-E637847780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4B3D4C48-C9B6-2723-62D6-3C3423234E28}"/>
              </a:ext>
            </a:extLst>
          </p:cNvPr>
          <p:cNvSpPr txBox="1"/>
          <p:nvPr/>
        </p:nvSpPr>
        <p:spPr>
          <a:xfrm>
            <a:off x="302451" y="315453"/>
            <a:ext cx="4944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이번 주 작업 내역</a:t>
            </a:r>
            <a:endParaRPr lang="en-US" altLang="ko-KR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BE7561B-2601-8964-C60A-A06666E075AB}"/>
              </a:ext>
            </a:extLst>
          </p:cNvPr>
          <p:cNvSpPr txBox="1"/>
          <p:nvPr/>
        </p:nvSpPr>
        <p:spPr>
          <a:xfrm>
            <a:off x="302450" y="1003762"/>
            <a:ext cx="269424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전반적인 테스트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FF4DFF75-B56F-0D06-5F2D-FAA6D843192E}"/>
              </a:ext>
            </a:extLst>
          </p:cNvPr>
          <p:cNvCxnSpPr>
            <a:cxnSpLocks/>
          </p:cNvCxnSpPr>
          <p:nvPr/>
        </p:nvCxnSpPr>
        <p:spPr>
          <a:xfrm>
            <a:off x="387511" y="818707"/>
            <a:ext cx="1130830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0DF710DC-46C3-282A-F05D-2E1E8F2688E5}"/>
              </a:ext>
            </a:extLst>
          </p:cNvPr>
          <p:cNvSpPr/>
          <p:nvPr/>
        </p:nvSpPr>
        <p:spPr>
          <a:xfrm>
            <a:off x="10443172" y="118011"/>
            <a:ext cx="1596912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펄어비스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en-US" altLang="ko-KR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2026 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여름 </a:t>
            </a:r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인턴십</a:t>
            </a:r>
            <a:endParaRPr lang="ko-KR" altLang="en-US" sz="1000" dirty="0">
              <a:solidFill>
                <a:schemeClr val="bg1">
                  <a:lumMod val="75000"/>
                </a:schemeClr>
              </a:solidFill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5AE084B-0F8B-85C4-24B9-65173EE9AF3C}"/>
              </a:ext>
            </a:extLst>
          </p:cNvPr>
          <p:cNvSpPr txBox="1"/>
          <p:nvPr/>
        </p:nvSpPr>
        <p:spPr>
          <a:xfrm>
            <a:off x="302449" y="1342316"/>
            <a:ext cx="746481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유형 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1.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단순 절벽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55148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2E2D3C-D67E-389C-8B5D-2E66EC8AE8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890A0E75-A5AA-F7AB-A801-B2F2FF950B0E}"/>
              </a:ext>
            </a:extLst>
          </p:cNvPr>
          <p:cNvSpPr txBox="1"/>
          <p:nvPr/>
        </p:nvSpPr>
        <p:spPr>
          <a:xfrm>
            <a:off x="302451" y="315453"/>
            <a:ext cx="4944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이번 주 작업 내역</a:t>
            </a:r>
            <a:endParaRPr lang="en-US" altLang="ko-KR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F587D1D-A0BD-C302-295B-E7751EB032EF}"/>
              </a:ext>
            </a:extLst>
          </p:cNvPr>
          <p:cNvSpPr txBox="1"/>
          <p:nvPr/>
        </p:nvSpPr>
        <p:spPr>
          <a:xfrm>
            <a:off x="302450" y="1003762"/>
            <a:ext cx="269424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전반적인 테스트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7117F9F2-0758-5878-BE9B-248BB92DF383}"/>
              </a:ext>
            </a:extLst>
          </p:cNvPr>
          <p:cNvCxnSpPr>
            <a:cxnSpLocks/>
          </p:cNvCxnSpPr>
          <p:nvPr/>
        </p:nvCxnSpPr>
        <p:spPr>
          <a:xfrm>
            <a:off x="387511" y="818707"/>
            <a:ext cx="1130830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A601187-C0A6-B0D1-82CA-2DBC6FD5DB1E}"/>
              </a:ext>
            </a:extLst>
          </p:cNvPr>
          <p:cNvSpPr/>
          <p:nvPr/>
        </p:nvSpPr>
        <p:spPr>
          <a:xfrm>
            <a:off x="10443172" y="118011"/>
            <a:ext cx="1596912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펄어비스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en-US" altLang="ko-KR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2026 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여름 </a:t>
            </a:r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인턴십</a:t>
            </a:r>
            <a:endParaRPr lang="ko-KR" altLang="en-US" sz="1000" dirty="0">
              <a:solidFill>
                <a:schemeClr val="bg1">
                  <a:lumMod val="75000"/>
                </a:schemeClr>
              </a:solidFill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EB78774-6333-8AD0-E6D1-CAB9471C443D}"/>
              </a:ext>
            </a:extLst>
          </p:cNvPr>
          <p:cNvSpPr txBox="1"/>
          <p:nvPr/>
        </p:nvSpPr>
        <p:spPr>
          <a:xfrm>
            <a:off x="302449" y="1342316"/>
            <a:ext cx="746481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유형 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2.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옥상에서 장애물 처리 및 낙하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3545980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CD7694-15C9-2B5F-2454-CCD6068E8F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4AEECA0C-9A32-F3E5-E975-1FDB1339F910}"/>
              </a:ext>
            </a:extLst>
          </p:cNvPr>
          <p:cNvSpPr txBox="1"/>
          <p:nvPr/>
        </p:nvSpPr>
        <p:spPr>
          <a:xfrm>
            <a:off x="302451" y="315453"/>
            <a:ext cx="4944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이번 주 작업 내역</a:t>
            </a:r>
            <a:endParaRPr lang="en-US" altLang="ko-KR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C94AD87-D564-2675-2F05-8F123D604850}"/>
              </a:ext>
            </a:extLst>
          </p:cNvPr>
          <p:cNvSpPr txBox="1"/>
          <p:nvPr/>
        </p:nvSpPr>
        <p:spPr>
          <a:xfrm>
            <a:off x="302450" y="1003762"/>
            <a:ext cx="269424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전반적인 테스트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AEC0AE64-6745-F3AF-9F4D-3B0CF04F6912}"/>
              </a:ext>
            </a:extLst>
          </p:cNvPr>
          <p:cNvCxnSpPr>
            <a:cxnSpLocks/>
          </p:cNvCxnSpPr>
          <p:nvPr/>
        </p:nvCxnSpPr>
        <p:spPr>
          <a:xfrm>
            <a:off x="387511" y="818707"/>
            <a:ext cx="1130830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02400626-BD59-190A-81E2-83D54499C5F9}"/>
              </a:ext>
            </a:extLst>
          </p:cNvPr>
          <p:cNvSpPr/>
          <p:nvPr/>
        </p:nvSpPr>
        <p:spPr>
          <a:xfrm>
            <a:off x="10443172" y="118011"/>
            <a:ext cx="1596912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펄어비스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en-US" altLang="ko-KR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2026 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여름 </a:t>
            </a:r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인턴십</a:t>
            </a:r>
            <a:endParaRPr lang="ko-KR" altLang="en-US" sz="1000" dirty="0">
              <a:solidFill>
                <a:schemeClr val="bg1">
                  <a:lumMod val="75000"/>
                </a:schemeClr>
              </a:solidFill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1CE754C-ED0F-6AE7-84F9-D34590444436}"/>
              </a:ext>
            </a:extLst>
          </p:cNvPr>
          <p:cNvSpPr txBox="1"/>
          <p:nvPr/>
        </p:nvSpPr>
        <p:spPr>
          <a:xfrm>
            <a:off x="302449" y="1342316"/>
            <a:ext cx="746481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유형 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3.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공중에서 타 장애물 캐치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7876707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DA7EAA-204E-2F90-E52A-6C83B90130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4715F932-2F2C-4A3F-7F16-1B13D352985A}"/>
              </a:ext>
            </a:extLst>
          </p:cNvPr>
          <p:cNvSpPr txBox="1"/>
          <p:nvPr/>
        </p:nvSpPr>
        <p:spPr>
          <a:xfrm>
            <a:off x="354702" y="315453"/>
            <a:ext cx="4944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진행 계획</a:t>
            </a:r>
            <a:r>
              <a:rPr lang="en-US" altLang="ko-KR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(</a:t>
            </a:r>
            <a:r>
              <a:rPr lang="ko-KR" altLang="en-US" dirty="0" err="1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주차별</a:t>
            </a:r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목표</a:t>
            </a:r>
            <a:r>
              <a:rPr lang="en-US" altLang="ko-KR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)</a:t>
            </a:r>
          </a:p>
        </p:txBody>
      </p:sp>
      <p:graphicFrame>
        <p:nvGraphicFramePr>
          <p:cNvPr id="2" name="표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88274248"/>
              </p:ext>
            </p:extLst>
          </p:nvPr>
        </p:nvGraphicFramePr>
        <p:xfrm>
          <a:off x="420856" y="870858"/>
          <a:ext cx="11318860" cy="5629414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7914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0728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201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7281"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b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작업 목표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b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작업 세부 내용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79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1</a:t>
                      </a:r>
                      <a:endParaRPr lang="ko-KR" altLang="en-US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미니엔진 구조 파악 및 기반 클래스</a:t>
                      </a:r>
                      <a:r>
                        <a:rPr lang="ko-KR" altLang="en-US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구성</a:t>
                      </a:r>
                      <a:endParaRPr lang="en-US" altLang="ko-KR" sz="1400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latinLnBrk="1">
                        <a:buFontTx/>
                        <a:buNone/>
                      </a:pP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미니엔진 파악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게임 기반 클래스 작성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b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</a:br>
                      <a:r>
                        <a:rPr lang="en-US" altLang="ko-KR" sz="1400" strike="sngStrike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fbx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파일 </a:t>
                      </a:r>
                      <a:r>
                        <a:rPr lang="ko-KR" altLang="en-US" sz="1400" strike="sngStrike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파싱</a:t>
                      </a:r>
                      <a:r>
                        <a:rPr lang="en-US" altLang="ko-KR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렌더링</a:t>
                      </a:r>
                      <a:r>
                        <a:rPr lang="en-US" altLang="ko-KR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애니메이션 재생</a:t>
                      </a:r>
                      <a:endParaRPr lang="ko-KR" altLang="en-US" sz="1400" strike="sngStrike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79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2</a:t>
                      </a:r>
                      <a:endParaRPr lang="ko-KR" altLang="en-US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애니메이션 시스템</a:t>
                      </a:r>
                      <a:r>
                        <a:rPr lang="en-US" altLang="ko-KR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물리엔진 적용</a:t>
                      </a:r>
                      <a:r>
                        <a:rPr lang="en-US" altLang="ko-KR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</a:t>
                      </a:r>
                    </a:p>
                    <a:p>
                      <a:pPr latinLnBrk="1"/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입력 바인딩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캐릭터 애니메이션 </a:t>
                      </a:r>
                      <a:r>
                        <a:rPr lang="ko-KR" altLang="en-US" sz="1400" strike="sngStrike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블렌드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애니메이션 </a:t>
                      </a:r>
                      <a:r>
                        <a:rPr lang="ko-KR" altLang="en-US" sz="1400" strike="sngStrike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상태머신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</a:t>
                      </a:r>
                    </a:p>
                    <a:p>
                      <a:pPr latinLnBrk="1"/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물리엔진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(PhysX) 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적용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캐릭터 입력 바인딩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캐릭터 </a:t>
                      </a:r>
                      <a:r>
                        <a:rPr lang="ko-KR" altLang="en-US" sz="1400" strike="sngStrike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로코모션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적용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루트 모션 적용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79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3</a:t>
                      </a:r>
                      <a:endParaRPr lang="ko-KR" altLang="en-US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캐릭터</a:t>
                      </a:r>
                      <a:r>
                        <a:rPr lang="en-US" altLang="ko-KR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</a:t>
                      </a:r>
                      <a:r>
                        <a:rPr lang="ko-KR" altLang="en-US" sz="140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파쿠르</a:t>
                      </a: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애니메이션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장애물 높이 인식</a:t>
                      </a:r>
                      <a:r>
                        <a:rPr lang="en-US" altLang="ko-KR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인식한 장애물에 대한 </a:t>
                      </a:r>
                      <a:r>
                        <a:rPr lang="ko-KR" altLang="en-US" sz="1400" strike="sngStrike" baseline="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파쿠르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애니메이션 선택</a:t>
                      </a:r>
                      <a:r>
                        <a:rPr lang="en-US" altLang="ko-KR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및 출력</a:t>
                      </a:r>
                      <a:r>
                        <a:rPr lang="en-US" altLang="ko-KR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</a:t>
                      </a:r>
                      <a:br>
                        <a:rPr lang="en-US" altLang="ko-KR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</a:br>
                      <a:r>
                        <a:rPr lang="en-US" altLang="ko-KR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</a:t>
                      </a:r>
                      <a:r>
                        <a:rPr lang="ko-KR" altLang="en-US" sz="1400" strike="sngStrike" baseline="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파쿠르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애니메이션 위치에 따른 보정</a:t>
                      </a:r>
                      <a:endParaRPr lang="ko-KR" altLang="en-US" sz="1400" strike="sngStrike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279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4</a:t>
                      </a:r>
                      <a:endParaRPr lang="ko-KR" altLang="en-US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복잡한 지형 애니메이션 처리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벽면 중간에 지붕</a:t>
                      </a:r>
                      <a:r>
                        <a:rPr lang="en-US" altLang="ko-KR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경사로</a:t>
                      </a:r>
                      <a:r>
                        <a:rPr lang="en-US" altLang="ko-KR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철봉 나열된 환경 </a:t>
                      </a:r>
                      <a:r>
                        <a:rPr lang="ko-KR" altLang="en-US" sz="1400" strike="sngStrike" baseline="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파쿠르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애니메이션 처리</a:t>
                      </a:r>
                      <a:endParaRPr lang="en-US" altLang="ko-KR" sz="1400" strike="sngStrike" baseline="0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직각으로 만나는 벽면 간 이동 처리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벽면에 뻗어 나온 줄</a:t>
                      </a:r>
                      <a:r>
                        <a:rPr lang="ko-KR" altLang="en-US" sz="1400" strike="no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또는 기둥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환경 </a:t>
                      </a:r>
                      <a:r>
                        <a:rPr lang="ko-KR" altLang="en-US" sz="1400" strike="sngStrike" baseline="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파쿠르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애니메이션 처리</a:t>
                      </a:r>
                      <a:endParaRPr lang="ko-KR" altLang="en-US" sz="1400" strike="sngStrike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279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5</a:t>
                      </a:r>
                      <a:endParaRPr lang="ko-KR" altLang="en-US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파쿠르</a:t>
                      </a: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시스템 보완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미흡사항 보완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애니메이션 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IK 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적용 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(</a:t>
                      </a:r>
                      <a:r>
                        <a:rPr lang="ko-KR" altLang="en-US" sz="1400" strike="noStrike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파쿠르</a:t>
                      </a:r>
                      <a:r>
                        <a:rPr lang="ko-KR" altLang="en-US" sz="1400" strike="no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시</a:t>
                      </a:r>
                      <a:r>
                        <a:rPr lang="en-US" altLang="ko-KR" sz="1400" strike="no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</a:t>
                      </a:r>
                      <a:r>
                        <a:rPr lang="ko-KR" altLang="en-US" sz="1400" strike="no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디테일한 보정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),</a:t>
                      </a:r>
                    </a:p>
                    <a:p>
                      <a:pPr latinLnBrk="1"/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데이터화 작업 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(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애니메이션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지형 인식 트리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)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279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6</a:t>
                      </a:r>
                      <a:endParaRPr lang="ko-KR" altLang="en-US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파쿠르</a:t>
                      </a: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시스템 보완 </a:t>
                      </a:r>
                      <a:r>
                        <a:rPr lang="en-US" altLang="ko-KR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(</a:t>
                      </a:r>
                      <a:r>
                        <a:rPr lang="ko-KR" altLang="en-US" sz="140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폴리싱</a:t>
                      </a:r>
                      <a:r>
                        <a:rPr lang="en-US" altLang="ko-KR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)</a:t>
                      </a:r>
                      <a:endParaRPr lang="ko-KR" altLang="en-US" sz="1400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strike="no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IK</a:t>
                      </a:r>
                      <a:r>
                        <a:rPr lang="en-US" altLang="ko-KR" sz="1400" strike="no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</a:t>
                      </a:r>
                      <a:r>
                        <a:rPr lang="ko-KR" altLang="en-US" sz="1400" strike="no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적용 디테일 보정 작업</a:t>
                      </a:r>
                      <a:r>
                        <a:rPr lang="en-US" altLang="ko-KR" sz="1400" strike="no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no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지형 높이 및 깊이 인식 </a:t>
                      </a:r>
                      <a:r>
                        <a:rPr lang="ko-KR" altLang="en-US" sz="1400" strike="noStrike" baseline="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경계값</a:t>
                      </a:r>
                      <a:r>
                        <a:rPr lang="ko-KR" altLang="en-US" sz="1400" strike="no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처리</a:t>
                      </a:r>
                      <a:r>
                        <a:rPr lang="en-US" altLang="ko-KR" sz="1400" strike="no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br>
                        <a:rPr lang="en-US" altLang="ko-KR" sz="1400" strike="no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</a:br>
                      <a:r>
                        <a:rPr lang="ko-KR" altLang="en-US" sz="1400" strike="no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테스트 및 버그 수정</a:t>
                      </a:r>
                      <a:endParaRPr lang="ko-KR" altLang="en-US" sz="1400" strike="noStrike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9928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7</a:t>
                      </a:r>
                      <a:endParaRPr lang="ko-KR" altLang="en-US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strike="no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복잡한 지형 유형 추가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strike="no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추가적으로 복잡한 지형 추가</a:t>
                      </a:r>
                      <a:r>
                        <a:rPr lang="en-US" altLang="ko-KR" sz="1400" strike="no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no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지형 처리 데이터 추가</a:t>
                      </a:r>
                      <a:r>
                        <a:rPr lang="en-US" altLang="ko-KR" sz="1400" strike="no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1154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8</a:t>
                      </a:r>
                      <a:endParaRPr lang="ko-KR" altLang="en-US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마무리 및 보완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코드 정리</a:t>
                      </a:r>
                      <a:r>
                        <a:rPr lang="en-US" altLang="ko-KR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미흡 작업 마무리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4" name="직사각형 3"/>
          <p:cNvSpPr/>
          <p:nvPr/>
        </p:nvSpPr>
        <p:spPr>
          <a:xfrm>
            <a:off x="10443172" y="118011"/>
            <a:ext cx="1596912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펄어비스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en-US" altLang="ko-KR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2026 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여름 </a:t>
            </a:r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인턴십</a:t>
            </a:r>
            <a:endParaRPr lang="ko-KR" altLang="en-US" sz="1000" dirty="0">
              <a:solidFill>
                <a:schemeClr val="bg1">
                  <a:lumMod val="75000"/>
                </a:schemeClr>
              </a:solidFill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568044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1141</TotalTime>
  <Words>730</Words>
  <Application>Microsoft Office PowerPoint</Application>
  <PresentationFormat>와이드스크린</PresentationFormat>
  <Paragraphs>146</Paragraphs>
  <Slides>14</Slides>
  <Notes>13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14</vt:i4>
      </vt:variant>
    </vt:vector>
  </HeadingPairs>
  <TitlesOfParts>
    <vt:vector size="18" baseType="lpstr">
      <vt:lpstr>Arial</vt:lpstr>
      <vt:lpstr>나눔바른고딕</vt:lpstr>
      <vt:lpstr>맑은 고딕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김정환</dc:creator>
  <cp:lastModifiedBy>김정환</cp:lastModifiedBy>
  <cp:revision>1308</cp:revision>
  <dcterms:created xsi:type="dcterms:W3CDTF">2026-07-02T09:06:49Z</dcterms:created>
  <dcterms:modified xsi:type="dcterms:W3CDTF">2026-08-06T09:56:52Z</dcterms:modified>
</cp:coreProperties>
</file>