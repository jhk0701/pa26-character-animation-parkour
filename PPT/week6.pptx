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62" r:id="rId2"/>
    <p:sldId id="278" r:id="rId3"/>
    <p:sldId id="280" r:id="rId4"/>
    <p:sldId id="290" r:id="rId5"/>
    <p:sldId id="281" r:id="rId6"/>
    <p:sldId id="282" r:id="rId7"/>
    <p:sldId id="284" r:id="rId8"/>
    <p:sldId id="279" r:id="rId9"/>
    <p:sldId id="286" r:id="rId10"/>
    <p:sldId id="287" r:id="rId11"/>
    <p:sldId id="288" r:id="rId12"/>
    <p:sldId id="289" r:id="rId13"/>
    <p:sldId id="291" r:id="rId14"/>
    <p:sldId id="265" r:id="rId15"/>
  </p:sldIdLst>
  <p:sldSz cx="12192000" cy="6858000"/>
  <p:notesSz cx="6858000" cy="9144000"/>
  <p:embeddedFontLst>
    <p:embeddedFont>
      <p:font typeface="나눔바른고딕" panose="020B0603020101020101" pitchFamily="50" charset="-127"/>
      <p:regular r:id="rId17"/>
      <p:bold r:id="rId18"/>
    </p:embeddedFont>
    <p:embeddedFont>
      <p:font typeface="맑은 고딕" panose="020B0503020000020004" pitchFamily="50" charset="-127"/>
      <p:regular r:id="rId19"/>
      <p:bold r:id="rId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12" autoAdjust="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A7D5B-B91B-48D9-9BBD-A861B53BECFD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6232B-CCFA-4887-B271-B9E43E2735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61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007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8960-BC67-841A-1008-8ED7410D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2A7C5-4DBD-6DA0-D4C4-9F1581454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DC0F1D-EE0C-3681-61B0-1DEA4C2B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2BD183-004B-E054-798A-87423BE1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762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38960-BC67-841A-1008-8ED7410D5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A2A7C5-4DBD-6DA0-D4C4-9F1581454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DC0F1D-EE0C-3681-61B0-1DEA4C2B6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2BD183-004B-E054-798A-87423BE1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798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8A9F5-7FAD-EA63-4B9A-5846B7E2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02E732-321E-64DE-26A7-11C0FFAC9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14D46E-19A2-3FE0-BD28-64F8E1AA2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E4F259-EAD0-3E0A-4FEE-2017021977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128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F1E15-50B0-7CD5-5CD9-AF1426060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5E0A1A-0F25-DCCA-903B-AF336B347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C4E44-1823-534F-C317-628BA12DF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98966-BE35-B09B-403B-482EAD85F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382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0BDA-805E-3810-7AC0-6461A3B0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6C3313-1968-467F-E98C-5C86AAD5D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C7B1B1-2165-67D8-CD12-9DB8174DA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E81CD0-9089-C7DA-75CD-CA965606E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704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81C7-E434-47DB-6ACF-69FCF793A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29801-CBD4-2FA8-2EA2-88B9857B6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474EC-565F-6D80-B904-9D4B86842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390A5-EAE6-1386-7936-D6AF28666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996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DADBC-6CCF-EA69-5FBA-13CF2A01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CCC5F-F401-9A94-2426-2B481E6D9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47BFC0-7061-2FD7-CC0E-5E10DDF4D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8764C0-AB41-E0B8-5881-76F2E6C70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799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0ECA6-11FC-1DB9-A06D-63BBB0A7C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41A8E8-300D-2CD2-F859-3730FEB50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E2D11D-E2A8-65CA-3163-987BE0049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F4815-000D-BD80-CD19-2FA5D55D5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3206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3B39-8894-5F9A-934E-FCF5B21FE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F1F109-881F-1045-0558-BD4713E8A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B3D547-C55C-7D84-2362-21E153F0B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ED412-6A91-4910-2C5B-30D9A592C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652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35D4-0EB2-D96E-FEC2-15DE35D2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637B56-09F8-D88B-57B1-AA984EE2B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85C1FD-EB20-045C-494E-90A4493EC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6638F2-87D8-5072-51A8-E438416CD8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989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A5D9E-EBF8-7EDE-6DBD-41065675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D97346-6882-4C4C-3437-6691BE651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0B543C-D5ED-4598-665B-0CA9AED8B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F41674-6522-414D-3636-8C77D0DE0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06232B-CCFA-4887-B271-B9E43E27353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53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목표 영상 </a:t>
            </a:r>
            <a:r>
              <a:rPr lang="en-US" altLang="ko-KR" dirty="0"/>
              <a:t>: </a:t>
            </a:r>
          </a:p>
          <a:p>
            <a:pPr marL="228600" indent="-228600">
              <a:buAutoNum type="arabicPeriod"/>
            </a:pPr>
            <a:r>
              <a:rPr lang="ko-KR" altLang="en-US" dirty="0" err="1"/>
              <a:t>어쌔신크리드</a:t>
            </a:r>
            <a:r>
              <a:rPr lang="ko-KR" altLang="en-US" dirty="0"/>
              <a:t> </a:t>
            </a:r>
            <a:r>
              <a:rPr lang="ko-KR" altLang="en-US" dirty="0" err="1"/>
              <a:t>파쿠르</a:t>
            </a:r>
            <a:r>
              <a:rPr lang="ko-KR" altLang="en-US" dirty="0"/>
              <a:t> 액션 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https://www.youtube.com/shorts/DgF8jxONRSM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https://www.youtube.com/shorts/bMgaW5dvLzk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https://www.youtube.com/watch?v=1vhC870Phb0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https://www.youtube.com/shorts/AZEMIHgBK1E</a:t>
            </a:r>
          </a:p>
          <a:p>
            <a:pPr marL="228600" lvl="0" indent="-228600">
              <a:buAutoNum type="arabicPeriod"/>
            </a:pPr>
            <a:r>
              <a:rPr lang="ko-KR" altLang="en-US" dirty="0" err="1"/>
              <a:t>툼레이더</a:t>
            </a:r>
            <a:endParaRPr lang="en-US" altLang="ko-KR" dirty="0"/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https://www.youtube.com/watch?v=reqY7n8hdSg</a:t>
            </a:r>
          </a:p>
          <a:p>
            <a:pPr marL="685800" lvl="1" indent="-228600">
              <a:buAutoNum type="arabicPeriod"/>
            </a:pPr>
            <a:r>
              <a:rPr lang="en-US" altLang="ko-KR" dirty="0"/>
              <a:t>https://www.youtube.com/shorts/PLTIvSb6AxM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3AB99-662C-46EC-B86C-F2E227D3EFA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8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6A88D-EDAF-CEC2-712F-FA6A7E4FF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7A10E8-4E5D-A611-E577-EBA5676A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4EF1CD-FA03-944B-0EC0-2AABE3B0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1904F-F41F-7809-481D-7E79FCD2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C721DE-9DEE-BACB-B354-8E260F43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6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5793F-94FE-56B0-E0CB-A317DA7F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AF79B8-2AD1-69C6-D4D5-21827C680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18AF63-4F49-82B6-24FC-BB457FC9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5FF19-25D7-1FF3-E311-2C2E07B2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3D8BF-52A4-97EB-612B-F9899664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8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5909-78E9-5BAC-68EA-7DCA2A1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B98DAF-2A47-3ECD-807C-96FB70CF9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D9670-C268-56FC-281A-FE1F5954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46F37-FE38-E38E-7339-DC6E4EFA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17C39B-6348-28CC-59AF-B1A65BE2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82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EFA0F-10D7-865F-1370-4EA34C78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8CDB5-9D2B-5F68-9DD8-ED20454B1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0EB1B7-8EDE-2794-EA53-E0C1972FA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FBCFA4-CF51-706E-F9F0-8B66CA1A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56636A-469F-7FE9-480E-955BCC0E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971D272-167D-EE36-E685-CD8BFE8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43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7230E-A2F3-4027-B6F6-9C5C289B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85356-7419-AD93-377A-8D9A0293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36E6CA-94A6-3223-C91A-F6E9648C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DFD790-787A-88A3-300F-C173DAD2E1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2AE83D-2990-A6E4-CC9C-06D342A67C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11F8C3-5AD3-730B-8ADB-304185DA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36ABA7-53C4-C11E-CC9D-F5E59BDB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29E145-D4AE-F9FB-A218-47B323C4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41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855E6-5AD7-B657-346A-38D87715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052B06-09E1-1CD0-A032-AEB30F6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691A-8582-987D-DF06-E6D8B618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997ACE-7D00-7B35-1F16-F56C5450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3D88F-9D50-1761-731E-68DD1FC6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793086-842E-7906-6019-4284A9E4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4FE3DE-7F26-4352-74EE-A720C7AF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622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B6F63-D5C7-EB4A-A651-8DA5561A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00FB2D-0CF3-1A3C-E704-F8CA96C2D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C3C47D-E633-BB5D-0FA3-41A5E3C28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3DA118-0D2F-73A1-6311-85E95462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46749A-348F-886F-32BD-A562F1A2A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22D09-FBE9-294C-014E-9A808723A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40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0C132-3A30-7E9C-0BBB-1CD1A789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31776A-D32D-34F5-8A99-A26F4F65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500BF3-C366-20F6-6257-8233A0794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1C119C-B590-D055-6B10-AAE861F0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64F92-4550-973E-464E-89CA3E7E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8384D1-792D-8EA8-718E-F756CEE6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4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E50E-2954-B290-1563-C4936B9E8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6A99E4-1414-E268-7B72-A4C896708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BB3C2-1FA4-4151-9ADB-996284F1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27C81A-BE4E-27CE-6CE4-0AE5876D4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E3C814-C417-2E3F-F02B-1B9ED694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57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D687F-54E9-57A3-FDA2-5A8060E79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846A14-940B-8FE8-A769-3DABAE11A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3732A3-4427-5A76-3A9C-DBE87A43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A5B672-F383-0FF5-2D72-72E1E7F0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8928A-9906-D889-A8B7-B97D729C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91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C0570-6E75-D8C0-582D-3A44896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ADFDDF-DF3C-19FA-0ED8-5D640C08D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9AC677-7913-29B2-30F7-969771FA5D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A429-5607-4C3C-9BC0-4142A9E07459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6836E4-21B2-245A-8933-7F64F64AC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D0B4E-8F0D-F1B8-2A71-9862FC974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746D1-A81D-47BF-84BA-CB580D154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7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1960" y="2959688"/>
            <a:ext cx="74178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캐릭터 애니메이션 </a:t>
            </a:r>
            <a:r>
              <a:rPr lang="ko-KR" altLang="en-US" sz="24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시스템 </a:t>
            </a:r>
            <a:r>
              <a:rPr lang="en-US" altLang="ko-KR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6</a:t>
            </a:r>
            <a:r>
              <a:rPr lang="ko-KR" altLang="en-US" sz="24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</a:t>
            </a:r>
            <a:endParaRPr lang="en-US" altLang="ko-KR" sz="24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31960" y="3421353"/>
            <a:ext cx="1358064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발표자 </a:t>
            </a:r>
            <a:r>
              <a:rPr lang="en-US" altLang="ko-KR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5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김정환</a:t>
            </a:r>
          </a:p>
        </p:txBody>
      </p:sp>
    </p:spTree>
    <p:extLst>
      <p:ext uri="{BB962C8B-B14F-4D97-AF65-F5344CB8AC3E}">
        <p14:creationId xmlns:p14="http://schemas.microsoft.com/office/powerpoint/2010/main" val="345922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01093AF-254C-83D7-8032-465A5FB513F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38815-CBEF-E37B-5659-B5091F86B485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주요 작업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6FFFECF-4B1C-95DF-32C3-2D2F19BEDAFB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3BDF7-0C17-3E65-3F95-62AEFEB0CD86}"/>
              </a:ext>
            </a:extLst>
          </p:cNvPr>
          <p:cNvSpPr txBox="1"/>
          <p:nvPr/>
        </p:nvSpPr>
        <p:spPr>
          <a:xfrm>
            <a:off x="302450" y="1342316"/>
            <a:ext cx="5138684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테스트 및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폴리싱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작업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46B86B-2A5E-39F7-A0B5-6BB8D1D20358}"/>
              </a:ext>
            </a:extLst>
          </p:cNvPr>
          <p:cNvSpPr/>
          <p:nvPr/>
        </p:nvSpPr>
        <p:spPr>
          <a:xfrm>
            <a:off x="1012462" y="2342408"/>
            <a:ext cx="10058399" cy="41134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/>
                </a:solidFill>
              </a:rPr>
              <a:t>결과 영상</a:t>
            </a:r>
            <a:endParaRPr lang="en-US" altLang="ko-KR" dirty="0">
              <a:solidFill>
                <a:schemeClr val="accent1"/>
              </a:solidFill>
            </a:endParaRPr>
          </a:p>
          <a:p>
            <a:pPr algn="ctr"/>
            <a:r>
              <a:rPr lang="en-US" altLang="ko-KR" dirty="0">
                <a:solidFill>
                  <a:schemeClr val="accent1"/>
                </a:solidFill>
              </a:rPr>
              <a:t>1m~2m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903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567D0-8D8D-4F82-AAD7-B0FF119C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D3BE4B7-8FB9-BCBD-26FD-F0EEE04C1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905560"/>
            <a:ext cx="3971026" cy="3257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448F56-014E-4B94-FB44-E56AECD3FEB6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6BC8B-3E9C-4B1A-E79B-6ACB06F238D1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5FDA88-AB34-8322-EAD0-B9E3833A2962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848D8-1587-C15E-4275-1CAD486BF1EB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EBD0C-7AD4-F15A-16EF-C7AFB68FB270}"/>
              </a:ext>
            </a:extLst>
          </p:cNvPr>
          <p:cNvSpPr txBox="1"/>
          <p:nvPr/>
        </p:nvSpPr>
        <p:spPr>
          <a:xfrm>
            <a:off x="302450" y="1342316"/>
            <a:ext cx="5138684" cy="1088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지난 주 지형 인식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처리 결과 분리 후속 작업 진행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데이터 작업 대상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트리 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 처리 조건과 출력할 모션 정보 </a:t>
            </a:r>
            <a:r>
              <a:rPr lang="ko-KR" altLang="en-US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매칭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9C16A-35D2-48AD-4061-2C115EAF7976}"/>
              </a:ext>
            </a:extLst>
          </p:cNvPr>
          <p:cNvSpPr txBox="1"/>
          <p:nvPr/>
        </p:nvSpPr>
        <p:spPr>
          <a:xfrm>
            <a:off x="302449" y="2833970"/>
            <a:ext cx="5138686" cy="1504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문제점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과정을 트리 구조로 처리 </a:t>
            </a:r>
            <a:b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결과는 무수히 많아질 수 있는데 이걸 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FSM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으로 처리하고 있는 상황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처리해야 할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</a:t>
            </a:r>
            <a:r>
              <a:rPr lang="en-US" altLang="ko-KR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상황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들은 많은데 </a:t>
            </a:r>
            <a:b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이것들을 </a:t>
            </a:r>
            <a:r>
              <a:rPr lang="ko-KR" altLang="en-US" sz="1000" b="1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일일히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FSM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에서 코드로 처리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하는 것은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비효율적</a:t>
            </a:r>
            <a:endParaRPr lang="en-US" altLang="ko-KR" sz="10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처리 속도 문제 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+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휴먼 에러 문제 발생 가능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7" name="아래쪽 화살표 6"/>
          <p:cNvSpPr/>
          <p:nvPr/>
        </p:nvSpPr>
        <p:spPr>
          <a:xfrm>
            <a:off x="7919280" y="3829527"/>
            <a:ext cx="419624" cy="4503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2DA1719-56E2-86E6-A805-CC85E5BEA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20" y="4481753"/>
            <a:ext cx="6667105" cy="2135557"/>
          </a:xfrm>
          <a:prstGeom prst="rect">
            <a:avLst/>
          </a:prstGeom>
        </p:spPr>
      </p:pic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84B039F6-83D8-5E28-8B23-2A0C00FD608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0000351" y="2534498"/>
            <a:ext cx="554049" cy="21994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171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567D0-8D8D-4F82-AAD7-B0FF119C0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448F56-014E-4B94-FB44-E56AECD3FEB6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6BC8B-3E9C-4B1A-E79B-6ACB06F238D1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25FDA88-AB34-8322-EAD0-B9E3833A2962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848D8-1587-C15E-4275-1CAD486BF1EB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16" y="3161806"/>
            <a:ext cx="4346545" cy="2871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4EBD0C-7AD4-F15A-16EF-C7AFB68FB270}"/>
              </a:ext>
            </a:extLst>
          </p:cNvPr>
          <p:cNvSpPr txBox="1"/>
          <p:nvPr/>
        </p:nvSpPr>
        <p:spPr>
          <a:xfrm>
            <a:off x="2527905" y="2176077"/>
            <a:ext cx="185981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1.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단계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측정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EBD0C-7AD4-F15A-16EF-C7AFB68FB270}"/>
              </a:ext>
            </a:extLst>
          </p:cNvPr>
          <p:cNvSpPr txBox="1"/>
          <p:nvPr/>
        </p:nvSpPr>
        <p:spPr>
          <a:xfrm>
            <a:off x="7039361" y="2176077"/>
            <a:ext cx="2817887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2.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 처리 단계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: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측정 결과 활용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 맞는 </a:t>
            </a:r>
            <a:r>
              <a:rPr lang="ko-KR" altLang="en-US" sz="12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모션 찾기</a:t>
            </a:r>
            <a:endParaRPr lang="en-US" altLang="ko-KR" sz="12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538" y="2933248"/>
            <a:ext cx="4845532" cy="3348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8CCFE6E-0F8B-0AFD-783E-1814D9C177FA}"/>
              </a:ext>
            </a:extLst>
          </p:cNvPr>
          <p:cNvSpPr txBox="1"/>
          <p:nvPr/>
        </p:nvSpPr>
        <p:spPr>
          <a:xfrm>
            <a:off x="302449" y="1342316"/>
            <a:ext cx="6822627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해결 방법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처리 결과를 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FSM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으로 하지 않고 마찬가지로 추가하기 용이한 방법으로 데이터화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479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9640-3534-B328-F19D-483A4CB1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A3C1A3-4416-EBEB-03C5-ADA3B9DDFD9F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80500D-53D9-B8BE-35B6-A5F3FD71B9BB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337E7D7-473D-730B-07F1-97FF6521A5E0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3FCCC0-FB7B-8632-1ACD-EB0F3BD1468A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F1401-017B-8423-172E-E3F163EFB8EB}"/>
              </a:ext>
            </a:extLst>
          </p:cNvPr>
          <p:cNvSpPr txBox="1"/>
          <p:nvPr/>
        </p:nvSpPr>
        <p:spPr>
          <a:xfrm>
            <a:off x="302450" y="1342316"/>
            <a:ext cx="5138684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트리의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데이터화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주요 상태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변수 등을 이용하여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 동작 처리</a:t>
            </a:r>
            <a:endParaRPr lang="en-US" altLang="ko-KR" sz="10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6DA15CE-5F24-FFF6-A074-18E1A83481E6}"/>
              </a:ext>
            </a:extLst>
          </p:cNvPr>
          <p:cNvGrpSpPr/>
          <p:nvPr/>
        </p:nvGrpSpPr>
        <p:grpSpPr>
          <a:xfrm>
            <a:off x="7971964" y="1480815"/>
            <a:ext cx="3517030" cy="5044698"/>
            <a:chOff x="7535008" y="1480815"/>
            <a:chExt cx="3222192" cy="462179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A214DBD-1651-1475-989A-E14493702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35008" y="1480815"/>
              <a:ext cx="3222192" cy="462179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9E65E49-A8A8-BBD3-74E0-04B6A2EFAA36}"/>
                </a:ext>
              </a:extLst>
            </p:cNvPr>
            <p:cNvSpPr/>
            <p:nvPr/>
          </p:nvSpPr>
          <p:spPr>
            <a:xfrm>
              <a:off x="7962901" y="2100263"/>
              <a:ext cx="920750" cy="161925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3AD9AF1-9D94-6237-6A92-1A3A5817628C}"/>
                </a:ext>
              </a:extLst>
            </p:cNvPr>
            <p:cNvSpPr/>
            <p:nvPr/>
          </p:nvSpPr>
          <p:spPr>
            <a:xfrm>
              <a:off x="7962900" y="3148013"/>
              <a:ext cx="1752599" cy="280987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연결선: 꺾임 14">
              <a:extLst>
                <a:ext uri="{FF2B5EF4-FFF2-40B4-BE49-F238E27FC236}">
                  <a16:creationId xmlns:a16="http://schemas.microsoft.com/office/drawing/2014/main" id="{DAB8CAF1-FB11-9067-1644-667819E60FB0}"/>
                </a:ext>
              </a:extLst>
            </p:cNvPr>
            <p:cNvCxnSpPr>
              <a:cxnSpLocks/>
              <a:stCxn id="7" idx="3"/>
              <a:endCxn id="13" idx="0"/>
            </p:cNvCxnSpPr>
            <p:nvPr/>
          </p:nvCxnSpPr>
          <p:spPr>
            <a:xfrm flipH="1">
              <a:off x="8839200" y="2181226"/>
              <a:ext cx="44451" cy="966787"/>
            </a:xfrm>
            <a:prstGeom prst="bentConnector4">
              <a:avLst>
                <a:gd name="adj1" fmla="val -514274"/>
                <a:gd name="adj2" fmla="val 54187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DC80D0A-EBA1-DF24-6345-7929413EC1D8}"/>
                </a:ext>
              </a:extLst>
            </p:cNvPr>
            <p:cNvSpPr/>
            <p:nvPr/>
          </p:nvSpPr>
          <p:spPr>
            <a:xfrm>
              <a:off x="8151514" y="3767461"/>
              <a:ext cx="920750" cy="161925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B3F4FF5-4D70-71E7-C892-86F125617051}"/>
                </a:ext>
              </a:extLst>
            </p:cNvPr>
            <p:cNvSpPr/>
            <p:nvPr/>
          </p:nvSpPr>
          <p:spPr>
            <a:xfrm>
              <a:off x="8151514" y="4322910"/>
              <a:ext cx="1843512" cy="280987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" name="연결선: 꺾임 20">
              <a:extLst>
                <a:ext uri="{FF2B5EF4-FFF2-40B4-BE49-F238E27FC236}">
                  <a16:creationId xmlns:a16="http://schemas.microsoft.com/office/drawing/2014/main" id="{0E207835-0D29-1B22-9A3F-4DEAA7DB59AE}"/>
                </a:ext>
              </a:extLst>
            </p:cNvPr>
            <p:cNvCxnSpPr>
              <a:cxnSpLocks/>
              <a:stCxn id="18" idx="3"/>
              <a:endCxn id="20" idx="3"/>
            </p:cNvCxnSpPr>
            <p:nvPr/>
          </p:nvCxnSpPr>
          <p:spPr>
            <a:xfrm>
              <a:off x="9072264" y="3848424"/>
              <a:ext cx="922762" cy="614980"/>
            </a:xfrm>
            <a:prstGeom prst="bentConnector3">
              <a:avLst>
                <a:gd name="adj1" fmla="val 124773"/>
              </a:avLst>
            </a:prstGeom>
            <a:ln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50" y="2414154"/>
            <a:ext cx="7498781" cy="3688454"/>
          </a:xfrm>
          <a:prstGeom prst="rect">
            <a:avLst/>
          </a:prstGeom>
        </p:spPr>
      </p:pic>
      <p:cxnSp>
        <p:nvCxnSpPr>
          <p:cNvPr id="23" name="연결선: 꺾임 14">
            <a:extLst>
              <a:ext uri="{FF2B5EF4-FFF2-40B4-BE49-F238E27FC236}">
                <a16:creationId xmlns:a16="http://schemas.microsoft.com/office/drawing/2014/main" id="{DAB8CAF1-FB11-9067-1644-667819E60FB0}"/>
              </a:ext>
            </a:extLst>
          </p:cNvPr>
          <p:cNvCxnSpPr>
            <a:cxnSpLocks/>
          </p:cNvCxnSpPr>
          <p:nvPr/>
        </p:nvCxnSpPr>
        <p:spPr>
          <a:xfrm flipV="1">
            <a:off x="3683000" y="1898647"/>
            <a:ext cx="4176472" cy="1401918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ECF1401-017B-8423-172E-E3F163EFB8EB}"/>
              </a:ext>
            </a:extLst>
          </p:cNvPr>
          <p:cNvSpPr txBox="1"/>
          <p:nvPr/>
        </p:nvSpPr>
        <p:spPr>
          <a:xfrm>
            <a:off x="2662547" y="6179264"/>
            <a:ext cx="513868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콘텐츠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단에서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노드들을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상속해서 상황에 맞게 세부 동작을 구현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567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40794-C860-43E7-F9ED-71A8381C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23EEDDAF-D745-7173-3938-4C299B720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50" y="2472663"/>
            <a:ext cx="6260584" cy="428624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94998307-14E9-A7BB-377D-CF5C660A48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76" t="22743" r="17893" b="47427"/>
          <a:stretch/>
        </p:blipFill>
        <p:spPr>
          <a:xfrm>
            <a:off x="6380985" y="939381"/>
            <a:ext cx="2158073" cy="1167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74064-1CF1-64B6-B967-87A34DBEBA5B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DB4A4-AD43-7437-1751-585C2EE07962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881176A-B630-2E6B-975F-F70B31FECDCA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76178A-F76B-2754-F98B-62FC7E00E197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E7006-8FDB-6FA8-36D5-06293A0CF1E2}"/>
              </a:ext>
            </a:extLst>
          </p:cNvPr>
          <p:cNvSpPr txBox="1"/>
          <p:nvPr/>
        </p:nvSpPr>
        <p:spPr>
          <a:xfrm>
            <a:off x="302450" y="1342316"/>
            <a:ext cx="5138684" cy="1042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처리 결과 조건 데이터화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특정 모션이 선택되기 위한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조건들의 묶음</a:t>
            </a:r>
            <a:endParaRPr lang="en-US" altLang="ko-KR" sz="10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 처리 시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en-US" altLang="ko-KR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ProcessorComp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는 </a:t>
            </a:r>
            <a:r>
              <a:rPr lang="en-US" altLang="ko-KR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ProcessData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배열을 순회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</a:t>
            </a:r>
            <a:b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</a:b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 중 가장 먼저 만족하는 모션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을 탐색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26AF803-A46C-A563-26C1-DC47EB5CBE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8025"/>
          <a:stretch/>
        </p:blipFill>
        <p:spPr>
          <a:xfrm>
            <a:off x="9036454" y="4677414"/>
            <a:ext cx="2813435" cy="177949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9294F2D-ECCD-F62C-6CB8-6A61C54D819A}"/>
              </a:ext>
            </a:extLst>
          </p:cNvPr>
          <p:cNvSpPr txBox="1"/>
          <p:nvPr/>
        </p:nvSpPr>
        <p:spPr>
          <a:xfrm>
            <a:off x="7930166" y="4817566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 조건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5D9207-25EB-035F-5DCB-626072ECDBD4}"/>
              </a:ext>
            </a:extLst>
          </p:cNvPr>
          <p:cNvSpPr txBox="1"/>
          <p:nvPr/>
        </p:nvSpPr>
        <p:spPr>
          <a:xfrm>
            <a:off x="9003461" y="4021110"/>
            <a:ext cx="6687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합성 조건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DC0331-B6CA-958E-7125-B577FD65F081}"/>
              </a:ext>
            </a:extLst>
          </p:cNvPr>
          <p:cNvSpPr txBox="1"/>
          <p:nvPr/>
        </p:nvSpPr>
        <p:spPr>
          <a:xfrm>
            <a:off x="9003461" y="6456909"/>
            <a:ext cx="18662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모션에 대한 태그 </a:t>
            </a:r>
            <a:r>
              <a:rPr lang="en-US" altLang="ko-KR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– </a:t>
            </a:r>
            <a:r>
              <a:rPr lang="ko-KR" altLang="en-US" sz="1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조건을 연결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6"/>
          <a:srcRect b="32937"/>
          <a:stretch/>
        </p:blipFill>
        <p:spPr>
          <a:xfrm>
            <a:off x="6380985" y="3629097"/>
            <a:ext cx="2158073" cy="11789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985" y="2165898"/>
            <a:ext cx="2158073" cy="138303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1570" y="939382"/>
            <a:ext cx="2944414" cy="3066562"/>
          </a:xfrm>
          <a:prstGeom prst="rect">
            <a:avLst/>
          </a:prstGeom>
        </p:spPr>
      </p:pic>
      <p:sp>
        <p:nvSpPr>
          <p:cNvPr id="7" name="오른쪽 중괄호 6"/>
          <p:cNvSpPr/>
          <p:nvPr/>
        </p:nvSpPr>
        <p:spPr>
          <a:xfrm>
            <a:off x="8635406" y="1523098"/>
            <a:ext cx="256599" cy="29921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4">
            <a:extLst>
              <a:ext uri="{FF2B5EF4-FFF2-40B4-BE49-F238E27FC236}">
                <a16:creationId xmlns:a16="http://schemas.microsoft.com/office/drawing/2014/main" id="{6A7E2A39-C9BA-0761-46E2-9DC93192BE8A}"/>
              </a:ext>
            </a:extLst>
          </p:cNvPr>
          <p:cNvCxnSpPr>
            <a:cxnSpLocks/>
          </p:cNvCxnSpPr>
          <p:nvPr/>
        </p:nvCxnSpPr>
        <p:spPr>
          <a:xfrm flipV="1">
            <a:off x="3657600" y="2709333"/>
            <a:ext cx="2723385" cy="673543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77A80E-A382-3583-6595-29AFC3A1E3AB}"/>
              </a:ext>
            </a:extLst>
          </p:cNvPr>
          <p:cNvSpPr/>
          <p:nvPr/>
        </p:nvSpPr>
        <p:spPr>
          <a:xfrm>
            <a:off x="9575257" y="2859599"/>
            <a:ext cx="1005001" cy="176742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2659E29F-81F2-36C3-CFF4-953AD1C2B53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0580258" y="2947970"/>
            <a:ext cx="729625" cy="2036971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40278B8-5C23-63FC-4BD0-9C90532B4C66}"/>
              </a:ext>
            </a:extLst>
          </p:cNvPr>
          <p:cNvSpPr/>
          <p:nvPr/>
        </p:nvSpPr>
        <p:spPr>
          <a:xfrm>
            <a:off x="9334326" y="4984941"/>
            <a:ext cx="2152824" cy="15769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754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87CA-FBA0-1129-2CD2-B7595C90C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3DA81849-54E4-C1A0-CDAC-B1F004C8D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11" y="3176248"/>
            <a:ext cx="7803777" cy="17826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7FE9DB-6D36-3752-E690-70E8B6E2179F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39DE7-8E55-0D67-0B7E-3427D1146A81}"/>
              </a:ext>
            </a:extLst>
          </p:cNvPr>
          <p:cNvSpPr txBox="1"/>
          <p:nvPr/>
        </p:nvSpPr>
        <p:spPr>
          <a:xfrm>
            <a:off x="302450" y="1003762"/>
            <a:ext cx="5366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인식</a:t>
            </a:r>
            <a:r>
              <a:rPr lang="en-US" altLang="ko-KR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결과 데이터화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F5D6D6D-B1AA-D0F0-5BEC-5A1116B9B75D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02250AE-83E3-72FA-BE0F-035FE27B7CE3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FF80F-4A63-E7D7-CC28-F6B2D2F05A83}"/>
              </a:ext>
            </a:extLst>
          </p:cNvPr>
          <p:cNvSpPr txBox="1"/>
          <p:nvPr/>
        </p:nvSpPr>
        <p:spPr>
          <a:xfrm>
            <a:off x="302450" y="1342316"/>
            <a:ext cx="5138684" cy="1273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 처리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 배열 순회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가장 먼저 만족하는 조건을 발견하면 해당 모션 재생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가장 까다로운 조건을 앞에 두고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뒤로 갈수록 느슨한 조건을 배치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알맞은 조건이 없다면 모션은 재생하지 않도록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2CDF5C-5733-C245-1EF4-F24F8306466F}"/>
              </a:ext>
            </a:extLst>
          </p:cNvPr>
          <p:cNvSpPr txBox="1"/>
          <p:nvPr/>
        </p:nvSpPr>
        <p:spPr>
          <a:xfrm>
            <a:off x="7171849" y="5651576"/>
            <a:ext cx="5138684" cy="53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재사용되는 조건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들이 있을 수 있고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매 탐색마다 이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조건의 연산을 실행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하는 것은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비효율적</a:t>
            </a:r>
            <a:endParaRPr lang="en-US" altLang="ko-KR" sz="10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한 번의 결과 처리 과정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에서 조건 객체 순회 시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b="1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한 번만 평가할 수 있도록 처리</a:t>
            </a:r>
            <a:endParaRPr lang="en-US" altLang="ko-KR" sz="1000" b="1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726826-740F-3FEB-E639-65767D0E728A}"/>
              </a:ext>
            </a:extLst>
          </p:cNvPr>
          <p:cNvGrpSpPr/>
          <p:nvPr/>
        </p:nvGrpSpPr>
        <p:grpSpPr>
          <a:xfrm>
            <a:off x="8674030" y="2547170"/>
            <a:ext cx="2822333" cy="2426112"/>
            <a:chOff x="5441134" y="4019550"/>
            <a:chExt cx="2955944" cy="257216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1B7A4335-89EB-4EA5-415D-E81F601B0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1134" y="4019550"/>
              <a:ext cx="2955944" cy="2572162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4FA6EDC7-5BC1-66CB-A79F-9F585514A845}"/>
                </a:ext>
              </a:extLst>
            </p:cNvPr>
            <p:cNvSpPr/>
            <p:nvPr/>
          </p:nvSpPr>
          <p:spPr>
            <a:xfrm>
              <a:off x="5685295" y="4560257"/>
              <a:ext cx="2221389" cy="523608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F53B7D2-9696-251A-5D98-C2760CCA4822}"/>
                </a:ext>
              </a:extLst>
            </p:cNvPr>
            <p:cNvSpPr/>
            <p:nvPr/>
          </p:nvSpPr>
          <p:spPr>
            <a:xfrm>
              <a:off x="5773084" y="5854238"/>
              <a:ext cx="1819275" cy="293942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7F8300D-CAA7-4629-6F85-8038810C5F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472" r="35848"/>
          <a:stretch>
            <a:fillRect/>
          </a:stretch>
        </p:blipFill>
        <p:spPr>
          <a:xfrm>
            <a:off x="4610759" y="1845822"/>
            <a:ext cx="1888897" cy="12121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628725-12DE-7C1B-9D78-C3B8255ED29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776" t="22743" r="17893" b="61866"/>
          <a:stretch>
            <a:fillRect/>
          </a:stretch>
        </p:blipFill>
        <p:spPr>
          <a:xfrm>
            <a:off x="4496685" y="5083338"/>
            <a:ext cx="2158073" cy="602354"/>
          </a:xfrm>
          <a:prstGeom prst="rect">
            <a:avLst/>
          </a:prstGeom>
        </p:spPr>
      </p:pic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E8BBBF0-A0B7-2923-DF45-B0DF08B0CD91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6654758" y="3760226"/>
            <a:ext cx="2019272" cy="1624289"/>
          </a:xfrm>
          <a:prstGeom prst="bentConnector3">
            <a:avLst>
              <a:gd name="adj1" fmla="val 797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15DD2CE8-F211-AD48-E6DE-355C855D63F5}"/>
              </a:ext>
            </a:extLst>
          </p:cNvPr>
          <p:cNvCxnSpPr>
            <a:stCxn id="5" idx="3"/>
            <a:endCxn id="22" idx="1"/>
          </p:cNvCxnSpPr>
          <p:nvPr/>
        </p:nvCxnSpPr>
        <p:spPr>
          <a:xfrm>
            <a:off x="6499656" y="2451892"/>
            <a:ext cx="2174374" cy="1308334"/>
          </a:xfrm>
          <a:prstGeom prst="bentConnector3">
            <a:avLst>
              <a:gd name="adj1" fmla="val 811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144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0A15A-753E-D76E-7EA6-D7EC3C7C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CAEF54E-C261-DAEA-E241-FDBE88008C12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834159-A529-642E-DA72-BC14004E6795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타입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84CF49-B3AE-55A6-B5C8-1AFB49183522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BE5BF5-965D-78BB-5728-A037B8A2E486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366076-5195-604B-D474-8C276C9406C6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장애물에 돌출부 유형 추가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3C5630-512F-1962-4801-A817035479B0}"/>
              </a:ext>
            </a:extLst>
          </p:cNvPr>
          <p:cNvSpPr txBox="1"/>
          <p:nvPr/>
        </p:nvSpPr>
        <p:spPr>
          <a:xfrm>
            <a:off x="302449" y="1727036"/>
            <a:ext cx="5793551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파쿠르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시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대체로 매끈한 면보다는 돌출된 부분을 이용하여 장애물을 극복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 부분을 모사하고자 돌출부 유형을 추가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E914A8-96A1-FBAB-046C-8E04FAD5D2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464"/>
          <a:stretch>
            <a:fillRect/>
          </a:stretch>
        </p:blipFill>
        <p:spPr>
          <a:xfrm>
            <a:off x="1514811" y="3254510"/>
            <a:ext cx="4262005" cy="31695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CC1950-D896-205D-7455-ED34EEAD6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475" y="1688565"/>
            <a:ext cx="3962720" cy="47355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F884C4-79B0-4748-434F-6CE8731BC21F}"/>
              </a:ext>
            </a:extLst>
          </p:cNvPr>
          <p:cNvSpPr txBox="1"/>
          <p:nvPr/>
        </p:nvSpPr>
        <p:spPr>
          <a:xfrm>
            <a:off x="302449" y="2384331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Protrude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라는 태그를 부여해서 인식할 수 있도록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결과 처리 단계에서 우선순위를 높여 먼저 처리할 수 있도록 함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208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628-6096-007D-4F9A-097D06E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BC9F85-F7A3-3F83-1806-6A8A789EB677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273E2F-7739-7201-81F8-1F5E095D26E7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타입 추가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40C969E-FCF4-2ECC-59EC-50B8643A5B76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205B8F-1C93-C984-E61E-45A53634FE3C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832E80-A59D-9F14-5DAB-D51BFF4C47A1}"/>
              </a:ext>
            </a:extLst>
          </p:cNvPr>
          <p:cNvSpPr/>
          <p:nvPr/>
        </p:nvSpPr>
        <p:spPr>
          <a:xfrm>
            <a:off x="1514744" y="2953315"/>
            <a:ext cx="4246075" cy="328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 </a:t>
            </a:r>
            <a:r>
              <a:rPr lang="en-US" altLang="ko-KR" dirty="0"/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E9570B-25D7-061D-8946-9CCEBBC71B1A}"/>
              </a:ext>
            </a:extLst>
          </p:cNvPr>
          <p:cNvSpPr/>
          <p:nvPr/>
        </p:nvSpPr>
        <p:spPr>
          <a:xfrm>
            <a:off x="6276975" y="2953315"/>
            <a:ext cx="4246075" cy="328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 </a:t>
            </a:r>
            <a:r>
              <a:rPr lang="en-US" altLang="ko-KR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FA5D7-1740-0566-E198-3D6707C83E07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일반적인 벽면을 탈 수도 있지만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돌출부를 인식하면 우선해서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일반적인 이동보다 좀 더 멀리 이동 가능하도록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CCD4C-6EF5-FEFC-3F13-E33D025FD49B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장애물에 돌출부 유형 추가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72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77D4-BD5D-3DBD-B86A-E63784778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3D4C48-C9B6-2723-62D6-3C3423234E28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E7561B-2601-8964-C60A-A06666E075AB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전반적인 테스트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F4DFF75-B56F-0D06-5F2D-FAA6D843192E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F710DC-46C3-282A-F05D-2E1E8F2688E5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E084B-0F8B-85C4-24B9-65173EE9AF3C}"/>
              </a:ext>
            </a:extLst>
          </p:cNvPr>
          <p:cNvSpPr txBox="1"/>
          <p:nvPr/>
        </p:nvSpPr>
        <p:spPr>
          <a:xfrm>
            <a:off x="302450" y="1342316"/>
            <a:ext cx="367688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유형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1.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벽면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7917E-4784-41A9-2093-EBB09E20FA92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벽과 벽이 직각으로 만나는 지점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벽에서 타 유형의 장애물로 이동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35F08D-DD82-F45A-D8E5-8EA725EDCBBA}"/>
              </a:ext>
            </a:extLst>
          </p:cNvPr>
          <p:cNvSpPr/>
          <p:nvPr/>
        </p:nvSpPr>
        <p:spPr>
          <a:xfrm>
            <a:off x="492659" y="2938799"/>
            <a:ext cx="3526891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E4D5AC4-8D06-5712-A101-F0119000DEBA}"/>
              </a:ext>
            </a:extLst>
          </p:cNvPr>
          <p:cNvSpPr/>
          <p:nvPr/>
        </p:nvSpPr>
        <p:spPr>
          <a:xfrm>
            <a:off x="4387668" y="2938799"/>
            <a:ext cx="3321413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CCA766-9AC9-2EEC-B9DD-7787F79AA636}"/>
              </a:ext>
            </a:extLst>
          </p:cNvPr>
          <p:cNvSpPr/>
          <p:nvPr/>
        </p:nvSpPr>
        <p:spPr>
          <a:xfrm>
            <a:off x="8077199" y="2938798"/>
            <a:ext cx="3321413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6026D7-A120-FF74-5E5D-93C3739BC359}"/>
              </a:ext>
            </a:extLst>
          </p:cNvPr>
          <p:cNvSpPr txBox="1"/>
          <p:nvPr/>
        </p:nvSpPr>
        <p:spPr>
          <a:xfrm>
            <a:off x="1635472" y="2578851"/>
            <a:ext cx="124126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직각 인접 지점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C51132-2956-62DF-6A9A-6D4F365FAE02}"/>
              </a:ext>
            </a:extLst>
          </p:cNvPr>
          <p:cNvSpPr txBox="1"/>
          <p:nvPr/>
        </p:nvSpPr>
        <p:spPr>
          <a:xfrm>
            <a:off x="5267496" y="2578849"/>
            <a:ext cx="1459017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사이드 장애물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C08F5-5D1C-98CC-488F-527FB900C200}"/>
              </a:ext>
            </a:extLst>
          </p:cNvPr>
          <p:cNvSpPr txBox="1"/>
          <p:nvPr/>
        </p:nvSpPr>
        <p:spPr>
          <a:xfrm>
            <a:off x="9117273" y="2578850"/>
            <a:ext cx="1241264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-Beam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지형 이동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514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2D3C-D67E-389C-8B5D-2E66EC8A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0A0E75-A5AA-F7AB-A801-B2F2FF950B0E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587D1D-A0BD-C302-295B-E7751EB032EF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전반적인 테스트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117F9F2-0758-5878-BE9B-248BB92DF383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601187-C0A6-B0D1-82CA-2DBC6FD5DB1E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78774-6333-8AD0-E6D1-CAB9471C443D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유형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2.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옥상에서 장애물 처리 및 낙하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CFF83-8DBC-3394-F974-884765AC9270}"/>
              </a:ext>
            </a:extLst>
          </p:cNvPr>
          <p:cNvSpPr txBox="1"/>
          <p:nvPr/>
        </p:nvSpPr>
        <p:spPr>
          <a:xfrm>
            <a:off x="302449" y="1727036"/>
            <a:ext cx="6520758" cy="534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옥상으로 오를 때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옥상이라 생각하고 오른 후 낙하 처리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F0E71C-2973-95DC-9192-059ED12DC5CA}"/>
              </a:ext>
            </a:extLst>
          </p:cNvPr>
          <p:cNvSpPr/>
          <p:nvPr/>
        </p:nvSpPr>
        <p:spPr>
          <a:xfrm>
            <a:off x="978434" y="2938799"/>
            <a:ext cx="4879441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84EF3C-919E-9A76-250C-754406747D81}"/>
              </a:ext>
            </a:extLst>
          </p:cNvPr>
          <p:cNvSpPr/>
          <p:nvPr/>
        </p:nvSpPr>
        <p:spPr>
          <a:xfrm>
            <a:off x="6479812" y="2938799"/>
            <a:ext cx="4879441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5459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7694-15C9-2B5F-2454-CCD6068E8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AEECA0C-9A32-F3E5-E975-1FDB1339F910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4AD87-D564-2675-2F05-8F123D604850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전반적인 테스트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EC0AE64-6745-F3AF-9F4D-3B0CF04F6912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400626-BD59-190A-81E2-83D54499C5F9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E754C-ED0F-6AE7-84F9-D34590444436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유형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3. 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공중에서 타 장애물 캐치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09943-A52F-72DA-8819-BCDD85377B73}"/>
              </a:ext>
            </a:extLst>
          </p:cNvPr>
          <p:cNvSpPr txBox="1"/>
          <p:nvPr/>
        </p:nvSpPr>
        <p:spPr>
          <a:xfrm>
            <a:off x="302449" y="1727036"/>
            <a:ext cx="6520758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낙하 중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벽면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Vault, Mantle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확인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E01F80-9E4F-DA82-0550-C055AD174C80}"/>
              </a:ext>
            </a:extLst>
          </p:cNvPr>
          <p:cNvSpPr/>
          <p:nvPr/>
        </p:nvSpPr>
        <p:spPr>
          <a:xfrm>
            <a:off x="597434" y="2938799"/>
            <a:ext cx="3526891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D29930A-5965-B7E1-FECF-7878DA120BC2}"/>
              </a:ext>
            </a:extLst>
          </p:cNvPr>
          <p:cNvSpPr/>
          <p:nvPr/>
        </p:nvSpPr>
        <p:spPr>
          <a:xfrm>
            <a:off x="4492443" y="2938799"/>
            <a:ext cx="3321413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6E97A0-61BB-96EF-B421-399BFBB942E9}"/>
              </a:ext>
            </a:extLst>
          </p:cNvPr>
          <p:cNvSpPr/>
          <p:nvPr/>
        </p:nvSpPr>
        <p:spPr>
          <a:xfrm>
            <a:off x="8181974" y="2938798"/>
            <a:ext cx="3321413" cy="3100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영상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78767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C8C19-EFD0-1B5E-9E51-C8E355F0A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AF0DE98-E8B3-90F2-3BAB-CA48DC374639}"/>
              </a:ext>
            </a:extLst>
          </p:cNvPr>
          <p:cNvSpPr txBox="1"/>
          <p:nvPr/>
        </p:nvSpPr>
        <p:spPr>
          <a:xfrm>
            <a:off x="302451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이번 주 작업 내역</a:t>
            </a:r>
            <a:endParaRPr lang="en-US" altLang="ko-KR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0C847-CA5E-0EC9-73E1-B2C5D77F5C2D}"/>
              </a:ext>
            </a:extLst>
          </p:cNvPr>
          <p:cNvSpPr txBox="1"/>
          <p:nvPr/>
        </p:nvSpPr>
        <p:spPr>
          <a:xfrm>
            <a:off x="302450" y="1003762"/>
            <a:ext cx="2694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전반적인 테스트</a:t>
            </a:r>
            <a:endParaRPr lang="en-US" altLang="ko-KR" sz="16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EB32D7F-01F4-033A-E2AC-5D41D25F8094}"/>
              </a:ext>
            </a:extLst>
          </p:cNvPr>
          <p:cNvCxnSpPr>
            <a:cxnSpLocks/>
          </p:cNvCxnSpPr>
          <p:nvPr/>
        </p:nvCxnSpPr>
        <p:spPr>
          <a:xfrm>
            <a:off x="387511" y="818707"/>
            <a:ext cx="1130830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BBE646-F147-D346-73B2-EE485B0DA1BE}"/>
              </a:ext>
            </a:extLst>
          </p:cNvPr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3B39DF-80E2-D179-27A8-3CFB22A8BB8C}"/>
              </a:ext>
            </a:extLst>
          </p:cNvPr>
          <p:cNvSpPr txBox="1"/>
          <p:nvPr/>
        </p:nvSpPr>
        <p:spPr>
          <a:xfrm>
            <a:off x="302449" y="1342316"/>
            <a:ext cx="7464813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유형 </a:t>
            </a:r>
            <a:r>
              <a:rPr lang="en-US" altLang="ko-KR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4. </a:t>
            </a:r>
            <a:r>
              <a:rPr lang="ko-KR" altLang="en-US" sz="1200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경계값</a:t>
            </a:r>
            <a:r>
              <a:rPr lang="ko-KR" altLang="en-US" sz="12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테스트</a:t>
            </a:r>
            <a:endParaRPr lang="en-US" altLang="ko-KR" sz="12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D901C-157A-B566-D3F4-394FD22A3EC9}"/>
              </a:ext>
            </a:extLst>
          </p:cNvPr>
          <p:cNvSpPr txBox="1"/>
          <p:nvPr/>
        </p:nvSpPr>
        <p:spPr>
          <a:xfrm>
            <a:off x="302449" y="1727036"/>
            <a:ext cx="6520758" cy="303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높이 인식 시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,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기존보다 단위를 더 세세하게 쪼개고</a:t>
            </a:r>
            <a:r>
              <a:rPr lang="en-US" altLang="ko-KR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ko-KR" altLang="en-US" sz="1000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인식 횟수를 늘려 더 정확한 높이를 측정</a:t>
            </a:r>
            <a:endParaRPr lang="en-US" altLang="ko-KR" sz="1000" dirty="0"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9429CB-EE61-5AFD-D56E-7477728C97AE}"/>
              </a:ext>
            </a:extLst>
          </p:cNvPr>
          <p:cNvSpPr/>
          <p:nvPr/>
        </p:nvSpPr>
        <p:spPr>
          <a:xfrm>
            <a:off x="1212982" y="3965663"/>
            <a:ext cx="4246075" cy="25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적용 전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27354D-2728-4EC6-88E8-01068E85F16B}"/>
              </a:ext>
            </a:extLst>
          </p:cNvPr>
          <p:cNvSpPr/>
          <p:nvPr/>
        </p:nvSpPr>
        <p:spPr>
          <a:xfrm>
            <a:off x="6041662" y="3965663"/>
            <a:ext cx="4246075" cy="25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적용 후</a:t>
            </a:r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141D5A-58DE-75ED-61B6-4C8CC0EBCC02}"/>
              </a:ext>
            </a:extLst>
          </p:cNvPr>
          <p:cNvSpPr/>
          <p:nvPr/>
        </p:nvSpPr>
        <p:spPr>
          <a:xfrm>
            <a:off x="6041662" y="1164177"/>
            <a:ext cx="4246075" cy="25768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데이터 차이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88964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A7EAA-204E-2F90-E52A-6C83B9013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15F932-2F2C-4A3F-7F16-1B13D352985A}"/>
              </a:ext>
            </a:extLst>
          </p:cNvPr>
          <p:cNvSpPr txBox="1"/>
          <p:nvPr/>
        </p:nvSpPr>
        <p:spPr>
          <a:xfrm>
            <a:off x="354702" y="315453"/>
            <a:ext cx="4944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진행 계획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(</a:t>
            </a:r>
            <a:r>
              <a:rPr lang="ko-KR" altLang="en-US" dirty="0" err="1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주차별</a:t>
            </a:r>
            <a:r>
              <a:rPr lang="ko-KR" altLang="en-US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목표</a:t>
            </a:r>
            <a:r>
              <a:rPr lang="en-US" altLang="ko-KR" dirty="0">
                <a:latin typeface="나눔바른고딕" panose="020B0603020101020101" pitchFamily="34" charset="-127"/>
                <a:ea typeface="나눔바른고딕" panose="020B0603020101020101" pitchFamily="34" charset="-127"/>
              </a:rPr>
              <a:t>)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22530"/>
              </p:ext>
            </p:extLst>
          </p:nvPr>
        </p:nvGraphicFramePr>
        <p:xfrm>
          <a:off x="420856" y="870858"/>
          <a:ext cx="11318860" cy="562941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91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0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28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목표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작업 세부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1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구조 파악 및 기반 클래스</a:t>
                      </a:r>
                      <a:r>
                        <a:rPr lang="ko-KR" altLang="en-US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구성</a:t>
                      </a:r>
                      <a:endParaRPr lang="en-US" altLang="ko-KR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미니엔진 파악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게임 기반 클래스 작성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fbx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파일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파싱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렌더링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재생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2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시스템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 적용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입력 바인딩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블렌드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상태머신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물리엔진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(PhysX)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입력 바인딩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 </a:t>
                      </a:r>
                      <a:r>
                        <a:rPr lang="ko-KR" altLang="en-US" sz="1400" strike="sng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로코모션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적용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루트 모션 적용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3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캐릭터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장애물 높이 인식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인식한 장애물에 대한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선택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및 출력</a:t>
                      </a:r>
                      <a: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  <a:br>
                        <a:rPr lang="en-US" altLang="ko-KR" sz="1400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위치에 따른 보정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4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애니메이션 처리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 중간에 지붕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경사로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철봉 나열된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en-US" altLang="ko-KR" sz="1400" strike="sngStrike" baseline="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직각으로 만나는 벽면 간 이동 처리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벽면에 뻗어 나온 줄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또는 기둥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환경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애니메이션 처리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5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미흡사항 보완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noStrike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디테일한 보정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),</a:t>
                      </a:r>
                    </a:p>
                    <a:p>
                      <a:pPr latinLnBrk="1"/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데이터화 작업 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애니메이션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인식 트리</a:t>
                      </a:r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9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6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파쿠르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시스템 보완 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(</a:t>
                      </a:r>
                      <a:r>
                        <a:rPr lang="ko-KR" altLang="en-US" sz="140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폴리싱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strike="sng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IK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적용 디테일 보정 작업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높이 및 깊이 인식 </a:t>
                      </a:r>
                      <a:r>
                        <a:rPr lang="ko-KR" altLang="en-US" sz="1400" strike="sngStrike" baseline="0" dirty="0" err="1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경계값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 처리</a:t>
                      </a:r>
                      <a: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br>
                        <a:rPr lang="en-US" altLang="ko-KR" sz="1400" strike="no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</a:b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테스트 및 버그 수정</a:t>
                      </a:r>
                      <a:r>
                        <a:rPr lang="en-US" altLang="ko-KR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sngStrike" baseline="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인식 결과 조건 처리 데이터화</a:t>
                      </a:r>
                      <a:endParaRPr lang="ko-KR" altLang="en-US" sz="1400" strike="sngStrike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2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7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복잡한 지형 유형 추가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추가적으로 복잡한 지형 추가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지형 처리 데이터 추가</a:t>
                      </a:r>
                      <a:r>
                        <a:rPr lang="en-US" altLang="ko-KR" sz="1400" strike="noStrike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8</a:t>
                      </a:r>
                      <a:endParaRPr lang="ko-KR" altLang="en-US" dirty="0">
                        <a:latin typeface="나눔바른고딕" panose="020B0603020101020101" pitchFamily="34" charset="-127"/>
                        <a:ea typeface="나눔바른고딕" panose="020B060302010102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마무리 및 보완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코드 정리</a:t>
                      </a:r>
                      <a:r>
                        <a:rPr lang="en-US" altLang="ko-KR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, </a:t>
                      </a:r>
                      <a:r>
                        <a:rPr lang="ko-KR" altLang="en-US" sz="1400" dirty="0">
                          <a:latin typeface="나눔바른고딕" panose="020B0603020101020101" pitchFamily="34" charset="-127"/>
                          <a:ea typeface="나눔바른고딕" panose="020B0603020101020101" pitchFamily="34" charset="-127"/>
                        </a:rPr>
                        <a:t>미흡 작업 마무리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10443172" y="118011"/>
            <a:ext cx="15969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펄어비스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 </a:t>
            </a:r>
            <a:r>
              <a:rPr lang="en-US" altLang="ko-KR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2026 </a:t>
            </a: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여름 </a:t>
            </a:r>
            <a:r>
              <a:rPr lang="ko-KR" altLang="en-US" sz="1000" dirty="0" err="1">
                <a:solidFill>
                  <a:schemeClr val="bg1">
                    <a:lumMod val="75000"/>
                  </a:schemeClr>
                </a:solidFill>
                <a:latin typeface="나눔바른고딕" panose="020B0603020101020101" pitchFamily="34" charset="-127"/>
                <a:ea typeface="나눔바른고딕" panose="020B0603020101020101" pitchFamily="34" charset="-127"/>
              </a:rPr>
              <a:t>인턴십</a:t>
            </a:r>
            <a:endParaRPr lang="ko-KR" altLang="en-US" sz="1000" dirty="0">
              <a:solidFill>
                <a:schemeClr val="bg1">
                  <a:lumMod val="75000"/>
                </a:schemeClr>
              </a:solidFill>
              <a:latin typeface="나눔바른고딕" panose="020B0603020101020101" pitchFamily="34" charset="-127"/>
              <a:ea typeface="나눔바른고딕" panose="020B060302010102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680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</TotalTime>
  <Words>867</Words>
  <Application>Microsoft Office PowerPoint</Application>
  <PresentationFormat>와이드스크린</PresentationFormat>
  <Paragraphs>159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나눔바른고딕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김정환</dc:creator>
  <cp:lastModifiedBy>김정환</cp:lastModifiedBy>
  <cp:revision>1589</cp:revision>
  <dcterms:created xsi:type="dcterms:W3CDTF">2026-07-02T09:06:49Z</dcterms:created>
  <dcterms:modified xsi:type="dcterms:W3CDTF">2026-08-07T02:24:09Z</dcterms:modified>
</cp:coreProperties>
</file>