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60" r:id="rId4"/>
    <p:sldId id="259" r:id="rId5"/>
    <p:sldId id="257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402" autoAdjust="0"/>
  </p:normalViewPr>
  <p:slideViewPr>
    <p:cSldViewPr snapToGrid="0">
      <p:cViewPr>
        <p:scale>
          <a:sx n="75" d="100"/>
          <a:sy n="75" d="100"/>
        </p:scale>
        <p:origin x="191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67025-E300-421D-BABB-5C49D5736377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03AB99-662C-46EC-B86C-F2E227D3EF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285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3AB99-662C-46EC-B86C-F2E227D3EFA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1752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3AB99-662C-46EC-B86C-F2E227D3EFA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993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목표 영상 </a:t>
            </a:r>
            <a:r>
              <a:rPr lang="en-US" altLang="ko-KR" dirty="0"/>
              <a:t>: </a:t>
            </a:r>
          </a:p>
          <a:p>
            <a:pPr marL="228600" indent="-228600">
              <a:buAutoNum type="arabicPeriod"/>
            </a:pPr>
            <a:r>
              <a:rPr lang="ko-KR" altLang="en-US" dirty="0" err="1"/>
              <a:t>어쌔신크리드</a:t>
            </a:r>
            <a:r>
              <a:rPr lang="ko-KR" altLang="en-US" dirty="0"/>
              <a:t> </a:t>
            </a:r>
            <a:r>
              <a:rPr lang="ko-KR" altLang="en-US" dirty="0" err="1"/>
              <a:t>파쿠르</a:t>
            </a:r>
            <a:r>
              <a:rPr lang="ko-KR" altLang="en-US" dirty="0"/>
              <a:t> 액션 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https://www.youtube.com/shorts/DgF8jxONRSM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https://www.youtube.com/shorts/bMgaW5dvLzk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https://www.youtube.com/watch?v=1vhC870Phb0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https://www.youtube.com/shorts/AZEMIHgBK1E</a:t>
            </a:r>
          </a:p>
          <a:p>
            <a:pPr marL="228600" lvl="0" indent="-228600">
              <a:buAutoNum type="arabicPeriod"/>
            </a:pPr>
            <a:r>
              <a:rPr lang="ko-KR" altLang="en-US" dirty="0" err="1"/>
              <a:t>툼레이더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https://www.youtube.com/watch?v=reqY7n8hdSg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https://www.youtube.com/shorts/PLTIvSb6AxM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3AB99-662C-46EC-B86C-F2E227D3EFA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578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C6A88D-EDAF-CEC2-712F-FA6A7E4FF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7A10E8-4E5D-A611-E577-EBA5676A5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4EF1CD-FA03-944B-0EC0-2AABE3B0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E1904F-F41F-7809-481D-7E79FCD21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C721DE-9DEE-BACB-B354-8E260F43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264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5793F-94FE-56B0-E0CB-A317DA7F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AF79B8-2AD1-69C6-D4D5-21827C680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18AF63-4F49-82B6-24FC-BB457FC96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5FF19-25D7-1FF3-E311-2C2E07B26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3D8BF-52A4-97EB-612B-F9899664E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58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B95909-78E9-5BAC-68EA-7DCA2A12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B98DAF-2A47-3ECD-807C-96FB70CF9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AD9670-C268-56FC-281A-FE1F5954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946F37-FE38-E38E-7339-DC6E4EFA5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17C39B-6348-28CC-59AF-B1A65BE2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82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0EFA0F-10D7-865F-1370-4EA34C786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98CDB5-9D2B-5F68-9DD8-ED20454B1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0EB1B7-8EDE-2794-EA53-E0C1972FA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FBCFA4-CF51-706E-F9F0-8B66CA1A0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56636A-469F-7FE9-480E-955BCC0E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71D272-167D-EE36-E685-CD8BFE8C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43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7230E-A2F3-4027-B6F6-9C5C289B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685356-7419-AD93-377A-8D9A02934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36E6CA-94A6-3223-C91A-F6E9648C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4DFD790-787A-88A3-300F-C173DAD2E1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12AE83D-2990-A6E4-CC9C-06D342A67C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11F8C3-5AD3-730B-8ADB-304185DAA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F36ABA7-53C4-C11E-CC9D-F5E59BDBB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29E145-D4AE-F9FB-A218-47B323C43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41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855E6-5AD7-B657-346A-38D87715A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052B06-09E1-1CD0-A032-AEB30F69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18691A-8582-987D-DF06-E6D8B618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997ACE-7D00-7B35-1F16-F56C5450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708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703D88F-9D50-1761-731E-68DD1FC6B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0793086-842E-7906-6019-4284A9E4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4FE3DE-7F26-4352-74EE-A720C7AF5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229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B6F63-D5C7-EB4A-A651-8DA5561AD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00FB2D-0CF3-1A3C-E704-F8CA96C2D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C3C47D-E633-BB5D-0FA3-41A5E3C28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3DA118-0D2F-73A1-6311-85E95462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46749A-348F-886F-32BD-A562F1A2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F22D09-FBE9-294C-014E-9A808723A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401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50C132-3A30-7E9C-0BBB-1CD1A789C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F31776A-D32D-34F5-8A99-A26F4F653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500BF3-C366-20F6-6257-8233A0794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1C119C-B590-D055-6B10-AAE861F0D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064F92-4550-973E-464E-89CA3E7E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8384D1-792D-8EA8-718E-F756CEE62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475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C6E50E-2954-B290-1563-C4936B9E8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6A99E4-1414-E268-7B72-A4C896708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9BB3C2-1FA4-4151-9ADB-996284F1B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27C81A-BE4E-27CE-6CE4-0AE5876D4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E3C814-C417-2E3F-F02B-1B9ED694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657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1D687F-54E9-57A3-FDA2-5A8060E79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846A14-940B-8FE8-A769-3DABAE11A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3732A3-4427-5A76-3A9C-DBE87A43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A5B672-F383-0FF5-2D72-72E1E7F0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28928A-9906-D889-A8B7-B97D729C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91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0AC0570-6E75-D8C0-582D-3A448969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ADFDDF-DF3C-19FA-0ED8-5D640C08D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9AC677-7913-29B2-30F7-969771FA5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0A429-5607-4C3C-9BC0-4142A9E07459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6836E4-21B2-245A-8933-7F64F64AC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2D0B4E-8F0D-F1B8-2A71-9862FC974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77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3E08CF-A6B7-6BE9-B7B8-4498ADC66316}"/>
              </a:ext>
            </a:extLst>
          </p:cNvPr>
          <p:cNvSpPr txBox="1"/>
          <p:nvPr/>
        </p:nvSpPr>
        <p:spPr>
          <a:xfrm>
            <a:off x="455516" y="2869142"/>
            <a:ext cx="66152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주제 </a:t>
            </a:r>
            <a:r>
              <a:rPr lang="en-US" altLang="ko-KR" sz="2400" dirty="0"/>
              <a:t>: </a:t>
            </a:r>
            <a:r>
              <a:rPr lang="ko-KR" altLang="en-US" sz="2400" dirty="0"/>
              <a:t>캐릭터 애니메이션 </a:t>
            </a:r>
            <a:r>
              <a:rPr lang="ko-KR" altLang="en-US" sz="2400" dirty="0" err="1"/>
              <a:t>파쿠르</a:t>
            </a:r>
            <a:r>
              <a:rPr lang="ko-KR" altLang="en-US" sz="2400" dirty="0"/>
              <a:t> 시스템 </a:t>
            </a:r>
            <a:r>
              <a:rPr lang="en-US" altLang="ko-KR" sz="2400" dirty="0"/>
              <a:t>1</a:t>
            </a:r>
            <a:r>
              <a:rPr lang="ko-KR" altLang="en-US" sz="2400" dirty="0"/>
              <a:t>주차</a:t>
            </a:r>
            <a:endParaRPr lang="en-US" altLang="ko-KR" sz="2400" dirty="0"/>
          </a:p>
          <a:p>
            <a:r>
              <a:rPr lang="ko-KR" altLang="en-US" dirty="0"/>
              <a:t>발표자 </a:t>
            </a:r>
            <a:r>
              <a:rPr lang="en-US" altLang="ko-KR" dirty="0"/>
              <a:t>: </a:t>
            </a:r>
            <a:r>
              <a:rPr lang="ko-KR" altLang="en-US" dirty="0"/>
              <a:t>김정환</a:t>
            </a:r>
          </a:p>
        </p:txBody>
      </p:sp>
    </p:spTree>
    <p:extLst>
      <p:ext uri="{BB962C8B-B14F-4D97-AF65-F5344CB8AC3E}">
        <p14:creationId xmlns:p14="http://schemas.microsoft.com/office/powerpoint/2010/main" val="2763767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E24C7-A429-CDA0-4EB6-16142BB05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15F932-2F2C-4A3F-7F16-1B13D352985A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이번 주 작업 내역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5C835-CE30-2461-B5B2-C304088E694A}"/>
              </a:ext>
            </a:extLst>
          </p:cNvPr>
          <p:cNvSpPr txBox="1"/>
          <p:nvPr/>
        </p:nvSpPr>
        <p:spPr>
          <a:xfrm>
            <a:off x="302451" y="758852"/>
            <a:ext cx="8118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미니엔진 구성 파악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https://github.com/microsoft/DirectX-Graphics-Samples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121368" y="1664107"/>
            <a:ext cx="1858944" cy="55266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Core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7315468" y="1666095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</a:rPr>
              <a:t>IGameApp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7315469" y="3219467"/>
            <a:ext cx="1858944" cy="55266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bg1"/>
                </a:solidFill>
              </a:rPr>
              <a:t>ModelViewer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15" name="꺾인 연결선 14"/>
          <p:cNvCxnSpPr>
            <a:stCxn id="13" idx="0"/>
            <a:endCxn id="9" idx="2"/>
          </p:cNvCxnSpPr>
          <p:nvPr/>
        </p:nvCxnSpPr>
        <p:spPr>
          <a:xfrm rot="16200000" flipV="1">
            <a:off x="7744586" y="2719111"/>
            <a:ext cx="1000711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51434" y="2540974"/>
            <a:ext cx="56938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구현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4412" y="3219467"/>
            <a:ext cx="156805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 err="1"/>
              <a:t>GameApp</a:t>
            </a:r>
            <a:r>
              <a:rPr lang="en-US" altLang="ko-KR" sz="1500" dirty="0"/>
              <a:t> </a:t>
            </a:r>
            <a:r>
              <a:rPr lang="ko-KR" altLang="en-US" sz="1500" dirty="0"/>
              <a:t>구현 </a:t>
            </a:r>
            <a:br>
              <a:rPr lang="en-US" altLang="ko-KR" sz="1500" dirty="0"/>
            </a:br>
            <a:r>
              <a:rPr lang="ko-KR" altLang="en-US" sz="1500" dirty="0"/>
              <a:t>예시 프로젝트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6390" y="2339988"/>
            <a:ext cx="22530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/>
              <a:t>DirectX12 </a:t>
            </a:r>
            <a:r>
              <a:rPr lang="ko-KR" altLang="en-US" sz="1500" dirty="0"/>
              <a:t>및 엔진 구현</a:t>
            </a:r>
            <a:br>
              <a:rPr lang="en-US" altLang="ko-KR" sz="1500" dirty="0"/>
            </a:br>
            <a:r>
              <a:rPr lang="ko-KR" altLang="en-US" sz="1500" dirty="0"/>
              <a:t>정적 라이브러리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4121367" y="4519215"/>
            <a:ext cx="1858944" cy="55266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Model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21367" y="5137972"/>
            <a:ext cx="211788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모델 </a:t>
            </a:r>
            <a:r>
              <a:rPr lang="ko-KR" altLang="en-US" sz="1500" dirty="0" err="1"/>
              <a:t>렌더링</a:t>
            </a:r>
            <a:r>
              <a:rPr lang="ko-KR" altLang="en-US" sz="1500" dirty="0"/>
              <a:t> 구현 예시</a:t>
            </a:r>
            <a:endParaRPr lang="en-US" altLang="ko-KR" sz="1500" dirty="0"/>
          </a:p>
          <a:p>
            <a:r>
              <a:rPr lang="ko-KR" altLang="en-US" sz="1500" dirty="0"/>
              <a:t>정적 라이브러리</a:t>
            </a:r>
          </a:p>
        </p:txBody>
      </p:sp>
      <p:cxnSp>
        <p:nvCxnSpPr>
          <p:cNvPr id="25" name="꺾인 연결선 24"/>
          <p:cNvCxnSpPr>
            <a:stCxn id="13" idx="2"/>
            <a:endCxn id="21" idx="3"/>
          </p:cNvCxnSpPr>
          <p:nvPr/>
        </p:nvCxnSpPr>
        <p:spPr>
          <a:xfrm rot="5400000">
            <a:off x="6600917" y="3151522"/>
            <a:ext cx="1023418" cy="226463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98315" y="1662069"/>
            <a:ext cx="192552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엔진 게임루프 구현 </a:t>
            </a:r>
            <a:br>
              <a:rPr lang="en-US" altLang="ko-KR" sz="1500" dirty="0"/>
            </a:br>
            <a:r>
              <a:rPr lang="ko-KR" altLang="en-US" sz="1500" dirty="0"/>
              <a:t>인터페이스</a:t>
            </a:r>
          </a:p>
        </p:txBody>
      </p:sp>
      <p:cxnSp>
        <p:nvCxnSpPr>
          <p:cNvPr id="30" name="꺾인 연결선 29"/>
          <p:cNvCxnSpPr>
            <a:stCxn id="21" idx="0"/>
            <a:endCxn id="7" idx="2"/>
          </p:cNvCxnSpPr>
          <p:nvPr/>
        </p:nvCxnSpPr>
        <p:spPr>
          <a:xfrm rot="5400000" flipH="1" flipV="1">
            <a:off x="3899616" y="3367992"/>
            <a:ext cx="2302447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095418" y="3817099"/>
            <a:ext cx="147399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/>
              <a:t>DirectX12 </a:t>
            </a:r>
            <a:r>
              <a:rPr lang="ko-KR" altLang="en-US" sz="1500" dirty="0"/>
              <a:t>이용</a:t>
            </a:r>
            <a:endParaRPr lang="en-US" altLang="ko-KR" sz="1500" dirty="0"/>
          </a:p>
          <a:p>
            <a:r>
              <a:rPr lang="ko-KR" altLang="en-US" sz="1500" dirty="0"/>
              <a:t>모델 </a:t>
            </a:r>
            <a:r>
              <a:rPr lang="ko-KR" altLang="en-US" sz="1500" dirty="0" err="1"/>
              <a:t>렌더링</a:t>
            </a:r>
            <a:endParaRPr lang="ko-KR" altLang="en-US" sz="1500" dirty="0"/>
          </a:p>
        </p:txBody>
      </p:sp>
      <p:sp>
        <p:nvSpPr>
          <p:cNvPr id="58" name="TextBox 57"/>
          <p:cNvSpPr txBox="1"/>
          <p:nvPr/>
        </p:nvSpPr>
        <p:spPr>
          <a:xfrm>
            <a:off x="7037640" y="4339574"/>
            <a:ext cx="121379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dirty="0"/>
              <a:t>모델 </a:t>
            </a:r>
            <a:r>
              <a:rPr lang="ko-KR" altLang="en-US" sz="1500" dirty="0" err="1"/>
              <a:t>렌더링</a:t>
            </a:r>
            <a:endParaRPr lang="ko-KR" altLang="en-US" sz="1500" dirty="0"/>
          </a:p>
        </p:txBody>
      </p:sp>
      <p:sp>
        <p:nvSpPr>
          <p:cNvPr id="120" name="직사각형 119"/>
          <p:cNvSpPr/>
          <p:nvPr/>
        </p:nvSpPr>
        <p:spPr>
          <a:xfrm>
            <a:off x="7315469" y="5463929"/>
            <a:ext cx="1858944" cy="55266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bg1"/>
                </a:solidFill>
              </a:rPr>
              <a:t>ModelConverter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122" name="꺾인 연결선 121"/>
          <p:cNvCxnSpPr>
            <a:stCxn id="120" idx="0"/>
          </p:cNvCxnSpPr>
          <p:nvPr/>
        </p:nvCxnSpPr>
        <p:spPr>
          <a:xfrm rot="16200000" flipV="1">
            <a:off x="6459343" y="3678330"/>
            <a:ext cx="504952" cy="306624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6702379" y="6099148"/>
            <a:ext cx="444865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사전</a:t>
            </a:r>
            <a:r>
              <a:rPr lang="en-US" altLang="ko-KR" sz="1500" dirty="0"/>
              <a:t>, 3d </a:t>
            </a:r>
            <a:r>
              <a:rPr lang="ko-KR" altLang="en-US" sz="1500" dirty="0"/>
              <a:t>파일 파싱</a:t>
            </a:r>
            <a:r>
              <a:rPr lang="en-US" altLang="ko-KR" sz="1500" dirty="0"/>
              <a:t>,</a:t>
            </a:r>
            <a:r>
              <a:rPr lang="ko-KR" altLang="en-US" sz="1500" dirty="0"/>
              <a:t> 바이너리 파일 변환 프로젝트</a:t>
            </a:r>
            <a:endParaRPr lang="en-US" altLang="ko-KR" sz="1500" dirty="0"/>
          </a:p>
          <a:p>
            <a:r>
              <a:rPr lang="en-US" altLang="ko-KR" sz="1500" dirty="0"/>
              <a:t>.</a:t>
            </a:r>
            <a:r>
              <a:rPr lang="en-US" altLang="ko-KR" sz="1500" dirty="0" err="1"/>
              <a:t>obj</a:t>
            </a:r>
            <a:r>
              <a:rPr lang="en-US" altLang="ko-KR" sz="1500" dirty="0"/>
              <a:t>, .</a:t>
            </a:r>
            <a:r>
              <a:rPr lang="en-US" altLang="ko-KR" sz="1500" dirty="0" err="1"/>
              <a:t>gltf</a:t>
            </a:r>
            <a:r>
              <a:rPr lang="en-US" altLang="ko-KR" sz="1500" dirty="0"/>
              <a:t> </a:t>
            </a:r>
            <a:r>
              <a:rPr lang="ko-KR" altLang="en-US" sz="1500" dirty="0"/>
              <a:t>확장자 변환 예시 제공</a:t>
            </a:r>
            <a:endParaRPr lang="en-US" altLang="ko-KR" sz="1500" dirty="0"/>
          </a:p>
        </p:txBody>
      </p:sp>
      <p:sp>
        <p:nvSpPr>
          <p:cNvPr id="133" name="TextBox 132"/>
          <p:cNvSpPr txBox="1"/>
          <p:nvPr/>
        </p:nvSpPr>
        <p:spPr>
          <a:xfrm>
            <a:off x="8251434" y="5028239"/>
            <a:ext cx="386836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/>
              <a:t>.obj, .</a:t>
            </a:r>
            <a:r>
              <a:rPr lang="en-US" altLang="ko-KR" sz="1500" dirty="0" err="1"/>
              <a:t>gltf</a:t>
            </a:r>
            <a:r>
              <a:rPr lang="en-US" altLang="ko-KR" sz="1500" dirty="0"/>
              <a:t> </a:t>
            </a:r>
            <a:r>
              <a:rPr lang="ko-KR" altLang="en-US" sz="1500" dirty="0"/>
              <a:t>파일 바이너리 파일</a:t>
            </a:r>
            <a:r>
              <a:rPr lang="en-US" altLang="ko-KR" sz="1500" dirty="0"/>
              <a:t>(.mini)</a:t>
            </a:r>
            <a:r>
              <a:rPr lang="ko-KR" altLang="en-US" sz="1500" dirty="0"/>
              <a:t>로 변환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28CF2E5-B3B9-0B85-2B72-EF86F7DE691A}"/>
              </a:ext>
            </a:extLst>
          </p:cNvPr>
          <p:cNvSpPr/>
          <p:nvPr/>
        </p:nvSpPr>
        <p:spPr>
          <a:xfrm>
            <a:off x="345096" y="2302370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</a:rPr>
              <a:t>GraphicsCore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469E196-3F8A-9A01-742C-94DB84469C4D}"/>
              </a:ext>
            </a:extLst>
          </p:cNvPr>
          <p:cNvSpPr/>
          <p:nvPr/>
        </p:nvSpPr>
        <p:spPr>
          <a:xfrm>
            <a:off x="345096" y="1686136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</a:rPr>
              <a:t>GameCore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47CDEF8-BC7A-528D-093A-DDED861E883C}"/>
              </a:ext>
            </a:extLst>
          </p:cNvPr>
          <p:cNvSpPr/>
          <p:nvPr/>
        </p:nvSpPr>
        <p:spPr>
          <a:xfrm>
            <a:off x="345096" y="3523238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Display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2F3BCC-D90A-9217-D284-C7B605AEC920}"/>
              </a:ext>
            </a:extLst>
          </p:cNvPr>
          <p:cNvSpPr/>
          <p:nvPr/>
        </p:nvSpPr>
        <p:spPr>
          <a:xfrm>
            <a:off x="345096" y="4145385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</a:rPr>
              <a:t>GameInput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7B2EAEA-96CB-0FB3-E150-84986A5B9252}"/>
              </a:ext>
            </a:extLst>
          </p:cNvPr>
          <p:cNvSpPr/>
          <p:nvPr/>
        </p:nvSpPr>
        <p:spPr>
          <a:xfrm>
            <a:off x="345096" y="2912804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</a:rPr>
              <a:t>CommandList</a:t>
            </a:r>
            <a:br>
              <a:rPr lang="en-US" altLang="ko-KR" sz="1400" dirty="0">
                <a:solidFill>
                  <a:schemeClr val="tx1"/>
                </a:solidFill>
              </a:rPr>
            </a:br>
            <a:r>
              <a:rPr lang="en-US" altLang="ko-KR" sz="1400" dirty="0">
                <a:solidFill>
                  <a:schemeClr val="tx1"/>
                </a:solidFill>
              </a:rPr>
              <a:t>Manager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1816AF-A22D-01FE-FBAD-B6F1DBF7866B}"/>
              </a:ext>
            </a:extLst>
          </p:cNvPr>
          <p:cNvSpPr txBox="1"/>
          <p:nvPr/>
        </p:nvSpPr>
        <p:spPr>
          <a:xfrm>
            <a:off x="1169950" y="4735050"/>
            <a:ext cx="32733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500" dirty="0"/>
              <a:t>…</a:t>
            </a:r>
            <a:endParaRPr lang="ko-KR" altLang="en-US" sz="15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988CDB-F2BA-9EC7-2428-578F24156DC4}"/>
              </a:ext>
            </a:extLst>
          </p:cNvPr>
          <p:cNvSpPr txBox="1"/>
          <p:nvPr/>
        </p:nvSpPr>
        <p:spPr>
          <a:xfrm>
            <a:off x="2204040" y="1824054"/>
            <a:ext cx="12715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엔진 시작 </a:t>
            </a:r>
            <a:r>
              <a:rPr lang="ko-KR" altLang="en-US" sz="1100" dirty="0" err="1"/>
              <a:t>진입점</a:t>
            </a:r>
            <a:endParaRPr lang="ko-KR" altLang="en-US" sz="11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BF8786-FCFD-9893-4354-BD7F9E3E8A53}"/>
              </a:ext>
            </a:extLst>
          </p:cNvPr>
          <p:cNvSpPr txBox="1"/>
          <p:nvPr/>
        </p:nvSpPr>
        <p:spPr>
          <a:xfrm>
            <a:off x="2210532" y="2447895"/>
            <a:ext cx="18790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DirectX12 </a:t>
            </a:r>
            <a:r>
              <a:rPr lang="ko-KR" altLang="en-US" sz="1100" dirty="0"/>
              <a:t>초기화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api</a:t>
            </a:r>
            <a:r>
              <a:rPr lang="en-US" altLang="ko-KR" sz="1100" dirty="0"/>
              <a:t> </a:t>
            </a:r>
            <a:r>
              <a:rPr lang="ko-KR" altLang="en-US" sz="1100" dirty="0" err="1"/>
              <a:t>랩퍼</a:t>
            </a:r>
            <a:endParaRPr lang="ko-KR" altLang="en-US" sz="11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3E967D-B75B-23F2-84F9-E389CFA93D55}"/>
              </a:ext>
            </a:extLst>
          </p:cNvPr>
          <p:cNvSpPr txBox="1"/>
          <p:nvPr/>
        </p:nvSpPr>
        <p:spPr>
          <a:xfrm>
            <a:off x="2210532" y="4257605"/>
            <a:ext cx="7986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입력 지원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772F40-DAFE-EBB6-18FC-291F698D1B42}"/>
              </a:ext>
            </a:extLst>
          </p:cNvPr>
          <p:cNvSpPr txBox="1"/>
          <p:nvPr/>
        </p:nvSpPr>
        <p:spPr>
          <a:xfrm>
            <a:off x="2240053" y="2970303"/>
            <a:ext cx="221727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DirectX12 </a:t>
            </a:r>
            <a:r>
              <a:rPr lang="en-US" altLang="ko-KR" sz="1100" dirty="0" err="1"/>
              <a:t>CommandContext</a:t>
            </a:r>
            <a:br>
              <a:rPr lang="en-US" altLang="ko-KR" sz="1100" dirty="0"/>
            </a:br>
            <a:r>
              <a:rPr lang="ko-KR" altLang="en-US" sz="1100" dirty="0"/>
              <a:t>커맨드 </a:t>
            </a:r>
            <a:r>
              <a:rPr lang="ko-KR" altLang="en-US" sz="1100" dirty="0" err="1"/>
              <a:t>풀링</a:t>
            </a:r>
            <a:r>
              <a:rPr lang="ko-KR" altLang="en-US" sz="1100" dirty="0"/>
              <a:t> 및 관리 라이브러리</a:t>
            </a:r>
            <a:endParaRPr lang="en-US" altLang="ko-KR" sz="11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62419C-ACAA-B256-0B91-10F7E84C3B50}"/>
              </a:ext>
            </a:extLst>
          </p:cNvPr>
          <p:cNvSpPr txBox="1"/>
          <p:nvPr/>
        </p:nvSpPr>
        <p:spPr>
          <a:xfrm>
            <a:off x="2222961" y="3661989"/>
            <a:ext cx="20040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err="1"/>
              <a:t>SwapChain</a:t>
            </a:r>
            <a:r>
              <a:rPr lang="en-US" altLang="ko-KR" sz="1100" dirty="0"/>
              <a:t>, </a:t>
            </a:r>
            <a:r>
              <a:rPr lang="ko-KR" altLang="en-US" sz="1100" dirty="0"/>
              <a:t>디스플레이 설정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2118968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E24C7-A429-CDA0-4EB6-16142BB05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15F932-2F2C-4A3F-7F16-1B13D352985A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이번 주 작업 내역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5C835-CE30-2461-B5B2-C304088E694A}"/>
              </a:ext>
            </a:extLst>
          </p:cNvPr>
          <p:cNvSpPr txBox="1"/>
          <p:nvPr/>
        </p:nvSpPr>
        <p:spPr>
          <a:xfrm>
            <a:off x="302451" y="758852"/>
            <a:ext cx="81180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엔진 기반 클래스 작성</a:t>
            </a:r>
            <a:endParaRPr lang="en-US" altLang="ko-KR" sz="1600" dirty="0"/>
          </a:p>
        </p:txBody>
      </p:sp>
      <p:sp>
        <p:nvSpPr>
          <p:cNvPr id="38" name="직사각형 37"/>
          <p:cNvSpPr/>
          <p:nvPr/>
        </p:nvSpPr>
        <p:spPr>
          <a:xfrm>
            <a:off x="1875856" y="1239108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</a:rPr>
              <a:t>IGameApp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5285031" y="1234952"/>
            <a:ext cx="1858944" cy="55266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Character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41" name="꺾인 연결선 40"/>
          <p:cNvCxnSpPr>
            <a:stCxn id="39" idx="1"/>
            <a:endCxn id="38" idx="3"/>
          </p:cNvCxnSpPr>
          <p:nvPr/>
        </p:nvCxnSpPr>
        <p:spPr>
          <a:xfrm rot="10800000" flipV="1">
            <a:off x="3734801" y="1511283"/>
            <a:ext cx="1550231" cy="41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225222" y="1171473"/>
            <a:ext cx="56938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구현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83311" y="1349699"/>
            <a:ext cx="179087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연구과제 프로젝트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5285031" y="3137207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</a:rPr>
              <a:t>SceneManager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7843534" y="3132006"/>
            <a:ext cx="1316417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Scene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762331" y="4332577"/>
            <a:ext cx="1316418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Object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5284025" y="5814496"/>
            <a:ext cx="1316418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Actor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8315977" y="5814495"/>
            <a:ext cx="1316418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Component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2606658" y="3137207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</a:rPr>
              <a:t>GUIManager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62" name="꺾인 연결선 61"/>
          <p:cNvCxnSpPr>
            <a:stCxn id="39" idx="2"/>
            <a:endCxn id="47" idx="0"/>
          </p:cNvCxnSpPr>
          <p:nvPr/>
        </p:nvCxnSpPr>
        <p:spPr>
          <a:xfrm rot="5400000">
            <a:off x="5539706" y="2462410"/>
            <a:ext cx="1349594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39" idx="2"/>
            <a:endCxn id="52" idx="0"/>
          </p:cNvCxnSpPr>
          <p:nvPr/>
        </p:nvCxnSpPr>
        <p:spPr>
          <a:xfrm rot="5400000">
            <a:off x="4200520" y="1123224"/>
            <a:ext cx="1349594" cy="267837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166937" y="2495410"/>
            <a:ext cx="218040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500" dirty="0" err="1"/>
              <a:t>ImGui</a:t>
            </a:r>
            <a:r>
              <a:rPr lang="ko-KR" altLang="en-US" sz="1500" dirty="0"/>
              <a:t> 라이브러리 활용</a:t>
            </a:r>
            <a:br>
              <a:rPr lang="en-US" altLang="ko-KR" sz="1500" dirty="0"/>
            </a:br>
            <a:r>
              <a:rPr lang="en-US" altLang="ko-KR" sz="1500" dirty="0"/>
              <a:t>UI </a:t>
            </a:r>
            <a:r>
              <a:rPr lang="ko-KR" altLang="en-US" sz="1500" dirty="0"/>
              <a:t>업데이트</a:t>
            </a:r>
            <a:r>
              <a:rPr lang="en-US" altLang="ko-KR" sz="1500" dirty="0"/>
              <a:t>,</a:t>
            </a:r>
            <a:r>
              <a:rPr lang="ko-KR" altLang="en-US" sz="1500" dirty="0"/>
              <a:t> </a:t>
            </a:r>
            <a:r>
              <a:rPr lang="ko-KR" altLang="en-US" sz="1500" dirty="0" err="1"/>
              <a:t>렌더링</a:t>
            </a:r>
            <a:r>
              <a:rPr lang="en-US" altLang="ko-KR" sz="1500" dirty="0"/>
              <a:t> </a:t>
            </a:r>
            <a:endParaRPr lang="ko-KR" altLang="en-US" sz="1500" dirty="0"/>
          </a:p>
        </p:txBody>
      </p:sp>
      <p:cxnSp>
        <p:nvCxnSpPr>
          <p:cNvPr id="70" name="꺾인 연결선 69"/>
          <p:cNvCxnSpPr>
            <a:stCxn id="47" idx="3"/>
            <a:endCxn id="48" idx="1"/>
          </p:cNvCxnSpPr>
          <p:nvPr/>
        </p:nvCxnSpPr>
        <p:spPr>
          <a:xfrm flipV="1">
            <a:off x="7143975" y="3408337"/>
            <a:ext cx="699559" cy="520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600443" y="3722383"/>
            <a:ext cx="164019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업데이트</a:t>
            </a:r>
            <a:r>
              <a:rPr lang="en-US" altLang="ko-KR" sz="1500" dirty="0"/>
              <a:t>, </a:t>
            </a:r>
            <a:r>
              <a:rPr lang="ko-KR" altLang="en-US" sz="1500" dirty="0" err="1"/>
              <a:t>렌더링</a:t>
            </a:r>
            <a:endParaRPr lang="ko-KR" altLang="en-US" sz="1500" dirty="0"/>
          </a:p>
        </p:txBody>
      </p:sp>
      <p:cxnSp>
        <p:nvCxnSpPr>
          <p:cNvPr id="91" name="꺾인 연결선 90"/>
          <p:cNvCxnSpPr>
            <a:stCxn id="48" idx="2"/>
            <a:endCxn id="49" idx="3"/>
          </p:cNvCxnSpPr>
          <p:nvPr/>
        </p:nvCxnSpPr>
        <p:spPr>
          <a:xfrm rot="5400000">
            <a:off x="7828126" y="3935290"/>
            <a:ext cx="924241" cy="4229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꺾인 연결선 99"/>
          <p:cNvCxnSpPr>
            <a:stCxn id="50" idx="0"/>
            <a:endCxn id="49" idx="2"/>
          </p:cNvCxnSpPr>
          <p:nvPr/>
        </p:nvCxnSpPr>
        <p:spPr>
          <a:xfrm rot="5400000" flipH="1" flipV="1">
            <a:off x="6216758" y="4610714"/>
            <a:ext cx="929258" cy="147830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꺾인 연결선 101"/>
          <p:cNvCxnSpPr>
            <a:stCxn id="51" idx="0"/>
            <a:endCxn id="49" idx="2"/>
          </p:cNvCxnSpPr>
          <p:nvPr/>
        </p:nvCxnSpPr>
        <p:spPr>
          <a:xfrm rot="16200000" flipV="1">
            <a:off x="7732735" y="4573044"/>
            <a:ext cx="929257" cy="155364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5096490" y="4300737"/>
            <a:ext cx="166584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객체 기반 클래스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501742" y="3865641"/>
            <a:ext cx="164019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 err="1"/>
              <a:t>인스턴스</a:t>
            </a:r>
            <a:r>
              <a:rPr lang="ko-KR" altLang="en-US" sz="1500" dirty="0"/>
              <a:t> 관리</a:t>
            </a:r>
            <a:br>
              <a:rPr lang="en-US" altLang="ko-KR" sz="1500" dirty="0"/>
            </a:br>
            <a:r>
              <a:rPr lang="ko-KR" altLang="en-US" sz="1500" dirty="0"/>
              <a:t>업데이트</a:t>
            </a:r>
            <a:r>
              <a:rPr lang="en-US" altLang="ko-KR" sz="1500" dirty="0"/>
              <a:t>, </a:t>
            </a:r>
            <a:r>
              <a:rPr lang="ko-KR" altLang="en-US" sz="1500" dirty="0" err="1"/>
              <a:t>렌더링</a:t>
            </a:r>
            <a:endParaRPr lang="ko-KR" altLang="en-US" sz="1500" dirty="0"/>
          </a:p>
        </p:txBody>
      </p:sp>
      <p:sp>
        <p:nvSpPr>
          <p:cNvPr id="106" name="TextBox 105"/>
          <p:cNvSpPr txBox="1"/>
          <p:nvPr/>
        </p:nvSpPr>
        <p:spPr>
          <a:xfrm>
            <a:off x="6285468" y="1941412"/>
            <a:ext cx="164019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게임 루프</a:t>
            </a:r>
            <a:br>
              <a:rPr lang="en-US" altLang="ko-KR" sz="1500" dirty="0"/>
            </a:br>
            <a:r>
              <a:rPr lang="ko-KR" altLang="en-US" sz="1500" dirty="0"/>
              <a:t>업데이트</a:t>
            </a:r>
            <a:r>
              <a:rPr lang="en-US" altLang="ko-KR" sz="1500" dirty="0"/>
              <a:t>,</a:t>
            </a:r>
            <a:r>
              <a:rPr lang="ko-KR" altLang="en-US" sz="1500" dirty="0"/>
              <a:t> 렌더링</a:t>
            </a:r>
          </a:p>
        </p:txBody>
      </p:sp>
      <p:cxnSp>
        <p:nvCxnSpPr>
          <p:cNvPr id="110" name="꺾인 연결선 109"/>
          <p:cNvCxnSpPr>
            <a:stCxn id="50" idx="3"/>
            <a:endCxn id="51" idx="1"/>
          </p:cNvCxnSpPr>
          <p:nvPr/>
        </p:nvCxnSpPr>
        <p:spPr>
          <a:xfrm flipV="1">
            <a:off x="6600443" y="6090826"/>
            <a:ext cx="1715534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7441122" y="4942787"/>
            <a:ext cx="56938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dirty="0"/>
              <a:t>상속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845936" y="5814495"/>
            <a:ext cx="237763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500" dirty="0" err="1"/>
              <a:t>씬에</a:t>
            </a:r>
            <a:r>
              <a:rPr lang="ko-KR" altLang="en-US" sz="1500" dirty="0"/>
              <a:t> 배치될 수 있는 객체</a:t>
            </a:r>
            <a:endParaRPr lang="en-US" altLang="ko-KR" sz="1500" dirty="0"/>
          </a:p>
          <a:p>
            <a:pPr algn="r"/>
            <a:r>
              <a:rPr lang="en-US" altLang="ko-KR" sz="1500" dirty="0"/>
              <a:t>Transform </a:t>
            </a:r>
            <a:r>
              <a:rPr lang="ko-KR" altLang="en-US" sz="1500" dirty="0"/>
              <a:t>속성 내장</a:t>
            </a:r>
            <a:endParaRPr lang="en-US" altLang="ko-KR" sz="1500" dirty="0"/>
          </a:p>
        </p:txBody>
      </p:sp>
      <p:sp>
        <p:nvSpPr>
          <p:cNvPr id="117" name="TextBox 116"/>
          <p:cNvSpPr txBox="1"/>
          <p:nvPr/>
        </p:nvSpPr>
        <p:spPr>
          <a:xfrm>
            <a:off x="9712070" y="5813158"/>
            <a:ext cx="166584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 err="1"/>
              <a:t>액터의</a:t>
            </a:r>
            <a:r>
              <a:rPr lang="ko-KR" altLang="en-US" sz="1500" dirty="0"/>
              <a:t> </a:t>
            </a:r>
            <a:br>
              <a:rPr lang="en-US" altLang="ko-KR" sz="1500" dirty="0"/>
            </a:br>
            <a:r>
              <a:rPr lang="ko-KR" altLang="en-US" sz="1500" dirty="0"/>
              <a:t>기능 확장 클래스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75415" y="6043991"/>
            <a:ext cx="5693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dirty="0"/>
              <a:t>의존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657BF2A-2105-B5CE-F1A0-327C27142DEC}"/>
              </a:ext>
            </a:extLst>
          </p:cNvPr>
          <p:cNvSpPr/>
          <p:nvPr/>
        </p:nvSpPr>
        <p:spPr>
          <a:xfrm>
            <a:off x="1084876" y="3923190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</a:rPr>
              <a:t>UIBase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C1BD4580-E34E-6D62-C4DD-C1D4E99C92A9}"/>
              </a:ext>
            </a:extLst>
          </p:cNvPr>
          <p:cNvCxnSpPr>
            <a:stCxn id="52" idx="2"/>
            <a:endCxn id="3" idx="3"/>
          </p:cNvCxnSpPr>
          <p:nvPr/>
        </p:nvCxnSpPr>
        <p:spPr>
          <a:xfrm rot="5400000">
            <a:off x="2985149" y="3648539"/>
            <a:ext cx="509653" cy="59231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5544AC7-5912-5F80-3890-2F8FA46439CE}"/>
              </a:ext>
            </a:extLst>
          </p:cNvPr>
          <p:cNvSpPr txBox="1"/>
          <p:nvPr/>
        </p:nvSpPr>
        <p:spPr>
          <a:xfrm>
            <a:off x="783819" y="4621475"/>
            <a:ext cx="256352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dirty="0"/>
              <a:t>출력할 </a:t>
            </a:r>
            <a:r>
              <a:rPr lang="en-US" altLang="ko-KR" sz="1500" dirty="0"/>
              <a:t>UI</a:t>
            </a:r>
            <a:r>
              <a:rPr lang="ko-KR" altLang="en-US" sz="1500" dirty="0"/>
              <a:t> 객체 기반 클래스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F5B4CD-CBCA-2CDB-11A9-AAF0F9359E16}"/>
              </a:ext>
            </a:extLst>
          </p:cNvPr>
          <p:cNvSpPr txBox="1"/>
          <p:nvPr/>
        </p:nvSpPr>
        <p:spPr>
          <a:xfrm>
            <a:off x="3568705" y="3847381"/>
            <a:ext cx="11047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생성</a:t>
            </a:r>
            <a:r>
              <a:rPr lang="en-US" altLang="ko-KR" sz="1500" dirty="0"/>
              <a:t>,</a:t>
            </a:r>
            <a:r>
              <a:rPr lang="ko-KR" altLang="en-US" sz="1500" dirty="0"/>
              <a:t> 관리</a:t>
            </a:r>
            <a:r>
              <a:rPr lang="en-US" altLang="ko-KR" sz="1500" dirty="0"/>
              <a:t>,</a:t>
            </a:r>
          </a:p>
          <a:p>
            <a:r>
              <a:rPr lang="ko-KR" altLang="en-US" sz="1500" dirty="0"/>
              <a:t>업데이트</a:t>
            </a:r>
          </a:p>
        </p:txBody>
      </p:sp>
    </p:spTree>
    <p:extLst>
      <p:ext uri="{BB962C8B-B14F-4D97-AF65-F5344CB8AC3E}">
        <p14:creationId xmlns:p14="http://schemas.microsoft.com/office/powerpoint/2010/main" val="3165393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E24C7-A429-CDA0-4EB6-16142BB05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AE49B48B-9ECB-E0E3-3EEE-6C717CC4E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28" t="3837" r="33065" b="2583"/>
          <a:stretch>
            <a:fillRect/>
          </a:stretch>
        </p:blipFill>
        <p:spPr>
          <a:xfrm>
            <a:off x="3766235" y="2661189"/>
            <a:ext cx="2422518" cy="29223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15F932-2F2C-4A3F-7F16-1B13D352985A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이번 주 작업 내역</a:t>
            </a:r>
            <a:endParaRPr lang="en-US" altLang="ko-KR" dirty="0"/>
          </a:p>
        </p:txBody>
      </p:sp>
      <p:sp>
        <p:nvSpPr>
          <p:cNvPr id="7" name="직사각형 6"/>
          <p:cNvSpPr/>
          <p:nvPr/>
        </p:nvSpPr>
        <p:spPr>
          <a:xfrm>
            <a:off x="302451" y="758852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FBX SDK</a:t>
            </a:r>
            <a:r>
              <a:rPr lang="ko-KR" altLang="en-US" sz="1600" dirty="0"/>
              <a:t>로 </a:t>
            </a:r>
            <a:r>
              <a:rPr lang="en-US" altLang="ko-KR" sz="1600" dirty="0" err="1"/>
              <a:t>fbx</a:t>
            </a:r>
            <a:r>
              <a:rPr lang="ko-KR" altLang="en-US" sz="1600" dirty="0"/>
              <a:t> 파일 파싱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Fbx</a:t>
            </a:r>
            <a:r>
              <a:rPr lang="ko-KR" altLang="en-US" sz="1600" dirty="0"/>
              <a:t> 파일도 바이너리 파일로 변환해서 사용할 예정 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 err="1"/>
              <a:t>fbx</a:t>
            </a:r>
            <a:r>
              <a:rPr lang="en-US" altLang="ko-KR" sz="1600" dirty="0"/>
              <a:t> </a:t>
            </a:r>
            <a:r>
              <a:rPr lang="ko-KR" altLang="en-US" sz="1600" dirty="0"/>
              <a:t>객체 렌더링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애니메이션 로드 및 재생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애니메이션 </a:t>
            </a:r>
            <a:r>
              <a:rPr lang="ko-KR" altLang="en-US" sz="1600" dirty="0" err="1"/>
              <a:t>블렌드</a:t>
            </a:r>
            <a:r>
              <a:rPr lang="ko-KR" altLang="en-US" sz="1600" dirty="0"/>
              <a:t> </a:t>
            </a:r>
            <a:r>
              <a:rPr lang="en-US" altLang="ko-KR" sz="1600" dirty="0"/>
              <a:t>(</a:t>
            </a:r>
            <a:r>
              <a:rPr lang="ko-KR" altLang="en-US" sz="1600" dirty="0"/>
              <a:t>진행 중</a:t>
            </a:r>
            <a:r>
              <a:rPr lang="en-US" altLang="ko-KR" sz="1600" dirty="0"/>
              <a:t>)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6595102" y="2680167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Model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595102" y="3351030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Renderer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9377168" y="2956497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</a:rPr>
              <a:t>MeshComponent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9377168" y="1891416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Component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5" name="꺾인 연결선 14"/>
          <p:cNvCxnSpPr>
            <a:stCxn id="13" idx="0"/>
            <a:endCxn id="14" idx="2"/>
          </p:cNvCxnSpPr>
          <p:nvPr/>
        </p:nvCxnSpPr>
        <p:spPr>
          <a:xfrm rot="5400000" flipH="1" flipV="1">
            <a:off x="10050430" y="2700287"/>
            <a:ext cx="512420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stCxn id="13" idx="1"/>
            <a:endCxn id="11" idx="3"/>
          </p:cNvCxnSpPr>
          <p:nvPr/>
        </p:nvCxnSpPr>
        <p:spPr>
          <a:xfrm rot="10800000">
            <a:off x="8454046" y="2956498"/>
            <a:ext cx="923122" cy="27633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13" idx="1"/>
            <a:endCxn id="12" idx="3"/>
          </p:cNvCxnSpPr>
          <p:nvPr/>
        </p:nvCxnSpPr>
        <p:spPr>
          <a:xfrm rot="10800000" flipV="1">
            <a:off x="8454046" y="3232827"/>
            <a:ext cx="923122" cy="39453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9383518" y="4103794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</a:rPr>
              <a:t>SkinnedMesh</a:t>
            </a:r>
            <a:br>
              <a:rPr lang="en-US" altLang="ko-KR" sz="1400" dirty="0">
                <a:solidFill>
                  <a:schemeClr val="tx1"/>
                </a:solidFill>
              </a:rPr>
            </a:br>
            <a:r>
              <a:rPr lang="en-US" altLang="ko-KR" sz="1400" dirty="0">
                <a:solidFill>
                  <a:schemeClr val="tx1"/>
                </a:solidFill>
              </a:rPr>
              <a:t>Component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595102" y="4103795"/>
            <a:ext cx="1858944" cy="55266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Animation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43" name="꺾인 연결선 42"/>
          <p:cNvCxnSpPr>
            <a:stCxn id="39" idx="0"/>
            <a:endCxn id="13" idx="2"/>
          </p:cNvCxnSpPr>
          <p:nvPr/>
        </p:nvCxnSpPr>
        <p:spPr>
          <a:xfrm rot="16200000" flipV="1">
            <a:off x="10012497" y="3803301"/>
            <a:ext cx="594636" cy="635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stCxn id="39" idx="1"/>
            <a:endCxn id="41" idx="3"/>
          </p:cNvCxnSpPr>
          <p:nvPr/>
        </p:nvCxnSpPr>
        <p:spPr>
          <a:xfrm rot="10800000" flipV="1">
            <a:off x="8454046" y="4380124"/>
            <a:ext cx="929472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0300290" y="2556394"/>
            <a:ext cx="5693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dirty="0"/>
              <a:t>상속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00290" y="3644893"/>
            <a:ext cx="5693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dirty="0"/>
              <a:t>상속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18404" y="1432516"/>
            <a:ext cx="25891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500" dirty="0" err="1"/>
              <a:t>MeshComponent</a:t>
            </a:r>
            <a:r>
              <a:rPr lang="en-US" altLang="ko-KR" sz="1500" dirty="0"/>
              <a:t> </a:t>
            </a:r>
            <a:r>
              <a:rPr lang="ko-KR" altLang="en-US" sz="1500" dirty="0"/>
              <a:t>구현 예정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ED86C46-4E1D-2DF0-2914-2C305EB7A9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15" t="13270" r="26415" b="10205"/>
          <a:stretch>
            <a:fillRect/>
          </a:stretch>
        </p:blipFill>
        <p:spPr>
          <a:xfrm>
            <a:off x="365717" y="2666530"/>
            <a:ext cx="3289236" cy="291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778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15F932-2F2C-4A3F-7F16-1B13D352985A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진행 계획</a:t>
            </a:r>
            <a:r>
              <a:rPr lang="en-US" altLang="ko-KR" dirty="0"/>
              <a:t> (</a:t>
            </a:r>
            <a:r>
              <a:rPr lang="ko-KR" altLang="en-US" dirty="0" err="1"/>
              <a:t>주차별</a:t>
            </a:r>
            <a:r>
              <a:rPr lang="ko-KR" altLang="en-US" dirty="0"/>
              <a:t> 목표</a:t>
            </a:r>
            <a:r>
              <a:rPr lang="en-US" altLang="ko-KR" dirty="0"/>
              <a:t>)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292867"/>
              </p:ext>
            </p:extLst>
          </p:nvPr>
        </p:nvGraphicFramePr>
        <p:xfrm>
          <a:off x="420856" y="870858"/>
          <a:ext cx="11318860" cy="5538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7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20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28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/>
                        <a:t>작업 목표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/>
                        <a:t>작업 세부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미니엔진 구조 파악 및 기반 클래스</a:t>
                      </a:r>
                      <a:r>
                        <a:rPr lang="ko-KR" altLang="en-US" sz="1600" baseline="0" dirty="0"/>
                        <a:t> 구성</a:t>
                      </a:r>
                      <a:endParaRPr lang="en-US" altLang="ko-K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600" dirty="0"/>
                        <a:t>미니엔진 파악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게임 기반 클래스 작성</a:t>
                      </a:r>
                      <a:r>
                        <a:rPr lang="en-US" altLang="ko-KR" sz="1600" dirty="0"/>
                        <a:t>, </a:t>
                      </a:r>
                      <a:br>
                        <a:rPr lang="en-US" altLang="ko-KR" sz="1600" dirty="0"/>
                      </a:br>
                      <a:r>
                        <a:rPr lang="en-US" altLang="ko-KR" sz="1600" dirty="0" err="1"/>
                        <a:t>fbx</a:t>
                      </a: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파일 </a:t>
                      </a:r>
                      <a:r>
                        <a:rPr lang="ko-KR" altLang="en-US" sz="1600" dirty="0" err="1"/>
                        <a:t>파싱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렌더링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애니메이션 재생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애니메이션 시스템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물리엔진 적용</a:t>
                      </a:r>
                      <a:r>
                        <a:rPr lang="en-US" altLang="ko-KR" sz="1600" dirty="0"/>
                        <a:t>,</a:t>
                      </a:r>
                    </a:p>
                    <a:p>
                      <a:pPr latinLnBrk="1"/>
                      <a:r>
                        <a:rPr lang="ko-KR" altLang="en-US" sz="1600" dirty="0"/>
                        <a:t>입력 바인딩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캐릭터 애니메이션 </a:t>
                      </a:r>
                      <a:r>
                        <a:rPr lang="ko-KR" altLang="en-US" sz="1600" dirty="0" err="1"/>
                        <a:t>블렌드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애니메이션 </a:t>
                      </a:r>
                      <a:r>
                        <a:rPr lang="ko-KR" altLang="en-US" sz="1600" dirty="0" err="1"/>
                        <a:t>상태머신</a:t>
                      </a:r>
                      <a:r>
                        <a:rPr lang="en-US" altLang="ko-KR" sz="1600" dirty="0"/>
                        <a:t>,</a:t>
                      </a:r>
                    </a:p>
                    <a:p>
                      <a:pPr latinLnBrk="1"/>
                      <a:r>
                        <a:rPr lang="ko-KR" altLang="en-US" sz="1600" dirty="0"/>
                        <a:t>물리엔진</a:t>
                      </a:r>
                      <a:r>
                        <a:rPr lang="en-US" altLang="ko-KR" sz="1600" dirty="0"/>
                        <a:t>(PhysX) </a:t>
                      </a:r>
                      <a:r>
                        <a:rPr lang="ko-KR" altLang="en-US" sz="1600" dirty="0"/>
                        <a:t>적용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캐릭터 입력 바인딩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캐릭터 </a:t>
                      </a:r>
                      <a:r>
                        <a:rPr lang="ko-KR" altLang="en-US" sz="1600" dirty="0" err="1"/>
                        <a:t>로코모션</a:t>
                      </a:r>
                      <a:r>
                        <a:rPr lang="ko-KR" altLang="en-US" sz="1600" dirty="0"/>
                        <a:t> 적용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씬 배치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캐릭터</a:t>
                      </a: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 err="1"/>
                        <a:t>파쿠르</a:t>
                      </a:r>
                      <a:r>
                        <a:rPr lang="ko-KR" altLang="en-US" sz="1600" dirty="0"/>
                        <a:t> 애니메이션 적용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씬</a:t>
                      </a:r>
                      <a:r>
                        <a:rPr lang="en-US" altLang="ko-KR" sz="1600" baseline="0" dirty="0"/>
                        <a:t> </a:t>
                      </a:r>
                      <a:r>
                        <a:rPr lang="ko-KR" altLang="en-US" sz="1600" baseline="0" dirty="0"/>
                        <a:t>데이터 직렬화 </a:t>
                      </a:r>
                      <a:r>
                        <a:rPr lang="en-US" altLang="ko-KR" sz="1600" baseline="0" dirty="0"/>
                        <a:t>(</a:t>
                      </a:r>
                      <a:r>
                        <a:rPr lang="ko-KR" altLang="en-US" sz="1600" baseline="0" dirty="0"/>
                        <a:t>장애물 배치 정보</a:t>
                      </a:r>
                      <a:r>
                        <a:rPr lang="en-US" altLang="ko-KR" sz="1600" baseline="0" dirty="0"/>
                        <a:t>), </a:t>
                      </a:r>
                      <a:r>
                        <a:rPr lang="ko-KR" altLang="en-US" sz="1600" baseline="0" dirty="0"/>
                        <a:t>장애물 높이 인식</a:t>
                      </a:r>
                      <a:r>
                        <a:rPr lang="en-US" altLang="ko-KR" sz="1600" baseline="0" dirty="0"/>
                        <a:t>, </a:t>
                      </a:r>
                      <a:br>
                        <a:rPr lang="en-US" altLang="ko-KR" sz="1600" baseline="0" dirty="0"/>
                      </a:br>
                      <a:r>
                        <a:rPr lang="ko-KR" altLang="en-US" sz="1600" baseline="0" dirty="0"/>
                        <a:t>인식한 장애물에 대한 </a:t>
                      </a:r>
                      <a:r>
                        <a:rPr lang="ko-KR" altLang="en-US" sz="1600" baseline="0" dirty="0" err="1"/>
                        <a:t>파쿠르</a:t>
                      </a:r>
                      <a:r>
                        <a:rPr lang="ko-KR" altLang="en-US" sz="1600" baseline="0" dirty="0"/>
                        <a:t> 애니메이션 선택</a:t>
                      </a:r>
                      <a:r>
                        <a:rPr lang="en-US" altLang="ko-KR" sz="1600" baseline="0" dirty="0"/>
                        <a:t> </a:t>
                      </a:r>
                      <a:r>
                        <a:rPr lang="ko-KR" altLang="en-US" sz="1600" baseline="0" dirty="0"/>
                        <a:t>및 출력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파쿠르</a:t>
                      </a:r>
                      <a:r>
                        <a:rPr lang="ko-KR" altLang="en-US" sz="1600" dirty="0"/>
                        <a:t> </a:t>
                      </a:r>
                      <a:r>
                        <a:rPr lang="ko-KR" altLang="en-US" sz="1600" dirty="0" err="1"/>
                        <a:t>프로토타입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높이에 따른 장애물</a:t>
                      </a:r>
                      <a:r>
                        <a:rPr lang="ko-KR" altLang="en-US" sz="1600" baseline="0" dirty="0"/>
                        <a:t> </a:t>
                      </a:r>
                      <a:r>
                        <a:rPr lang="ko-KR" altLang="en-US" sz="1600" baseline="0" dirty="0" err="1"/>
                        <a:t>파쿠르</a:t>
                      </a:r>
                      <a:r>
                        <a:rPr lang="ko-KR" altLang="en-US" sz="1600" baseline="0" dirty="0"/>
                        <a:t> 처리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dirty="0"/>
                        <a:t>평지</a:t>
                      </a:r>
                      <a:r>
                        <a:rPr lang="en-US" altLang="ko-KR" sz="1600" dirty="0"/>
                        <a:t>-</a:t>
                      </a:r>
                      <a:r>
                        <a:rPr lang="ko-KR" altLang="en-US" sz="1600" dirty="0"/>
                        <a:t>벽면 간 애니메이션</a:t>
                      </a:r>
                      <a:r>
                        <a:rPr lang="ko-KR" altLang="en-US" sz="1600" baseline="0" dirty="0"/>
                        <a:t> 상태</a:t>
                      </a:r>
                      <a:r>
                        <a:rPr lang="ko-KR" altLang="en-US" sz="1600" dirty="0"/>
                        <a:t> 전환</a:t>
                      </a:r>
                      <a:r>
                        <a:rPr lang="en-US" altLang="ko-KR" sz="1600" baseline="0" dirty="0"/>
                        <a:t> (</a:t>
                      </a:r>
                      <a:r>
                        <a:rPr lang="ko-KR" altLang="en-US" sz="1600" baseline="0" dirty="0"/>
                        <a:t>벽면을 올라 평지에 도달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벽면에서 내려와 평지에 도달 등</a:t>
                      </a:r>
                      <a:r>
                        <a:rPr lang="en-US" altLang="ko-KR" sz="1600" baseline="0" dirty="0"/>
                        <a:t>)</a:t>
                      </a:r>
                      <a:endParaRPr lang="en-US" altLang="ko-K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파쿠르</a:t>
                      </a:r>
                      <a:r>
                        <a:rPr lang="ko-KR" altLang="en-US" sz="1600" dirty="0"/>
                        <a:t> 시스템 보완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애니메이션 </a:t>
                      </a:r>
                      <a:r>
                        <a:rPr lang="en-US" altLang="ko-KR" sz="1600" dirty="0"/>
                        <a:t>IK </a:t>
                      </a:r>
                      <a:r>
                        <a:rPr lang="ko-KR" altLang="en-US" sz="1600" dirty="0"/>
                        <a:t>적용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 err="1"/>
                        <a:t>파쿠르</a:t>
                      </a:r>
                      <a:r>
                        <a:rPr lang="ko-KR" altLang="en-US" sz="1600" dirty="0"/>
                        <a:t> 시</a:t>
                      </a: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캐릭터 손 위치 </a:t>
                      </a:r>
                      <a:r>
                        <a:rPr lang="en-US" altLang="ko-KR" sz="1600" dirty="0"/>
                        <a:t>IK</a:t>
                      </a:r>
                      <a:r>
                        <a:rPr lang="ko-KR" altLang="en-US" sz="1600" dirty="0"/>
                        <a:t>를 통해 보정</a:t>
                      </a:r>
                      <a:endParaRPr lang="en-US" altLang="ko-K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복잡한 지형 애니메이션 처리 </a:t>
                      </a:r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aseline="0" dirty="0"/>
                        <a:t>벽면 중간에 지붕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경사로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철봉 나열된 환경</a:t>
                      </a:r>
                      <a:br>
                        <a:rPr lang="en-US" altLang="ko-KR" sz="1600" baseline="0" dirty="0"/>
                      </a:br>
                      <a:r>
                        <a:rPr lang="ko-KR" altLang="en-US" sz="1600" baseline="0" dirty="0" err="1"/>
                        <a:t>파쿠르</a:t>
                      </a:r>
                      <a:r>
                        <a:rPr lang="ko-KR" altLang="en-US" sz="1600" baseline="0" dirty="0"/>
                        <a:t> 애니메이션 처리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5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복잡한 지형 애니메이션 처리 </a:t>
                      </a:r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직각으로 만나는 벽면 간 이동 처리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벽면에 뻗어 나온 줄 또는 기둥</a:t>
                      </a:r>
                      <a:r>
                        <a:rPr lang="ko-KR" altLang="en-US" sz="1600" baseline="0" dirty="0"/>
                        <a:t> 환경 </a:t>
                      </a:r>
                      <a:r>
                        <a:rPr lang="ko-KR" altLang="en-US" sz="1600" baseline="0" dirty="0" err="1"/>
                        <a:t>파쿠르</a:t>
                      </a:r>
                      <a:r>
                        <a:rPr lang="ko-KR" altLang="en-US" sz="1600" baseline="0" dirty="0"/>
                        <a:t> 애니메이션 처리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15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마무리 및 보완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미흡사항 보완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33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505</Words>
  <Application>Microsoft Office PowerPoint</Application>
  <PresentationFormat>와이드스크린</PresentationFormat>
  <Paragraphs>115</Paragraphs>
  <Slides>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김정환</dc:creator>
  <cp:lastModifiedBy>김정환</cp:lastModifiedBy>
  <cp:revision>439</cp:revision>
  <dcterms:created xsi:type="dcterms:W3CDTF">2026-07-02T09:06:49Z</dcterms:created>
  <dcterms:modified xsi:type="dcterms:W3CDTF">2026-07-03T04:50:00Z</dcterms:modified>
</cp:coreProperties>
</file>